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12188952" cy="2011680"/>
          </a:xfrm>
          <a:prstGeom prst="rect">
            <a:avLst/>
          </a:prstGeom>
          <a:solidFill>
            <a:srgbClr val="ED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822960"/>
            <a:ext cx="12188952" cy="1463040"/>
          </a:xfrm>
          <a:prstGeom prst="rect">
            <a:avLst/>
          </a:prstGeom>
          <a:noFill/>
        </p:spPr>
        <p:txBody>
          <a:bodyPr wrap="square">
            <a:spAutoFit/>
          </a:bodyPr>
          <a:lstStyle/>
          <a:p>
            <a:pPr algn="ctr"/>
            <a:r>
              <a:rPr sz="7200" b="1" i="0">
                <a:solidFill>
                  <a:srgbClr val="4A90E2"/>
                </a:solidFill>
                <a:latin typeface="Segoe UI"/>
              </a:rPr>
              <a:t>BIRCH WILSON</a:t>
            </a:r>
          </a:p>
        </p:txBody>
      </p:sp>
      <p:sp>
        <p:nvSpPr>
          <p:cNvPr id="5" name="TextBox 4"/>
          <p:cNvSpPr txBox="1"/>
          <p:nvPr/>
        </p:nvSpPr>
        <p:spPr>
          <a:xfrm>
            <a:off x="914400" y="2743200"/>
            <a:ext cx="10360152" cy="548640"/>
          </a:xfrm>
          <a:prstGeom prst="rect">
            <a:avLst/>
          </a:prstGeom>
          <a:noFill/>
        </p:spPr>
        <p:txBody>
          <a:bodyPr wrap="square">
            <a:spAutoFit/>
          </a:bodyPr>
          <a:lstStyle/>
          <a:p>
            <a:pPr algn="ctr"/>
            <a:r>
              <a:rPr sz="2000" b="0" i="0">
                <a:solidFill>
                  <a:srgbClr val="1A1A1A"/>
                </a:solidFill>
                <a:latin typeface="Segoe UI"/>
              </a:rPr>
              <a:t>Assignment 3  ·  Capability Mapping &amp; Product Backlog</a:t>
            </a:r>
          </a:p>
        </p:txBody>
      </p:sp>
      <p:sp>
        <p:nvSpPr>
          <p:cNvPr id="6" name="TextBox 5"/>
          <p:cNvSpPr txBox="1"/>
          <p:nvPr/>
        </p:nvSpPr>
        <p:spPr>
          <a:xfrm>
            <a:off x="914400" y="3364992"/>
            <a:ext cx="10360152" cy="402336"/>
          </a:xfrm>
          <a:prstGeom prst="rect">
            <a:avLst/>
          </a:prstGeom>
          <a:noFill/>
        </p:spPr>
        <p:txBody>
          <a:bodyPr wrap="square">
            <a:spAutoFit/>
          </a:bodyPr>
          <a:lstStyle/>
          <a:p>
            <a:pPr algn="ctr"/>
            <a:r>
              <a:rPr sz="1300" b="0" i="0">
                <a:solidFill>
                  <a:srgbClr val="6B7280"/>
                </a:solidFill>
                <a:latin typeface="Segoe UI"/>
              </a:rPr>
              <a:t>MET CS 634 — Agile Software Development</a:t>
            </a:r>
          </a:p>
        </p:txBody>
      </p:sp>
      <p:sp>
        <p:nvSpPr>
          <p:cNvPr id="7" name="TextBox 6"/>
          <p:cNvSpPr txBox="1"/>
          <p:nvPr/>
        </p:nvSpPr>
        <p:spPr>
          <a:xfrm>
            <a:off x="914400" y="3822191"/>
            <a:ext cx="10360152" cy="402336"/>
          </a:xfrm>
          <a:prstGeom prst="rect">
            <a:avLst/>
          </a:prstGeom>
          <a:noFill/>
        </p:spPr>
        <p:txBody>
          <a:bodyPr wrap="square">
            <a:spAutoFit/>
          </a:bodyPr>
          <a:lstStyle/>
          <a:p>
            <a:pPr algn="ctr"/>
            <a:r>
              <a:rPr sz="1200" b="0" i="0">
                <a:solidFill>
                  <a:srgbClr val="6B7280"/>
                </a:solidFill>
                <a:latin typeface="Segoe UI"/>
              </a:rPr>
              <a:t>John LaCroix  ·  April 2026</a:t>
            </a:r>
          </a:p>
        </p:txBody>
      </p:sp>
      <p:sp>
        <p:nvSpPr>
          <p:cNvPr id="8" name="Rectangle 7"/>
          <p:cNvSpPr/>
          <p:nvPr/>
        </p:nvSpPr>
        <p:spPr>
          <a:xfrm>
            <a:off x="0" y="6812280"/>
            <a:ext cx="12188952" cy="4572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10972800" cy="347472"/>
          </a:xfrm>
          <a:prstGeom prst="rect">
            <a:avLst/>
          </a:prstGeom>
          <a:noFill/>
        </p:spPr>
        <p:txBody>
          <a:bodyPr wrap="square">
            <a:spAutoFit/>
          </a:bodyPr>
          <a:lstStyle/>
          <a:p>
            <a:pPr algn="l"/>
            <a:r>
              <a:rPr sz="900" b="1" i="0">
                <a:solidFill>
                  <a:srgbClr val="6B7280"/>
                </a:solidFill>
                <a:latin typeface="Segoe UI"/>
              </a:rPr>
              <a:t>PRODUCT VISION</a:t>
            </a:r>
          </a:p>
        </p:txBody>
      </p:sp>
      <p:sp>
        <p:nvSpPr>
          <p:cNvPr id="4" name="TextBox 3"/>
          <p:cNvSpPr txBox="1"/>
          <p:nvPr/>
        </p:nvSpPr>
        <p:spPr>
          <a:xfrm>
            <a:off x="457200" y="502920"/>
            <a:ext cx="11274552" cy="1280160"/>
          </a:xfrm>
          <a:prstGeom prst="rect">
            <a:avLst/>
          </a:prstGeom>
          <a:noFill/>
        </p:spPr>
        <p:txBody>
          <a:bodyPr wrap="square">
            <a:spAutoFit/>
          </a:bodyPr>
          <a:lstStyle/>
          <a:p>
            <a:pPr algn="ctr"/>
            <a:r>
              <a:rPr sz="2200" b="1" i="1">
                <a:solidFill>
                  <a:srgbClr val="4A90E2"/>
                </a:solidFill>
                <a:latin typeface="Segoe UI"/>
              </a:rPr>
              <a:t>"Connecting Fans and Prospective Partners Alike
in Unholy Harmony — The Birch Wilson Digital Experience"</a:t>
            </a:r>
          </a:p>
        </p:txBody>
      </p:sp>
      <p:sp>
        <p:nvSpPr>
          <p:cNvPr id="5" name="Rectangle 4"/>
          <p:cNvSpPr/>
          <p:nvPr/>
        </p:nvSpPr>
        <p:spPr>
          <a:xfrm>
            <a:off x="1097280" y="1920240"/>
            <a:ext cx="9994392" cy="16459"/>
          </a:xfrm>
          <a:prstGeom prst="rect">
            <a:avLst/>
          </a:prstGeom>
          <a:solidFill>
            <a:srgbClr val="D1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66543"/>
            <a:ext cx="3657600" cy="292608"/>
          </a:xfrm>
          <a:prstGeom prst="rect">
            <a:avLst/>
          </a:prstGeom>
          <a:noFill/>
        </p:spPr>
        <p:txBody>
          <a:bodyPr wrap="square">
            <a:spAutoFit/>
          </a:bodyPr>
          <a:lstStyle/>
          <a:p>
            <a:pPr algn="l"/>
            <a:r>
              <a:rPr sz="900" b="1" i="0">
                <a:solidFill>
                  <a:srgbClr val="6B7280"/>
                </a:solidFill>
                <a:latin typeface="Segoe UI"/>
              </a:rPr>
              <a:t>SUMMARY</a:t>
            </a:r>
          </a:p>
        </p:txBody>
      </p:sp>
      <p:sp>
        <p:nvSpPr>
          <p:cNvPr id="7" name="TextBox 6"/>
          <p:cNvSpPr txBox="1"/>
          <p:nvPr/>
        </p:nvSpPr>
        <p:spPr>
          <a:xfrm>
            <a:off x="457200" y="2377440"/>
            <a:ext cx="11274552" cy="960120"/>
          </a:xfrm>
          <a:prstGeom prst="rect">
            <a:avLst/>
          </a:prstGeom>
          <a:noFill/>
        </p:spPr>
        <p:txBody>
          <a:bodyPr wrap="square">
            <a:spAutoFit/>
          </a:bodyPr>
          <a:lstStyle/>
          <a:p>
            <a:pPr algn="l"/>
            <a:r>
              <a:rPr sz="1200" b="0" i="0">
                <a:solidFill>
                  <a:srgbClr val="1A1A1A"/>
                </a:solidFill>
                <a:latin typeface="Segoe UI"/>
              </a:rPr>
              <a:t>Birch Wilson launched a brand new website enabling fans, fellow artists, and music producers with one common goal: opportunity. An opportunity for fans to track their new favorite rock band before they go mainstream. An opportunity for aspiring producers to find that underground act that will push them to the next level.</a:t>
            </a:r>
          </a:p>
        </p:txBody>
      </p:sp>
      <p:sp>
        <p:nvSpPr>
          <p:cNvPr id="8" name="TextBox 7"/>
          <p:cNvSpPr txBox="1"/>
          <p:nvPr/>
        </p:nvSpPr>
        <p:spPr>
          <a:xfrm>
            <a:off x="457200" y="3438144"/>
            <a:ext cx="3657600" cy="292608"/>
          </a:xfrm>
          <a:prstGeom prst="rect">
            <a:avLst/>
          </a:prstGeom>
          <a:noFill/>
        </p:spPr>
        <p:txBody>
          <a:bodyPr wrap="square">
            <a:spAutoFit/>
          </a:bodyPr>
          <a:lstStyle/>
          <a:p>
            <a:pPr algn="l"/>
            <a:r>
              <a:rPr sz="900" b="1" i="0">
                <a:solidFill>
                  <a:srgbClr val="6B7280"/>
                </a:solidFill>
                <a:latin typeface="Segoe UI"/>
              </a:rPr>
              <a:t>PROBLEM</a:t>
            </a:r>
          </a:p>
        </p:txBody>
      </p:sp>
      <p:sp>
        <p:nvSpPr>
          <p:cNvPr id="9" name="TextBox 8"/>
          <p:cNvSpPr txBox="1"/>
          <p:nvPr/>
        </p:nvSpPr>
        <p:spPr>
          <a:xfrm>
            <a:off x="457200" y="3749039"/>
            <a:ext cx="11274552" cy="868680"/>
          </a:xfrm>
          <a:prstGeom prst="rect">
            <a:avLst/>
          </a:prstGeom>
          <a:noFill/>
        </p:spPr>
        <p:txBody>
          <a:bodyPr wrap="square">
            <a:spAutoFit/>
          </a:bodyPr>
          <a:lstStyle/>
          <a:p>
            <a:pPr algn="l"/>
            <a:r>
              <a:rPr sz="1200" b="0" i="0">
                <a:solidFill>
                  <a:srgbClr val="1A1A1A"/>
                </a:solidFill>
                <a:latin typeface="Segoe UI"/>
              </a:rPr>
              <a:t>Underground artists are chronically undiscovered. Bloggers miss the window. Producers can't find the talent. The Birch Wilson Digital Experience solves the discovery problem — acting as both a discovery hub and a collaboration gateway.</a:t>
            </a:r>
          </a:p>
        </p:txBody>
      </p:sp>
      <p:sp>
        <p:nvSpPr>
          <p:cNvPr id="10" name="TextBox 9"/>
          <p:cNvSpPr txBox="1"/>
          <p:nvPr/>
        </p:nvSpPr>
        <p:spPr>
          <a:xfrm>
            <a:off x="457200" y="4700016"/>
            <a:ext cx="3657600" cy="292608"/>
          </a:xfrm>
          <a:prstGeom prst="rect">
            <a:avLst/>
          </a:prstGeom>
          <a:noFill/>
        </p:spPr>
        <p:txBody>
          <a:bodyPr wrap="square">
            <a:spAutoFit/>
          </a:bodyPr>
          <a:lstStyle/>
          <a:p>
            <a:pPr algn="l"/>
            <a:r>
              <a:rPr sz="900" b="1" i="0">
                <a:solidFill>
                  <a:srgbClr val="6B7280"/>
                </a:solidFill>
                <a:latin typeface="Segoe UI"/>
              </a:rPr>
              <a:t>SOLUTION</a:t>
            </a:r>
          </a:p>
        </p:txBody>
      </p:sp>
      <p:sp>
        <p:nvSpPr>
          <p:cNvPr id="11" name="TextBox 10"/>
          <p:cNvSpPr txBox="1"/>
          <p:nvPr/>
        </p:nvSpPr>
        <p:spPr>
          <a:xfrm>
            <a:off x="457200" y="5010912"/>
            <a:ext cx="11274552" cy="640080"/>
          </a:xfrm>
          <a:prstGeom prst="rect">
            <a:avLst/>
          </a:prstGeom>
          <a:noFill/>
        </p:spPr>
        <p:txBody>
          <a:bodyPr wrap="square">
            <a:spAutoFit/>
          </a:bodyPr>
          <a:lstStyle/>
          <a:p>
            <a:pPr algn="l"/>
            <a:r>
              <a:rPr sz="1200" b="0" i="0">
                <a:solidFill>
                  <a:srgbClr val="1A1A1A"/>
                </a:solidFill>
                <a:latin typeface="Segoe UI"/>
              </a:rPr>
              <a:t>The site unifies the band's Spotify, Instagram, blog, contact, and show listings into a single branded digital home — giving every visitor exactly what they came for.</a:t>
            </a:r>
          </a:p>
        </p:txBody>
      </p:sp>
      <p:sp>
        <p:nvSpPr>
          <p:cNvPr id="12" name="Rectangle 11"/>
          <p:cNvSpPr/>
          <p:nvPr/>
        </p:nvSpPr>
        <p:spPr>
          <a:xfrm>
            <a:off x="0" y="6812280"/>
            <a:ext cx="12188952" cy="4572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3657600" cy="292608"/>
          </a:xfrm>
          <a:prstGeom prst="rect">
            <a:avLst/>
          </a:prstGeom>
          <a:noFill/>
        </p:spPr>
        <p:txBody>
          <a:bodyPr wrap="square">
            <a:spAutoFit/>
          </a:bodyPr>
          <a:lstStyle/>
          <a:p>
            <a:pPr algn="l"/>
            <a:r>
              <a:rPr sz="800" b="1" i="0">
                <a:solidFill>
                  <a:srgbClr val="6B7280"/>
                </a:solidFill>
                <a:latin typeface="Segoe UI"/>
              </a:rPr>
              <a:t>PERSONA 01</a:t>
            </a:r>
          </a:p>
        </p:txBody>
      </p:sp>
      <p:sp>
        <p:nvSpPr>
          <p:cNvPr id="4" name="TextBox 3"/>
          <p:cNvSpPr txBox="1"/>
          <p:nvPr/>
        </p:nvSpPr>
        <p:spPr>
          <a:xfrm>
            <a:off x="457200" y="420624"/>
            <a:ext cx="8686800" cy="658368"/>
          </a:xfrm>
          <a:prstGeom prst="rect">
            <a:avLst/>
          </a:prstGeom>
          <a:noFill/>
        </p:spPr>
        <p:txBody>
          <a:bodyPr wrap="square">
            <a:spAutoFit/>
          </a:bodyPr>
          <a:lstStyle/>
          <a:p>
            <a:pPr algn="l"/>
            <a:r>
              <a:rPr sz="3000" b="1" i="0">
                <a:solidFill>
                  <a:srgbClr val="1A1A1A"/>
                </a:solidFill>
                <a:latin typeface="Segoe UI"/>
              </a:rPr>
              <a:t>Dan the Hardcore Blogger</a:t>
            </a:r>
          </a:p>
        </p:txBody>
      </p:sp>
      <p:sp>
        <p:nvSpPr>
          <p:cNvPr id="5" name="Rectangle 4"/>
          <p:cNvSpPr/>
          <p:nvPr/>
        </p:nvSpPr>
        <p:spPr>
          <a:xfrm>
            <a:off x="457200" y="1133856"/>
            <a:ext cx="3200400" cy="27432"/>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7008"/>
            <a:ext cx="10972800" cy="329184"/>
          </a:xfrm>
          <a:prstGeom prst="rect">
            <a:avLst/>
          </a:prstGeom>
          <a:noFill/>
        </p:spPr>
        <p:txBody>
          <a:bodyPr wrap="square">
            <a:spAutoFit/>
          </a:bodyPr>
          <a:lstStyle/>
          <a:p>
            <a:pPr algn="l"/>
            <a:r>
              <a:rPr sz="1100" b="0" i="0">
                <a:solidFill>
                  <a:srgbClr val="6B7280"/>
                </a:solidFill>
                <a:latin typeface="Segoe UI"/>
              </a:rPr>
              <a:t>Age: 30  ·  Allston, MA  ·  Freelance Writer &amp; Underground Music Blogger</a:t>
            </a:r>
          </a:p>
        </p:txBody>
      </p:sp>
      <p:sp>
        <p:nvSpPr>
          <p:cNvPr id="7" name="TextBox 6"/>
          <p:cNvSpPr txBox="1"/>
          <p:nvPr/>
        </p:nvSpPr>
        <p:spPr>
          <a:xfrm>
            <a:off x="457200" y="1664208"/>
            <a:ext cx="5394960" cy="292608"/>
          </a:xfrm>
          <a:prstGeom prst="rect">
            <a:avLst/>
          </a:prstGeom>
          <a:noFill/>
        </p:spPr>
        <p:txBody>
          <a:bodyPr wrap="square">
            <a:spAutoFit/>
          </a:bodyPr>
          <a:lstStyle/>
          <a:p>
            <a:pPr algn="l"/>
            <a:r>
              <a:rPr sz="900" b="1" i="0">
                <a:solidFill>
                  <a:srgbClr val="5FA8A0"/>
                </a:solidFill>
                <a:latin typeface="Segoe UI"/>
              </a:rPr>
              <a:t>BACKGROUND</a:t>
            </a:r>
          </a:p>
        </p:txBody>
      </p:sp>
      <p:sp>
        <p:nvSpPr>
          <p:cNvPr id="8" name="TextBox 7"/>
          <p:cNvSpPr txBox="1"/>
          <p:nvPr/>
        </p:nvSpPr>
        <p:spPr>
          <a:xfrm>
            <a:off x="457200" y="1993392"/>
            <a:ext cx="5394960" cy="1920240"/>
          </a:xfrm>
          <a:prstGeom prst="rect">
            <a:avLst/>
          </a:prstGeom>
          <a:noFill/>
        </p:spPr>
        <p:txBody>
          <a:bodyPr wrap="square">
            <a:spAutoFit/>
          </a:bodyPr>
          <a:lstStyle/>
          <a:p>
            <a:pPr algn="l"/>
            <a:r>
              <a:rPr sz="1200" b="0" i="0">
                <a:solidFill>
                  <a:srgbClr val="1A1A1A"/>
                </a:solidFill>
                <a:latin typeface="Segoe UI"/>
              </a:rPr>
              <a:t>Dan works for a local underground music magazine. He bar-hops every night hunting for the next band nobody has heard of yet. He treasures the intimacy of small crowds and the purity of underground acts. He blogs about the bands he finds, building his reputation as a credible voice in the underground rock scene — always trying to get there first.</a:t>
            </a:r>
          </a:p>
        </p:txBody>
      </p:sp>
      <p:sp>
        <p:nvSpPr>
          <p:cNvPr id="9" name="TextBox 8"/>
          <p:cNvSpPr txBox="1"/>
          <p:nvPr/>
        </p:nvSpPr>
        <p:spPr>
          <a:xfrm>
            <a:off x="6400800" y="1664208"/>
            <a:ext cx="5394960" cy="292608"/>
          </a:xfrm>
          <a:prstGeom prst="rect">
            <a:avLst/>
          </a:prstGeom>
          <a:noFill/>
        </p:spPr>
        <p:txBody>
          <a:bodyPr wrap="square">
            <a:spAutoFit/>
          </a:bodyPr>
          <a:lstStyle/>
          <a:p>
            <a:pPr algn="l"/>
            <a:r>
              <a:rPr sz="900" b="1" i="0">
                <a:solidFill>
                  <a:srgbClr val="5FA8A0"/>
                </a:solidFill>
                <a:latin typeface="Segoe UI"/>
              </a:rPr>
              <a:t>GOALS ON THE SITE</a:t>
            </a:r>
          </a:p>
        </p:txBody>
      </p:sp>
      <p:sp>
        <p:nvSpPr>
          <p:cNvPr id="10" name="TextBox 9"/>
          <p:cNvSpPr txBox="1"/>
          <p:nvPr/>
        </p:nvSpPr>
        <p:spPr>
          <a:xfrm>
            <a:off x="6400800" y="1993392"/>
            <a:ext cx="5394960" cy="384048"/>
          </a:xfrm>
          <a:prstGeom prst="rect">
            <a:avLst/>
          </a:prstGeom>
          <a:noFill/>
        </p:spPr>
        <p:txBody>
          <a:bodyPr wrap="square">
            <a:spAutoFit/>
          </a:bodyPr>
          <a:lstStyle/>
          <a:p>
            <a:pPr algn="l"/>
            <a:r>
              <a:rPr sz="1100" b="0" i="0">
                <a:solidFill>
                  <a:srgbClr val="1A1A1A"/>
                </a:solidFill>
                <a:latin typeface="Segoe UI"/>
              </a:rPr>
              <a:t>→  Discover Birch Wilson before they blow up</a:t>
            </a:r>
          </a:p>
        </p:txBody>
      </p:sp>
      <p:sp>
        <p:nvSpPr>
          <p:cNvPr id="11" name="TextBox 10"/>
          <p:cNvSpPr txBox="1"/>
          <p:nvPr/>
        </p:nvSpPr>
        <p:spPr>
          <a:xfrm>
            <a:off x="6400800" y="2414016"/>
            <a:ext cx="5394960" cy="384048"/>
          </a:xfrm>
          <a:prstGeom prst="rect">
            <a:avLst/>
          </a:prstGeom>
          <a:noFill/>
        </p:spPr>
        <p:txBody>
          <a:bodyPr wrap="square">
            <a:spAutoFit/>
          </a:bodyPr>
          <a:lstStyle/>
          <a:p>
            <a:pPr algn="l"/>
            <a:r>
              <a:rPr sz="1100" b="0" i="0">
                <a:solidFill>
                  <a:srgbClr val="1A1A1A"/>
                </a:solidFill>
                <a:latin typeface="Segoe UI"/>
              </a:rPr>
              <a:t>→  Gather raw material (bio, sound, story) to write about</a:t>
            </a:r>
          </a:p>
        </p:txBody>
      </p:sp>
      <p:sp>
        <p:nvSpPr>
          <p:cNvPr id="12" name="TextBox 11"/>
          <p:cNvSpPr txBox="1"/>
          <p:nvPr/>
        </p:nvSpPr>
        <p:spPr>
          <a:xfrm>
            <a:off x="6400800" y="2834640"/>
            <a:ext cx="5394960" cy="384048"/>
          </a:xfrm>
          <a:prstGeom prst="rect">
            <a:avLst/>
          </a:prstGeom>
          <a:noFill/>
        </p:spPr>
        <p:txBody>
          <a:bodyPr wrap="square">
            <a:spAutoFit/>
          </a:bodyPr>
          <a:lstStyle/>
          <a:p>
            <a:pPr algn="l"/>
            <a:r>
              <a:rPr sz="1100" b="0" i="0">
                <a:solidFill>
                  <a:srgbClr val="1A1A1A"/>
                </a:solidFill>
                <a:latin typeface="Segoe UI"/>
              </a:rPr>
              <a:t>→  Contribute a review to the Birch Wilson blog</a:t>
            </a:r>
          </a:p>
        </p:txBody>
      </p:sp>
      <p:sp>
        <p:nvSpPr>
          <p:cNvPr id="13" name="TextBox 12"/>
          <p:cNvSpPr txBox="1"/>
          <p:nvPr/>
        </p:nvSpPr>
        <p:spPr>
          <a:xfrm>
            <a:off x="6400800" y="3255264"/>
            <a:ext cx="5394960" cy="384048"/>
          </a:xfrm>
          <a:prstGeom prst="rect">
            <a:avLst/>
          </a:prstGeom>
          <a:noFill/>
        </p:spPr>
        <p:txBody>
          <a:bodyPr wrap="square">
            <a:spAutoFit/>
          </a:bodyPr>
          <a:lstStyle/>
          <a:p>
            <a:pPr algn="l"/>
            <a:r>
              <a:rPr sz="1100" b="0" i="0">
                <a:solidFill>
                  <a:srgbClr val="1A1A1A"/>
                </a:solidFill>
                <a:latin typeface="Segoe UI"/>
              </a:rPr>
              <a:t>→  Find upcoming shows to cover live</a:t>
            </a:r>
          </a:p>
        </p:txBody>
      </p:sp>
      <p:sp>
        <p:nvSpPr>
          <p:cNvPr id="14" name="TextBox 13"/>
          <p:cNvSpPr txBox="1"/>
          <p:nvPr/>
        </p:nvSpPr>
        <p:spPr>
          <a:xfrm>
            <a:off x="6400800" y="3675888"/>
            <a:ext cx="5394960" cy="384048"/>
          </a:xfrm>
          <a:prstGeom prst="rect">
            <a:avLst/>
          </a:prstGeom>
          <a:noFill/>
        </p:spPr>
        <p:txBody>
          <a:bodyPr wrap="square">
            <a:spAutoFit/>
          </a:bodyPr>
          <a:lstStyle/>
          <a:p>
            <a:pPr algn="l"/>
            <a:r>
              <a:rPr sz="1100" b="0" i="0">
                <a:solidFill>
                  <a:srgbClr val="1A1A1A"/>
                </a:solidFill>
                <a:latin typeface="Segoe UI"/>
              </a:rPr>
              <a:t>→  Build brand as a credible underground reviewer</a:t>
            </a:r>
          </a:p>
        </p:txBody>
      </p:sp>
      <p:sp>
        <p:nvSpPr>
          <p:cNvPr id="15" name="Rounded Rectangle 14"/>
          <p:cNvSpPr/>
          <p:nvPr/>
        </p:nvSpPr>
        <p:spPr>
          <a:xfrm>
            <a:off x="457200" y="4315968"/>
            <a:ext cx="11274552" cy="841248"/>
          </a:xfrm>
          <a:prstGeom prst="roundRect">
            <a:avLst/>
          </a:prstGeom>
          <a:solidFill>
            <a:srgbClr val="E8F4F3"/>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407408"/>
            <a:ext cx="10817352" cy="676656"/>
          </a:xfrm>
          <a:prstGeom prst="rect">
            <a:avLst/>
          </a:prstGeom>
          <a:noFill/>
        </p:spPr>
        <p:txBody>
          <a:bodyPr wrap="square">
            <a:spAutoFit/>
          </a:bodyPr>
          <a:lstStyle/>
          <a:p>
            <a:pPr algn="ctr"/>
            <a:r>
              <a:rPr sz="1400" b="0" i="1">
                <a:solidFill>
                  <a:srgbClr val="1A1A1A"/>
                </a:solidFill>
                <a:latin typeface="Segoe UI"/>
              </a:rPr>
              <a:t>"If there's a deep, unknown rock band out there, I will find it,
and then I will tell their story!"</a:t>
            </a:r>
          </a:p>
        </p:txBody>
      </p:sp>
      <p:sp>
        <p:nvSpPr>
          <p:cNvPr id="17" name="Rectangle 16"/>
          <p:cNvSpPr/>
          <p:nvPr/>
        </p:nvSpPr>
        <p:spPr>
          <a:xfrm>
            <a:off x="0" y="6812280"/>
            <a:ext cx="12188952" cy="45720"/>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3657600" cy="292608"/>
          </a:xfrm>
          <a:prstGeom prst="rect">
            <a:avLst/>
          </a:prstGeom>
          <a:noFill/>
        </p:spPr>
        <p:txBody>
          <a:bodyPr wrap="square">
            <a:spAutoFit/>
          </a:bodyPr>
          <a:lstStyle/>
          <a:p>
            <a:pPr algn="l"/>
            <a:r>
              <a:rPr sz="800" b="1" i="0">
                <a:solidFill>
                  <a:srgbClr val="6B7280"/>
                </a:solidFill>
                <a:latin typeface="Segoe UI"/>
              </a:rPr>
              <a:t>PERSONA 02</a:t>
            </a:r>
          </a:p>
        </p:txBody>
      </p:sp>
      <p:sp>
        <p:nvSpPr>
          <p:cNvPr id="4" name="TextBox 3"/>
          <p:cNvSpPr txBox="1"/>
          <p:nvPr/>
        </p:nvSpPr>
        <p:spPr>
          <a:xfrm>
            <a:off x="457200" y="420624"/>
            <a:ext cx="8686800" cy="658368"/>
          </a:xfrm>
          <a:prstGeom prst="rect">
            <a:avLst/>
          </a:prstGeom>
          <a:noFill/>
        </p:spPr>
        <p:txBody>
          <a:bodyPr wrap="square">
            <a:spAutoFit/>
          </a:bodyPr>
          <a:lstStyle/>
          <a:p>
            <a:pPr algn="l"/>
            <a:r>
              <a:rPr sz="3000" b="1" i="0">
                <a:solidFill>
                  <a:srgbClr val="1A1A1A"/>
                </a:solidFill>
                <a:latin typeface="Segoe UI"/>
              </a:rPr>
              <a:t>Jake the Indie Producer</a:t>
            </a:r>
          </a:p>
        </p:txBody>
      </p:sp>
      <p:sp>
        <p:nvSpPr>
          <p:cNvPr id="5" name="Rectangle 4"/>
          <p:cNvSpPr/>
          <p:nvPr/>
        </p:nvSpPr>
        <p:spPr>
          <a:xfrm>
            <a:off x="457200" y="1133856"/>
            <a:ext cx="3200400" cy="27432"/>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7008"/>
            <a:ext cx="10972800" cy="329184"/>
          </a:xfrm>
          <a:prstGeom prst="rect">
            <a:avLst/>
          </a:prstGeom>
          <a:noFill/>
        </p:spPr>
        <p:txBody>
          <a:bodyPr wrap="square">
            <a:spAutoFit/>
          </a:bodyPr>
          <a:lstStyle/>
          <a:p>
            <a:pPr algn="l"/>
            <a:r>
              <a:rPr sz="1100" b="0" i="0">
                <a:solidFill>
                  <a:srgbClr val="6B7280"/>
                </a:solidFill>
                <a:latin typeface="Segoe UI"/>
              </a:rPr>
              <a:t>West Springfield, MA  ·  Ghost Hit Recording  ·  Indie &amp; Rock Specialist</a:t>
            </a:r>
          </a:p>
        </p:txBody>
      </p:sp>
      <p:sp>
        <p:nvSpPr>
          <p:cNvPr id="7" name="TextBox 6"/>
          <p:cNvSpPr txBox="1"/>
          <p:nvPr/>
        </p:nvSpPr>
        <p:spPr>
          <a:xfrm>
            <a:off x="457200" y="1664208"/>
            <a:ext cx="5394960" cy="292608"/>
          </a:xfrm>
          <a:prstGeom prst="rect">
            <a:avLst/>
          </a:prstGeom>
          <a:noFill/>
        </p:spPr>
        <p:txBody>
          <a:bodyPr wrap="square">
            <a:spAutoFit/>
          </a:bodyPr>
          <a:lstStyle/>
          <a:p>
            <a:pPr algn="l"/>
            <a:r>
              <a:rPr sz="900" b="1" i="0">
                <a:solidFill>
                  <a:srgbClr val="D48F0A"/>
                </a:solidFill>
                <a:latin typeface="Segoe UI"/>
              </a:rPr>
              <a:t>BACKGROUND</a:t>
            </a:r>
          </a:p>
        </p:txBody>
      </p:sp>
      <p:sp>
        <p:nvSpPr>
          <p:cNvPr id="8" name="TextBox 7"/>
          <p:cNvSpPr txBox="1"/>
          <p:nvPr/>
        </p:nvSpPr>
        <p:spPr>
          <a:xfrm>
            <a:off x="457200" y="1993392"/>
            <a:ext cx="5394960" cy="1920240"/>
          </a:xfrm>
          <a:prstGeom prst="rect">
            <a:avLst/>
          </a:prstGeom>
          <a:noFill/>
        </p:spPr>
        <p:txBody>
          <a:bodyPr wrap="square">
            <a:spAutoFit/>
          </a:bodyPr>
          <a:lstStyle/>
          <a:p>
            <a:pPr algn="l"/>
            <a:r>
              <a:rPr sz="1200" b="0" i="0">
                <a:solidFill>
                  <a:srgbClr val="1A1A1A"/>
                </a:solidFill>
                <a:latin typeface="Segoe UI"/>
              </a:rPr>
              <a:t>Jake is a producer who specializes in finding local artists to record on a budget. A friendly introvert, he takes on indie and rock projects to build his client roster — with his eye on recording a smash hit that propels him to bigger acts. He actively scouts underground bands like Birch Wilson, looking for that next breakthrough project.</a:t>
            </a:r>
          </a:p>
        </p:txBody>
      </p:sp>
      <p:sp>
        <p:nvSpPr>
          <p:cNvPr id="9" name="TextBox 8"/>
          <p:cNvSpPr txBox="1"/>
          <p:nvPr/>
        </p:nvSpPr>
        <p:spPr>
          <a:xfrm>
            <a:off x="6400800" y="1664208"/>
            <a:ext cx="5394960" cy="292608"/>
          </a:xfrm>
          <a:prstGeom prst="rect">
            <a:avLst/>
          </a:prstGeom>
          <a:noFill/>
        </p:spPr>
        <p:txBody>
          <a:bodyPr wrap="square">
            <a:spAutoFit/>
          </a:bodyPr>
          <a:lstStyle/>
          <a:p>
            <a:pPr algn="l"/>
            <a:r>
              <a:rPr sz="900" b="1" i="0">
                <a:solidFill>
                  <a:srgbClr val="D48F0A"/>
                </a:solidFill>
                <a:latin typeface="Segoe UI"/>
              </a:rPr>
              <a:t>GOALS ON THE SITE</a:t>
            </a:r>
          </a:p>
        </p:txBody>
      </p:sp>
      <p:sp>
        <p:nvSpPr>
          <p:cNvPr id="10" name="TextBox 9"/>
          <p:cNvSpPr txBox="1"/>
          <p:nvPr/>
        </p:nvSpPr>
        <p:spPr>
          <a:xfrm>
            <a:off x="6400800" y="1993392"/>
            <a:ext cx="5394960" cy="384048"/>
          </a:xfrm>
          <a:prstGeom prst="rect">
            <a:avLst/>
          </a:prstGeom>
          <a:noFill/>
        </p:spPr>
        <p:txBody>
          <a:bodyPr wrap="square">
            <a:spAutoFit/>
          </a:bodyPr>
          <a:lstStyle/>
          <a:p>
            <a:pPr algn="l"/>
            <a:r>
              <a:rPr sz="1100" b="0" i="0">
                <a:solidFill>
                  <a:srgbClr val="1A1A1A"/>
                </a:solidFill>
                <a:latin typeface="Segoe UI"/>
              </a:rPr>
              <a:t>→  Assess Birch Wilson's sound and production readiness</a:t>
            </a:r>
          </a:p>
        </p:txBody>
      </p:sp>
      <p:sp>
        <p:nvSpPr>
          <p:cNvPr id="11" name="TextBox 10"/>
          <p:cNvSpPr txBox="1"/>
          <p:nvPr/>
        </p:nvSpPr>
        <p:spPr>
          <a:xfrm>
            <a:off x="6400800" y="2414016"/>
            <a:ext cx="5394960" cy="384048"/>
          </a:xfrm>
          <a:prstGeom prst="rect">
            <a:avLst/>
          </a:prstGeom>
          <a:noFill/>
        </p:spPr>
        <p:txBody>
          <a:bodyPr wrap="square">
            <a:spAutoFit/>
          </a:bodyPr>
          <a:lstStyle/>
          <a:p>
            <a:pPr algn="l"/>
            <a:r>
              <a:rPr sz="1100" b="0" i="0">
                <a:solidFill>
                  <a:srgbClr val="1A1A1A"/>
                </a:solidFill>
                <a:latin typeface="Segoe UI"/>
              </a:rPr>
              <a:t>→  Verify the band is active and gigging (not a dead project)</a:t>
            </a:r>
          </a:p>
        </p:txBody>
      </p:sp>
      <p:sp>
        <p:nvSpPr>
          <p:cNvPr id="12" name="TextBox 11"/>
          <p:cNvSpPr txBox="1"/>
          <p:nvPr/>
        </p:nvSpPr>
        <p:spPr>
          <a:xfrm>
            <a:off x="6400800" y="2834640"/>
            <a:ext cx="5394960" cy="384048"/>
          </a:xfrm>
          <a:prstGeom prst="rect">
            <a:avLst/>
          </a:prstGeom>
          <a:noFill/>
        </p:spPr>
        <p:txBody>
          <a:bodyPr wrap="square">
            <a:spAutoFit/>
          </a:bodyPr>
          <a:lstStyle/>
          <a:p>
            <a:pPr algn="l"/>
            <a:r>
              <a:rPr sz="1100" b="0" i="0">
                <a:solidFill>
                  <a:srgbClr val="1A1A1A"/>
                </a:solidFill>
                <a:latin typeface="Segoe UI"/>
              </a:rPr>
              <a:t>→  Understand the band's aesthetic and genre niche</a:t>
            </a:r>
          </a:p>
        </p:txBody>
      </p:sp>
      <p:sp>
        <p:nvSpPr>
          <p:cNvPr id="13" name="TextBox 12"/>
          <p:cNvSpPr txBox="1"/>
          <p:nvPr/>
        </p:nvSpPr>
        <p:spPr>
          <a:xfrm>
            <a:off x="6400800" y="3255264"/>
            <a:ext cx="5394960" cy="384048"/>
          </a:xfrm>
          <a:prstGeom prst="rect">
            <a:avLst/>
          </a:prstGeom>
          <a:noFill/>
        </p:spPr>
        <p:txBody>
          <a:bodyPr wrap="square">
            <a:spAutoFit/>
          </a:bodyPr>
          <a:lstStyle/>
          <a:p>
            <a:pPr algn="l"/>
            <a:r>
              <a:rPr sz="1100" b="0" i="0">
                <a:solidFill>
                  <a:srgbClr val="1A1A1A"/>
                </a:solidFill>
                <a:latin typeface="Segoe UI"/>
              </a:rPr>
              <a:t>→  Reach out directly with a recording pitch</a:t>
            </a:r>
          </a:p>
        </p:txBody>
      </p:sp>
      <p:sp>
        <p:nvSpPr>
          <p:cNvPr id="14" name="TextBox 13"/>
          <p:cNvSpPr txBox="1"/>
          <p:nvPr/>
        </p:nvSpPr>
        <p:spPr>
          <a:xfrm>
            <a:off x="6400800" y="3675888"/>
            <a:ext cx="5394960" cy="384048"/>
          </a:xfrm>
          <a:prstGeom prst="rect">
            <a:avLst/>
          </a:prstGeom>
          <a:noFill/>
        </p:spPr>
        <p:txBody>
          <a:bodyPr wrap="square">
            <a:spAutoFit/>
          </a:bodyPr>
          <a:lstStyle/>
          <a:p>
            <a:pPr algn="l"/>
            <a:r>
              <a:rPr sz="1100" b="0" i="0">
                <a:solidFill>
                  <a:srgbClr val="1A1A1A"/>
                </a:solidFill>
                <a:latin typeface="Segoe UI"/>
              </a:rPr>
              <a:t>→  Build his roster with credible underground acts</a:t>
            </a:r>
          </a:p>
        </p:txBody>
      </p:sp>
      <p:sp>
        <p:nvSpPr>
          <p:cNvPr id="15" name="Rounded Rectangle 14"/>
          <p:cNvSpPr/>
          <p:nvPr/>
        </p:nvSpPr>
        <p:spPr>
          <a:xfrm>
            <a:off x="457200" y="4315968"/>
            <a:ext cx="11274552" cy="841248"/>
          </a:xfrm>
          <a:prstGeom prst="roundRect">
            <a:avLst/>
          </a:prstGeom>
          <a:solidFill>
            <a:srgbClr val="FDF5E0"/>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407408"/>
            <a:ext cx="10817352" cy="676656"/>
          </a:xfrm>
          <a:prstGeom prst="rect">
            <a:avLst/>
          </a:prstGeom>
          <a:noFill/>
        </p:spPr>
        <p:txBody>
          <a:bodyPr wrap="square">
            <a:spAutoFit/>
          </a:bodyPr>
          <a:lstStyle/>
          <a:p>
            <a:pPr algn="ctr"/>
            <a:r>
              <a:rPr sz="1400" b="0" i="1">
                <a:solidFill>
                  <a:srgbClr val="1A1A1A"/>
                </a:solidFill>
                <a:latin typeface="Segoe UI"/>
              </a:rPr>
              <a:t>"If an indie band wants to make a record, I'll record them for a modest price."</a:t>
            </a:r>
          </a:p>
        </p:txBody>
      </p:sp>
      <p:sp>
        <p:nvSpPr>
          <p:cNvPr id="17" name="Rectangle 16"/>
          <p:cNvSpPr/>
          <p:nvPr/>
        </p:nvSpPr>
        <p:spPr>
          <a:xfrm>
            <a:off x="0" y="6812280"/>
            <a:ext cx="12188952" cy="45720"/>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719072"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91639" y="0"/>
            <a:ext cx="27432" cy="6858000"/>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 y="658368"/>
            <a:ext cx="1554480" cy="329184"/>
          </a:xfrm>
          <a:prstGeom prst="rect">
            <a:avLst/>
          </a:prstGeom>
          <a:noFill/>
        </p:spPr>
        <p:txBody>
          <a:bodyPr wrap="square">
            <a:spAutoFit/>
          </a:bodyPr>
          <a:lstStyle/>
          <a:p>
            <a:pPr algn="ctr"/>
            <a:r>
              <a:rPr sz="800" b="1" i="0">
                <a:solidFill>
                  <a:srgbClr val="6B7280"/>
                </a:solidFill>
                <a:latin typeface="Segoe UI"/>
              </a:rPr>
              <a:t>CAPABILITY</a:t>
            </a:r>
          </a:p>
        </p:txBody>
      </p:sp>
      <p:sp>
        <p:nvSpPr>
          <p:cNvPr id="5" name="TextBox 4"/>
          <p:cNvSpPr txBox="1"/>
          <p:nvPr/>
        </p:nvSpPr>
        <p:spPr>
          <a:xfrm>
            <a:off x="64008" y="1316736"/>
            <a:ext cx="1554480" cy="329184"/>
          </a:xfrm>
          <a:prstGeom prst="rect">
            <a:avLst/>
          </a:prstGeom>
          <a:noFill/>
        </p:spPr>
        <p:txBody>
          <a:bodyPr wrap="square">
            <a:spAutoFit/>
          </a:bodyPr>
          <a:lstStyle/>
          <a:p>
            <a:pPr algn="ctr"/>
            <a:r>
              <a:rPr sz="800" b="1" i="0">
                <a:solidFill>
                  <a:srgbClr val="6B7280"/>
                </a:solidFill>
                <a:latin typeface="Segoe UI"/>
              </a:rPr>
              <a:t>STEPS</a:t>
            </a:r>
          </a:p>
        </p:txBody>
      </p:sp>
      <p:sp>
        <p:nvSpPr>
          <p:cNvPr id="6" name="TextBox 5"/>
          <p:cNvSpPr txBox="1"/>
          <p:nvPr/>
        </p:nvSpPr>
        <p:spPr>
          <a:xfrm>
            <a:off x="64008" y="2651760"/>
            <a:ext cx="1554480" cy="329184"/>
          </a:xfrm>
          <a:prstGeom prst="rect">
            <a:avLst/>
          </a:prstGeom>
          <a:noFill/>
        </p:spPr>
        <p:txBody>
          <a:bodyPr wrap="square">
            <a:spAutoFit/>
          </a:bodyPr>
          <a:lstStyle/>
          <a:p>
            <a:pPr algn="ctr"/>
            <a:r>
              <a:rPr sz="800" b="1" i="0">
                <a:solidFill>
                  <a:srgbClr val="6B7280"/>
                </a:solidFill>
                <a:latin typeface="Segoe UI"/>
              </a:rPr>
              <a:t>ACTIVITIES</a:t>
            </a:r>
          </a:p>
        </p:txBody>
      </p:sp>
      <p:sp>
        <p:nvSpPr>
          <p:cNvPr id="7" name="TextBox 6"/>
          <p:cNvSpPr txBox="1"/>
          <p:nvPr/>
        </p:nvSpPr>
        <p:spPr>
          <a:xfrm>
            <a:off x="64008" y="4270248"/>
            <a:ext cx="1554480" cy="329184"/>
          </a:xfrm>
          <a:prstGeom prst="rect">
            <a:avLst/>
          </a:prstGeom>
          <a:noFill/>
        </p:spPr>
        <p:txBody>
          <a:bodyPr wrap="square">
            <a:spAutoFit/>
          </a:bodyPr>
          <a:lstStyle/>
          <a:p>
            <a:pPr algn="ctr"/>
            <a:r>
              <a:rPr sz="800" b="1" i="0">
                <a:solidFill>
                  <a:srgbClr val="6B7280"/>
                </a:solidFill>
                <a:latin typeface="Segoe UI"/>
              </a:rPr>
              <a:t>ENABLERS</a:t>
            </a:r>
          </a:p>
        </p:txBody>
      </p:sp>
      <p:sp>
        <p:nvSpPr>
          <p:cNvPr id="8" name="TextBox 7"/>
          <p:cNvSpPr txBox="1"/>
          <p:nvPr/>
        </p:nvSpPr>
        <p:spPr>
          <a:xfrm>
            <a:off x="64008" y="4901183"/>
            <a:ext cx="1554480" cy="329184"/>
          </a:xfrm>
          <a:prstGeom prst="rect">
            <a:avLst/>
          </a:prstGeom>
          <a:noFill/>
        </p:spPr>
        <p:txBody>
          <a:bodyPr wrap="square">
            <a:spAutoFit/>
          </a:bodyPr>
          <a:lstStyle/>
          <a:p>
            <a:pPr algn="ctr"/>
            <a:r>
              <a:rPr sz="800" b="1" i="0">
                <a:solidFill>
                  <a:srgbClr val="6B7280"/>
                </a:solidFill>
                <a:latin typeface="Segoe UI"/>
              </a:rPr>
              <a:t>NFRs</a:t>
            </a:r>
          </a:p>
        </p:txBody>
      </p:sp>
      <p:sp>
        <p:nvSpPr>
          <p:cNvPr id="9" name="TextBox 8"/>
          <p:cNvSpPr txBox="1"/>
          <p:nvPr/>
        </p:nvSpPr>
        <p:spPr>
          <a:xfrm>
            <a:off x="64008" y="5559552"/>
            <a:ext cx="1554480" cy="329184"/>
          </a:xfrm>
          <a:prstGeom prst="rect">
            <a:avLst/>
          </a:prstGeom>
          <a:noFill/>
        </p:spPr>
        <p:txBody>
          <a:bodyPr wrap="square">
            <a:spAutoFit/>
          </a:bodyPr>
          <a:lstStyle/>
          <a:p>
            <a:pPr algn="ctr"/>
            <a:r>
              <a:rPr sz="800" b="1" i="0">
                <a:solidFill>
                  <a:srgbClr val="6B7280"/>
                </a:solidFill>
                <a:latin typeface="Segoe UI"/>
              </a:rPr>
              <a:t>DATA</a:t>
            </a:r>
          </a:p>
        </p:txBody>
      </p:sp>
      <p:sp>
        <p:nvSpPr>
          <p:cNvPr id="10" name="Rectangle 9"/>
          <p:cNvSpPr/>
          <p:nvPr/>
        </p:nvSpPr>
        <p:spPr>
          <a:xfrm>
            <a:off x="0" y="0"/>
            <a:ext cx="12188952" cy="420624"/>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92224" y="54864"/>
            <a:ext cx="7863840" cy="329184"/>
          </a:xfrm>
          <a:prstGeom prst="rect">
            <a:avLst/>
          </a:prstGeom>
          <a:noFill/>
        </p:spPr>
        <p:txBody>
          <a:bodyPr wrap="square">
            <a:spAutoFit/>
          </a:bodyPr>
          <a:lstStyle/>
          <a:p>
            <a:pPr algn="l"/>
            <a:r>
              <a:rPr sz="1200" b="1" i="0">
                <a:solidFill>
                  <a:srgbClr val="FFFFFF"/>
                </a:solidFill>
                <a:latin typeface="Segoe UI"/>
              </a:rPr>
              <a:t>Flow 1  ·  Dan Discovers the Band &amp; Gathers Blog Material</a:t>
            </a:r>
          </a:p>
        </p:txBody>
      </p:sp>
      <p:sp>
        <p:nvSpPr>
          <p:cNvPr id="12" name="Rounded Rectangle 11"/>
          <p:cNvSpPr/>
          <p:nvPr/>
        </p:nvSpPr>
        <p:spPr>
          <a:xfrm>
            <a:off x="9601200" y="64008"/>
            <a:ext cx="2514600" cy="274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0" y="64008"/>
            <a:ext cx="2514600" cy="274320"/>
          </a:xfrm>
          <a:prstGeom prst="rect">
            <a:avLst/>
          </a:prstGeom>
          <a:noFill/>
        </p:spPr>
        <p:txBody>
          <a:bodyPr wrap="square">
            <a:spAutoFit/>
          </a:bodyPr>
          <a:lstStyle/>
          <a:p>
            <a:pPr algn="ctr"/>
            <a:r>
              <a:rPr sz="800" b="1" i="0">
                <a:solidFill>
                  <a:srgbClr val="5FA8A0"/>
                </a:solidFill>
                <a:latin typeface="Segoe UI"/>
              </a:rPr>
              <a:t>Dan — Hardcore Blogger</a:t>
            </a:r>
          </a:p>
        </p:txBody>
      </p:sp>
      <p:sp>
        <p:nvSpPr>
          <p:cNvPr id="14" name="Rectangle 13"/>
          <p:cNvSpPr/>
          <p:nvPr/>
        </p:nvSpPr>
        <p:spPr>
          <a:xfrm>
            <a:off x="1792224" y="475488"/>
            <a:ext cx="10332720" cy="594360"/>
          </a:xfrm>
          <a:prstGeom prst="rect">
            <a:avLst/>
          </a:prstGeom>
          <a:solidFill>
            <a:srgbClr val="E8F4F3"/>
          </a:solidFill>
          <a:ln w="12700">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01952" y="530352"/>
            <a:ext cx="10113264" cy="310896"/>
          </a:xfrm>
          <a:prstGeom prst="rect">
            <a:avLst/>
          </a:prstGeom>
          <a:noFill/>
        </p:spPr>
        <p:txBody>
          <a:bodyPr wrap="square">
            <a:spAutoFit/>
          </a:bodyPr>
          <a:lstStyle/>
          <a:p>
            <a:pPr algn="l"/>
            <a:r>
              <a:rPr sz="1300" b="1" i="0">
                <a:solidFill>
                  <a:srgbClr val="5FA8A0"/>
                </a:solidFill>
                <a:latin typeface="Segoe UI"/>
              </a:rPr>
              <a:t>Discover Birch Wilson &amp; Gather Blogging Material</a:t>
            </a:r>
          </a:p>
        </p:txBody>
      </p:sp>
      <p:sp>
        <p:nvSpPr>
          <p:cNvPr id="16" name="TextBox 15"/>
          <p:cNvSpPr txBox="1"/>
          <p:nvPr/>
        </p:nvSpPr>
        <p:spPr>
          <a:xfrm>
            <a:off x="1901952" y="822960"/>
            <a:ext cx="10113264" cy="219456"/>
          </a:xfrm>
          <a:prstGeom prst="rect">
            <a:avLst/>
          </a:prstGeom>
          <a:noFill/>
        </p:spPr>
        <p:txBody>
          <a:bodyPr wrap="square">
            <a:spAutoFit/>
          </a:bodyPr>
          <a:lstStyle/>
          <a:p>
            <a:pPr algn="l"/>
            <a:r>
              <a:rPr sz="900" b="0" i="1">
                <a:solidFill>
                  <a:srgbClr val="6B7280"/>
                </a:solidFill>
                <a:latin typeface="Segoe UI"/>
              </a:rPr>
              <a:t>Trigger: Dan searches for underground rock bands to cover for his magazine</a:t>
            </a:r>
          </a:p>
        </p:txBody>
      </p:sp>
      <p:sp>
        <p:nvSpPr>
          <p:cNvPr id="17" name="Rectangle 16"/>
          <p:cNvSpPr/>
          <p:nvPr/>
        </p:nvSpPr>
        <p:spPr>
          <a:xfrm>
            <a:off x="1792224" y="1399032"/>
            <a:ext cx="10195560" cy="18288"/>
          </a:xfrm>
          <a:prstGeom prst="rect">
            <a:avLst/>
          </a:prstGeom>
          <a:solidFill>
            <a:srgbClr val="D1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96344" y="1252728"/>
            <a:ext cx="256032" cy="310896"/>
          </a:xfrm>
          <a:prstGeom prst="rect">
            <a:avLst/>
          </a:prstGeom>
          <a:noFill/>
        </p:spPr>
        <p:txBody>
          <a:bodyPr wrap="square">
            <a:spAutoFit/>
          </a:bodyPr>
          <a:lstStyle/>
          <a:p>
            <a:pPr algn="ctr"/>
            <a:r>
              <a:rPr sz="1200" b="0" i="0">
                <a:solidFill>
                  <a:srgbClr val="4A90E2"/>
                </a:solidFill>
                <a:latin typeface="Segoe UI"/>
              </a:rPr>
              <a:t>▶</a:t>
            </a:r>
          </a:p>
        </p:txBody>
      </p:sp>
      <p:sp>
        <p:nvSpPr>
          <p:cNvPr id="19" name="Rounded Rectangle 18"/>
          <p:cNvSpPr/>
          <p:nvPr/>
        </p:nvSpPr>
        <p:spPr>
          <a:xfrm>
            <a:off x="1792224" y="1115568"/>
            <a:ext cx="256032" cy="256032"/>
          </a:xfrm>
          <a:prstGeom prst="round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92224" y="1115568"/>
            <a:ext cx="256032" cy="256032"/>
          </a:xfrm>
          <a:prstGeom prst="rect">
            <a:avLst/>
          </a:prstGeom>
          <a:noFill/>
        </p:spPr>
        <p:txBody>
          <a:bodyPr wrap="square">
            <a:spAutoFit/>
          </a:bodyPr>
          <a:lstStyle/>
          <a:p>
            <a:pPr algn="ctr"/>
            <a:r>
              <a:rPr sz="900" b="1" i="0">
                <a:solidFill>
                  <a:srgbClr val="FFFFFF"/>
                </a:solidFill>
                <a:latin typeface="Segoe UI"/>
              </a:rPr>
              <a:t>1</a:t>
            </a:r>
          </a:p>
        </p:txBody>
      </p:sp>
      <p:sp>
        <p:nvSpPr>
          <p:cNvPr id="21" name="Rounded Rectangle 20"/>
          <p:cNvSpPr/>
          <p:nvPr/>
        </p:nvSpPr>
        <p:spPr>
          <a:xfrm>
            <a:off x="1828800" y="1133856"/>
            <a:ext cx="2478024" cy="548640"/>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5FA8A0"/>
                </a:solidFill>
                <a:latin typeface="Segoe UI"/>
              </a:rPr>
              <a:t>STEP</a:t>
            </a:r>
          </a:p>
          <a:p>
            <a:r>
              <a:rPr sz="1000">
                <a:solidFill>
                  <a:srgbClr val="1A1A1A"/>
                </a:solidFill>
                <a:latin typeface="Segoe UI"/>
              </a:rPr>
              <a:t>Find the Site</a:t>
            </a:r>
          </a:p>
        </p:txBody>
      </p:sp>
      <p:sp>
        <p:nvSpPr>
          <p:cNvPr id="22" name="Rounded Rectangle 21"/>
          <p:cNvSpPr/>
          <p:nvPr/>
        </p:nvSpPr>
        <p:spPr>
          <a:xfrm>
            <a:off x="182880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Search 'underground rock bands MA'</a:t>
            </a:r>
          </a:p>
        </p:txBody>
      </p:sp>
      <p:sp>
        <p:nvSpPr>
          <p:cNvPr id="23" name="Rounded Rectangle 22"/>
          <p:cNvSpPr/>
          <p:nvPr/>
        </p:nvSpPr>
        <p:spPr>
          <a:xfrm>
            <a:off x="182880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Click Birch Wilson in search results</a:t>
            </a:r>
          </a:p>
        </p:txBody>
      </p:sp>
      <p:sp>
        <p:nvSpPr>
          <p:cNvPr id="24" name="Rounded Rectangle 23"/>
          <p:cNvSpPr/>
          <p:nvPr/>
        </p:nvSpPr>
        <p:spPr>
          <a:xfrm>
            <a:off x="4398264" y="1115568"/>
            <a:ext cx="256032" cy="256032"/>
          </a:xfrm>
          <a:prstGeom prst="round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98264" y="1115568"/>
            <a:ext cx="256032" cy="256032"/>
          </a:xfrm>
          <a:prstGeom prst="rect">
            <a:avLst/>
          </a:prstGeom>
          <a:noFill/>
        </p:spPr>
        <p:txBody>
          <a:bodyPr wrap="square">
            <a:spAutoFit/>
          </a:bodyPr>
          <a:lstStyle/>
          <a:p>
            <a:pPr algn="ctr"/>
            <a:r>
              <a:rPr sz="900" b="1" i="0">
                <a:solidFill>
                  <a:srgbClr val="FFFFFF"/>
                </a:solidFill>
                <a:latin typeface="Segoe UI"/>
              </a:rPr>
              <a:t>2</a:t>
            </a:r>
          </a:p>
        </p:txBody>
      </p:sp>
      <p:sp>
        <p:nvSpPr>
          <p:cNvPr id="26" name="Rounded Rectangle 25"/>
          <p:cNvSpPr/>
          <p:nvPr/>
        </p:nvSpPr>
        <p:spPr>
          <a:xfrm>
            <a:off x="4434840" y="1133856"/>
            <a:ext cx="2478024" cy="548640"/>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5FA8A0"/>
                </a:solidFill>
                <a:latin typeface="Segoe UI"/>
              </a:rPr>
              <a:t>STEP</a:t>
            </a:r>
          </a:p>
          <a:p>
            <a:r>
              <a:rPr sz="1000">
                <a:solidFill>
                  <a:srgbClr val="1A1A1A"/>
                </a:solidFill>
                <a:latin typeface="Segoe UI"/>
              </a:rPr>
              <a:t>Explore Band Identity</a:t>
            </a:r>
          </a:p>
        </p:txBody>
      </p:sp>
      <p:sp>
        <p:nvSpPr>
          <p:cNvPr id="27" name="Rounded Rectangle 26"/>
          <p:cNvSpPr/>
          <p:nvPr/>
        </p:nvSpPr>
        <p:spPr>
          <a:xfrm>
            <a:off x="443484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Read band bio &amp; origin story on About page</a:t>
            </a:r>
          </a:p>
        </p:txBody>
      </p:sp>
      <p:sp>
        <p:nvSpPr>
          <p:cNvPr id="28" name="Rounded Rectangle 27"/>
          <p:cNvSpPr/>
          <p:nvPr/>
        </p:nvSpPr>
        <p:spPr>
          <a:xfrm>
            <a:off x="443484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Absorb visual aesthetic &amp; artwork on Homepage</a:t>
            </a:r>
          </a:p>
        </p:txBody>
      </p:sp>
      <p:sp>
        <p:nvSpPr>
          <p:cNvPr id="29" name="Rounded Rectangle 28"/>
          <p:cNvSpPr/>
          <p:nvPr/>
        </p:nvSpPr>
        <p:spPr>
          <a:xfrm>
            <a:off x="7004304" y="1115568"/>
            <a:ext cx="256032" cy="256032"/>
          </a:xfrm>
          <a:prstGeom prst="round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04304" y="1115568"/>
            <a:ext cx="256032" cy="256032"/>
          </a:xfrm>
          <a:prstGeom prst="rect">
            <a:avLst/>
          </a:prstGeom>
          <a:noFill/>
        </p:spPr>
        <p:txBody>
          <a:bodyPr wrap="square">
            <a:spAutoFit/>
          </a:bodyPr>
          <a:lstStyle/>
          <a:p>
            <a:pPr algn="ctr"/>
            <a:r>
              <a:rPr sz="900" b="1" i="0">
                <a:solidFill>
                  <a:srgbClr val="FFFFFF"/>
                </a:solidFill>
                <a:latin typeface="Segoe UI"/>
              </a:rPr>
              <a:t>3</a:t>
            </a:r>
          </a:p>
        </p:txBody>
      </p:sp>
      <p:sp>
        <p:nvSpPr>
          <p:cNvPr id="31" name="Rounded Rectangle 30"/>
          <p:cNvSpPr/>
          <p:nvPr/>
        </p:nvSpPr>
        <p:spPr>
          <a:xfrm>
            <a:off x="7040880" y="1133856"/>
            <a:ext cx="2478024" cy="548640"/>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5FA8A0"/>
                </a:solidFill>
                <a:latin typeface="Segoe UI"/>
              </a:rPr>
              <a:t>STEP</a:t>
            </a:r>
          </a:p>
          <a:p>
            <a:r>
              <a:rPr sz="1000">
                <a:solidFill>
                  <a:srgbClr val="1A1A1A"/>
                </a:solidFill>
                <a:latin typeface="Segoe UI"/>
              </a:rPr>
              <a:t>Listen to Music</a:t>
            </a:r>
          </a:p>
        </p:txBody>
      </p:sp>
      <p:sp>
        <p:nvSpPr>
          <p:cNvPr id="32" name="Rounded Rectangle 31"/>
          <p:cNvSpPr/>
          <p:nvPr/>
        </p:nvSpPr>
        <p:spPr>
          <a:xfrm>
            <a:off x="704088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Stream embedded Spotify tracks on Music page</a:t>
            </a:r>
          </a:p>
        </p:txBody>
      </p:sp>
      <p:sp>
        <p:nvSpPr>
          <p:cNvPr id="33" name="Rounded Rectangle 32"/>
          <p:cNvSpPr/>
          <p:nvPr/>
        </p:nvSpPr>
        <p:spPr>
          <a:xfrm>
            <a:off x="704088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Read existing blog posts for context</a:t>
            </a:r>
          </a:p>
        </p:txBody>
      </p:sp>
      <p:sp>
        <p:nvSpPr>
          <p:cNvPr id="34" name="Rounded Rectangle 33"/>
          <p:cNvSpPr/>
          <p:nvPr/>
        </p:nvSpPr>
        <p:spPr>
          <a:xfrm>
            <a:off x="9610344" y="1115568"/>
            <a:ext cx="256032" cy="256032"/>
          </a:xfrm>
          <a:prstGeom prst="round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10344" y="1115568"/>
            <a:ext cx="256032" cy="256032"/>
          </a:xfrm>
          <a:prstGeom prst="rect">
            <a:avLst/>
          </a:prstGeom>
          <a:noFill/>
        </p:spPr>
        <p:txBody>
          <a:bodyPr wrap="square">
            <a:spAutoFit/>
          </a:bodyPr>
          <a:lstStyle/>
          <a:p>
            <a:pPr algn="ctr"/>
            <a:r>
              <a:rPr sz="900" b="1" i="0">
                <a:solidFill>
                  <a:srgbClr val="FFFFFF"/>
                </a:solidFill>
                <a:latin typeface="Segoe UI"/>
              </a:rPr>
              <a:t>4</a:t>
            </a:r>
          </a:p>
        </p:txBody>
      </p:sp>
      <p:sp>
        <p:nvSpPr>
          <p:cNvPr id="36" name="Rounded Rectangle 35"/>
          <p:cNvSpPr/>
          <p:nvPr/>
        </p:nvSpPr>
        <p:spPr>
          <a:xfrm>
            <a:off x="9646920" y="1133856"/>
            <a:ext cx="2478024" cy="548640"/>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5FA8A0"/>
                </a:solidFill>
                <a:latin typeface="Segoe UI"/>
              </a:rPr>
              <a:t>STEP</a:t>
            </a:r>
          </a:p>
          <a:p>
            <a:r>
              <a:rPr sz="1000">
                <a:solidFill>
                  <a:srgbClr val="1A1A1A"/>
                </a:solidFill>
                <a:latin typeface="Segoe UI"/>
              </a:rPr>
              <a:t>Sign Up for Updates</a:t>
            </a:r>
          </a:p>
        </p:txBody>
      </p:sp>
      <p:sp>
        <p:nvSpPr>
          <p:cNvPr id="37" name="Rounded Rectangle 36"/>
          <p:cNvSpPr/>
          <p:nvPr/>
        </p:nvSpPr>
        <p:spPr>
          <a:xfrm>
            <a:off x="964692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Fill out email notification form</a:t>
            </a:r>
          </a:p>
        </p:txBody>
      </p:sp>
      <p:sp>
        <p:nvSpPr>
          <p:cNvPr id="38" name="Rounded Rectangle 37"/>
          <p:cNvSpPr/>
          <p:nvPr/>
        </p:nvSpPr>
        <p:spPr>
          <a:xfrm>
            <a:off x="964692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Receive welcome confirmation with Spotify link</a:t>
            </a:r>
          </a:p>
        </p:txBody>
      </p:sp>
      <p:sp>
        <p:nvSpPr>
          <p:cNvPr id="39" name="Rectangle 38"/>
          <p:cNvSpPr/>
          <p:nvPr/>
        </p:nvSpPr>
        <p:spPr>
          <a:xfrm>
            <a:off x="1792224" y="3986784"/>
            <a:ext cx="10332720" cy="16459"/>
          </a:xfrm>
          <a:prstGeom prst="rect">
            <a:avLst/>
          </a:prstGeom>
          <a:solidFill>
            <a:srgbClr val="D1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792224" y="4041648"/>
            <a:ext cx="10332720" cy="640080"/>
          </a:xfrm>
          <a:prstGeom prst="rect">
            <a:avLst/>
          </a:prstGeom>
          <a:solidFill>
            <a:srgbClr val="EEF2F6"/>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01952" y="4096511"/>
            <a:ext cx="10113264" cy="530352"/>
          </a:xfrm>
          <a:prstGeom prst="rect">
            <a:avLst/>
          </a:prstGeom>
          <a:noFill/>
        </p:spPr>
        <p:txBody>
          <a:bodyPr wrap="square">
            <a:spAutoFit/>
          </a:bodyPr>
          <a:lstStyle/>
          <a:p>
            <a:pPr algn="l"/>
            <a:r>
              <a:rPr sz="1000" b="0" i="0">
                <a:solidFill>
                  <a:srgbClr val="1A1A1A"/>
                </a:solidFill>
                <a:latin typeface="Segoe UI"/>
              </a:rPr>
              <a:t>SEO &amp; search indexing  |  Spotify embed integration  |  Email / newsletter system  |  Blog CMS</a:t>
            </a:r>
          </a:p>
        </p:txBody>
      </p:sp>
      <p:sp>
        <p:nvSpPr>
          <p:cNvPr id="42" name="Rectangle 41"/>
          <p:cNvSpPr/>
          <p:nvPr/>
        </p:nvSpPr>
        <p:spPr>
          <a:xfrm>
            <a:off x="1792224" y="4736592"/>
            <a:ext cx="10332720" cy="566928"/>
          </a:xfrm>
          <a:prstGeom prst="rect">
            <a:avLst/>
          </a:prstGeom>
          <a:solidFill>
            <a:srgbClr val="EEF2F6"/>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901952" y="4791455"/>
            <a:ext cx="10113264" cy="457200"/>
          </a:xfrm>
          <a:prstGeom prst="rect">
            <a:avLst/>
          </a:prstGeom>
          <a:noFill/>
        </p:spPr>
        <p:txBody>
          <a:bodyPr wrap="square">
            <a:spAutoFit/>
          </a:bodyPr>
          <a:lstStyle/>
          <a:p>
            <a:pPr algn="l"/>
            <a:r>
              <a:rPr sz="1000" b="0" i="0">
                <a:solidFill>
                  <a:srgbClr val="6B7280"/>
                </a:solidFill>
                <a:latin typeface="Segoe UI"/>
              </a:rPr>
              <a:t>Discoverability  |  Page load performance  |  Usability  |  Mobile responsiveness</a:t>
            </a:r>
          </a:p>
        </p:txBody>
      </p:sp>
      <p:sp>
        <p:nvSpPr>
          <p:cNvPr id="44" name="Rectangle 43"/>
          <p:cNvSpPr/>
          <p:nvPr/>
        </p:nvSpPr>
        <p:spPr>
          <a:xfrm>
            <a:off x="1792224" y="5358384"/>
            <a:ext cx="10332720" cy="640080"/>
          </a:xfrm>
          <a:prstGeom prst="rect">
            <a:avLst/>
          </a:prstGeom>
          <a:solidFill>
            <a:srgbClr val="EEF2F6"/>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901952" y="5413248"/>
            <a:ext cx="10113264" cy="530352"/>
          </a:xfrm>
          <a:prstGeom prst="rect">
            <a:avLst/>
          </a:prstGeom>
          <a:noFill/>
        </p:spPr>
        <p:txBody>
          <a:bodyPr wrap="square">
            <a:spAutoFit/>
          </a:bodyPr>
          <a:lstStyle/>
          <a:p>
            <a:pPr algn="l"/>
            <a:r>
              <a:rPr sz="1000" b="0" i="0">
                <a:solidFill>
                  <a:srgbClr val="6B7280"/>
                </a:solidFill>
                <a:latin typeface="Segoe UI"/>
              </a:rPr>
              <a:t>Band biography text  |  Spotify track metadata  |  Genre &amp; influences info  |  Subscriber email list</a:t>
            </a:r>
          </a:p>
        </p:txBody>
      </p:sp>
      <p:sp>
        <p:nvSpPr>
          <p:cNvPr id="46" name="Rectangle 45"/>
          <p:cNvSpPr/>
          <p:nvPr/>
        </p:nvSpPr>
        <p:spPr>
          <a:xfrm>
            <a:off x="0" y="6812280"/>
            <a:ext cx="12188952" cy="45720"/>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719072"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91639" y="0"/>
            <a:ext cx="27432" cy="6858000"/>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 y="658368"/>
            <a:ext cx="1554480" cy="329184"/>
          </a:xfrm>
          <a:prstGeom prst="rect">
            <a:avLst/>
          </a:prstGeom>
          <a:noFill/>
        </p:spPr>
        <p:txBody>
          <a:bodyPr wrap="square">
            <a:spAutoFit/>
          </a:bodyPr>
          <a:lstStyle/>
          <a:p>
            <a:pPr algn="ctr"/>
            <a:r>
              <a:rPr sz="800" b="1" i="0">
                <a:solidFill>
                  <a:srgbClr val="6B7280"/>
                </a:solidFill>
                <a:latin typeface="Segoe UI"/>
              </a:rPr>
              <a:t>CAPABILITY</a:t>
            </a:r>
          </a:p>
        </p:txBody>
      </p:sp>
      <p:sp>
        <p:nvSpPr>
          <p:cNvPr id="5" name="TextBox 4"/>
          <p:cNvSpPr txBox="1"/>
          <p:nvPr/>
        </p:nvSpPr>
        <p:spPr>
          <a:xfrm>
            <a:off x="64008" y="1316736"/>
            <a:ext cx="1554480" cy="329184"/>
          </a:xfrm>
          <a:prstGeom prst="rect">
            <a:avLst/>
          </a:prstGeom>
          <a:noFill/>
        </p:spPr>
        <p:txBody>
          <a:bodyPr wrap="square">
            <a:spAutoFit/>
          </a:bodyPr>
          <a:lstStyle/>
          <a:p>
            <a:pPr algn="ctr"/>
            <a:r>
              <a:rPr sz="800" b="1" i="0">
                <a:solidFill>
                  <a:srgbClr val="6B7280"/>
                </a:solidFill>
                <a:latin typeface="Segoe UI"/>
              </a:rPr>
              <a:t>STEPS</a:t>
            </a:r>
          </a:p>
        </p:txBody>
      </p:sp>
      <p:sp>
        <p:nvSpPr>
          <p:cNvPr id="6" name="TextBox 5"/>
          <p:cNvSpPr txBox="1"/>
          <p:nvPr/>
        </p:nvSpPr>
        <p:spPr>
          <a:xfrm>
            <a:off x="64008" y="2651760"/>
            <a:ext cx="1554480" cy="329184"/>
          </a:xfrm>
          <a:prstGeom prst="rect">
            <a:avLst/>
          </a:prstGeom>
          <a:noFill/>
        </p:spPr>
        <p:txBody>
          <a:bodyPr wrap="square">
            <a:spAutoFit/>
          </a:bodyPr>
          <a:lstStyle/>
          <a:p>
            <a:pPr algn="ctr"/>
            <a:r>
              <a:rPr sz="800" b="1" i="0">
                <a:solidFill>
                  <a:srgbClr val="6B7280"/>
                </a:solidFill>
                <a:latin typeface="Segoe UI"/>
              </a:rPr>
              <a:t>ACTIVITIES</a:t>
            </a:r>
          </a:p>
        </p:txBody>
      </p:sp>
      <p:sp>
        <p:nvSpPr>
          <p:cNvPr id="7" name="TextBox 6"/>
          <p:cNvSpPr txBox="1"/>
          <p:nvPr/>
        </p:nvSpPr>
        <p:spPr>
          <a:xfrm>
            <a:off x="64008" y="4270248"/>
            <a:ext cx="1554480" cy="329184"/>
          </a:xfrm>
          <a:prstGeom prst="rect">
            <a:avLst/>
          </a:prstGeom>
          <a:noFill/>
        </p:spPr>
        <p:txBody>
          <a:bodyPr wrap="square">
            <a:spAutoFit/>
          </a:bodyPr>
          <a:lstStyle/>
          <a:p>
            <a:pPr algn="ctr"/>
            <a:r>
              <a:rPr sz="800" b="1" i="0">
                <a:solidFill>
                  <a:srgbClr val="6B7280"/>
                </a:solidFill>
                <a:latin typeface="Segoe UI"/>
              </a:rPr>
              <a:t>ENABLERS</a:t>
            </a:r>
          </a:p>
        </p:txBody>
      </p:sp>
      <p:sp>
        <p:nvSpPr>
          <p:cNvPr id="8" name="TextBox 7"/>
          <p:cNvSpPr txBox="1"/>
          <p:nvPr/>
        </p:nvSpPr>
        <p:spPr>
          <a:xfrm>
            <a:off x="64008" y="4901183"/>
            <a:ext cx="1554480" cy="329184"/>
          </a:xfrm>
          <a:prstGeom prst="rect">
            <a:avLst/>
          </a:prstGeom>
          <a:noFill/>
        </p:spPr>
        <p:txBody>
          <a:bodyPr wrap="square">
            <a:spAutoFit/>
          </a:bodyPr>
          <a:lstStyle/>
          <a:p>
            <a:pPr algn="ctr"/>
            <a:r>
              <a:rPr sz="800" b="1" i="0">
                <a:solidFill>
                  <a:srgbClr val="6B7280"/>
                </a:solidFill>
                <a:latin typeface="Segoe UI"/>
              </a:rPr>
              <a:t>NFRs</a:t>
            </a:r>
          </a:p>
        </p:txBody>
      </p:sp>
      <p:sp>
        <p:nvSpPr>
          <p:cNvPr id="9" name="TextBox 8"/>
          <p:cNvSpPr txBox="1"/>
          <p:nvPr/>
        </p:nvSpPr>
        <p:spPr>
          <a:xfrm>
            <a:off x="64008" y="5559552"/>
            <a:ext cx="1554480" cy="329184"/>
          </a:xfrm>
          <a:prstGeom prst="rect">
            <a:avLst/>
          </a:prstGeom>
          <a:noFill/>
        </p:spPr>
        <p:txBody>
          <a:bodyPr wrap="square">
            <a:spAutoFit/>
          </a:bodyPr>
          <a:lstStyle/>
          <a:p>
            <a:pPr algn="ctr"/>
            <a:r>
              <a:rPr sz="800" b="1" i="0">
                <a:solidFill>
                  <a:srgbClr val="6B7280"/>
                </a:solidFill>
                <a:latin typeface="Segoe UI"/>
              </a:rPr>
              <a:t>DATA</a:t>
            </a:r>
          </a:p>
        </p:txBody>
      </p:sp>
      <p:sp>
        <p:nvSpPr>
          <p:cNvPr id="10" name="Rectangle 9"/>
          <p:cNvSpPr/>
          <p:nvPr/>
        </p:nvSpPr>
        <p:spPr>
          <a:xfrm>
            <a:off x="0" y="0"/>
            <a:ext cx="12188952" cy="420624"/>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92224" y="54864"/>
            <a:ext cx="7863840" cy="329184"/>
          </a:xfrm>
          <a:prstGeom prst="rect">
            <a:avLst/>
          </a:prstGeom>
          <a:noFill/>
        </p:spPr>
        <p:txBody>
          <a:bodyPr wrap="square">
            <a:spAutoFit/>
          </a:bodyPr>
          <a:lstStyle/>
          <a:p>
            <a:pPr algn="l"/>
            <a:r>
              <a:rPr sz="1200" b="1" i="0">
                <a:solidFill>
                  <a:srgbClr val="FFFFFF"/>
                </a:solidFill>
                <a:latin typeface="Segoe UI"/>
              </a:rPr>
              <a:t>Flow 2  ·  Dan Pitches a Blog Contribution</a:t>
            </a:r>
          </a:p>
        </p:txBody>
      </p:sp>
      <p:sp>
        <p:nvSpPr>
          <p:cNvPr id="12" name="Rounded Rectangle 11"/>
          <p:cNvSpPr/>
          <p:nvPr/>
        </p:nvSpPr>
        <p:spPr>
          <a:xfrm>
            <a:off x="9601200" y="64008"/>
            <a:ext cx="2514600" cy="274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0" y="64008"/>
            <a:ext cx="2514600" cy="274320"/>
          </a:xfrm>
          <a:prstGeom prst="rect">
            <a:avLst/>
          </a:prstGeom>
          <a:noFill/>
        </p:spPr>
        <p:txBody>
          <a:bodyPr wrap="square">
            <a:spAutoFit/>
          </a:bodyPr>
          <a:lstStyle/>
          <a:p>
            <a:pPr algn="ctr"/>
            <a:r>
              <a:rPr sz="800" b="1" i="0">
                <a:solidFill>
                  <a:srgbClr val="5FA8A0"/>
                </a:solidFill>
                <a:latin typeface="Segoe UI"/>
              </a:rPr>
              <a:t>Dan — Hardcore Blogger</a:t>
            </a:r>
          </a:p>
        </p:txBody>
      </p:sp>
      <p:sp>
        <p:nvSpPr>
          <p:cNvPr id="14" name="Rectangle 13"/>
          <p:cNvSpPr/>
          <p:nvPr/>
        </p:nvSpPr>
        <p:spPr>
          <a:xfrm>
            <a:off x="1792224" y="475488"/>
            <a:ext cx="10332720" cy="594360"/>
          </a:xfrm>
          <a:prstGeom prst="rect">
            <a:avLst/>
          </a:prstGeom>
          <a:solidFill>
            <a:srgbClr val="E8F4F3"/>
          </a:solidFill>
          <a:ln w="12700">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01952" y="530352"/>
            <a:ext cx="10113264" cy="310896"/>
          </a:xfrm>
          <a:prstGeom prst="rect">
            <a:avLst/>
          </a:prstGeom>
          <a:noFill/>
        </p:spPr>
        <p:txBody>
          <a:bodyPr wrap="square">
            <a:spAutoFit/>
          </a:bodyPr>
          <a:lstStyle/>
          <a:p>
            <a:pPr algn="l"/>
            <a:r>
              <a:rPr sz="1300" b="1" i="0">
                <a:solidFill>
                  <a:srgbClr val="5FA8A0"/>
                </a:solidFill>
                <a:latin typeface="Segoe UI"/>
              </a:rPr>
              <a:t>Submit a Blog Contribution Inquiry</a:t>
            </a:r>
          </a:p>
        </p:txBody>
      </p:sp>
      <p:sp>
        <p:nvSpPr>
          <p:cNvPr id="16" name="TextBox 15"/>
          <p:cNvSpPr txBox="1"/>
          <p:nvPr/>
        </p:nvSpPr>
        <p:spPr>
          <a:xfrm>
            <a:off x="1901952" y="822960"/>
            <a:ext cx="10113264" cy="219456"/>
          </a:xfrm>
          <a:prstGeom prst="rect">
            <a:avLst/>
          </a:prstGeom>
          <a:noFill/>
        </p:spPr>
        <p:txBody>
          <a:bodyPr wrap="square">
            <a:spAutoFit/>
          </a:bodyPr>
          <a:lstStyle/>
          <a:p>
            <a:pPr algn="l"/>
            <a:r>
              <a:rPr sz="900" b="0" i="1">
                <a:solidFill>
                  <a:srgbClr val="6B7280"/>
                </a:solidFill>
                <a:latin typeface="Segoe UI"/>
              </a:rPr>
              <a:t>Trigger: Dan wants to publish a review on the Birch Wilson site to build his reviewer brand</a:t>
            </a:r>
          </a:p>
        </p:txBody>
      </p:sp>
      <p:sp>
        <p:nvSpPr>
          <p:cNvPr id="17" name="Rectangle 16"/>
          <p:cNvSpPr/>
          <p:nvPr/>
        </p:nvSpPr>
        <p:spPr>
          <a:xfrm>
            <a:off x="1792224" y="1399032"/>
            <a:ext cx="10195560" cy="18288"/>
          </a:xfrm>
          <a:prstGeom prst="rect">
            <a:avLst/>
          </a:prstGeom>
          <a:solidFill>
            <a:srgbClr val="D1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96344" y="1252728"/>
            <a:ext cx="256032" cy="310896"/>
          </a:xfrm>
          <a:prstGeom prst="rect">
            <a:avLst/>
          </a:prstGeom>
          <a:noFill/>
        </p:spPr>
        <p:txBody>
          <a:bodyPr wrap="square">
            <a:spAutoFit/>
          </a:bodyPr>
          <a:lstStyle/>
          <a:p>
            <a:pPr algn="ctr"/>
            <a:r>
              <a:rPr sz="1200" b="0" i="0">
                <a:solidFill>
                  <a:srgbClr val="4A90E2"/>
                </a:solidFill>
                <a:latin typeface="Segoe UI"/>
              </a:rPr>
              <a:t>▶</a:t>
            </a:r>
          </a:p>
        </p:txBody>
      </p:sp>
      <p:sp>
        <p:nvSpPr>
          <p:cNvPr id="19" name="Rounded Rectangle 18"/>
          <p:cNvSpPr/>
          <p:nvPr/>
        </p:nvSpPr>
        <p:spPr>
          <a:xfrm>
            <a:off x="1792224" y="1115568"/>
            <a:ext cx="256032" cy="256032"/>
          </a:xfrm>
          <a:prstGeom prst="round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92224" y="1115568"/>
            <a:ext cx="256032" cy="256032"/>
          </a:xfrm>
          <a:prstGeom prst="rect">
            <a:avLst/>
          </a:prstGeom>
          <a:noFill/>
        </p:spPr>
        <p:txBody>
          <a:bodyPr wrap="square">
            <a:spAutoFit/>
          </a:bodyPr>
          <a:lstStyle/>
          <a:p>
            <a:pPr algn="ctr"/>
            <a:r>
              <a:rPr sz="900" b="1" i="0">
                <a:solidFill>
                  <a:srgbClr val="FFFFFF"/>
                </a:solidFill>
                <a:latin typeface="Segoe UI"/>
              </a:rPr>
              <a:t>1</a:t>
            </a:r>
          </a:p>
        </p:txBody>
      </p:sp>
      <p:sp>
        <p:nvSpPr>
          <p:cNvPr id="21" name="Rounded Rectangle 20"/>
          <p:cNvSpPr/>
          <p:nvPr/>
        </p:nvSpPr>
        <p:spPr>
          <a:xfrm>
            <a:off x="1828800" y="1133856"/>
            <a:ext cx="2478024" cy="548640"/>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5FA8A0"/>
                </a:solidFill>
                <a:latin typeface="Segoe UI"/>
              </a:rPr>
              <a:t>STEP</a:t>
            </a:r>
          </a:p>
          <a:p>
            <a:r>
              <a:rPr sz="1000">
                <a:solidFill>
                  <a:srgbClr val="1A1A1A"/>
                </a:solidFill>
                <a:latin typeface="Segoe UI"/>
              </a:rPr>
              <a:t>Review Blog Content</a:t>
            </a:r>
          </a:p>
        </p:txBody>
      </p:sp>
      <p:sp>
        <p:nvSpPr>
          <p:cNvPr id="22" name="Rounded Rectangle 21"/>
          <p:cNvSpPr/>
          <p:nvPr/>
        </p:nvSpPr>
        <p:spPr>
          <a:xfrm>
            <a:off x="182880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Navigate to Blog page</a:t>
            </a:r>
          </a:p>
        </p:txBody>
      </p:sp>
      <p:sp>
        <p:nvSpPr>
          <p:cNvPr id="23" name="Rounded Rectangle 22"/>
          <p:cNvSpPr/>
          <p:nvPr/>
        </p:nvSpPr>
        <p:spPr>
          <a:xfrm>
            <a:off x="182880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Read existing posts; assess tone &amp; style</a:t>
            </a:r>
          </a:p>
        </p:txBody>
      </p:sp>
      <p:sp>
        <p:nvSpPr>
          <p:cNvPr id="24" name="Rounded Rectangle 23"/>
          <p:cNvSpPr/>
          <p:nvPr/>
        </p:nvSpPr>
        <p:spPr>
          <a:xfrm>
            <a:off x="4398264" y="1115568"/>
            <a:ext cx="256032" cy="256032"/>
          </a:xfrm>
          <a:prstGeom prst="round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98264" y="1115568"/>
            <a:ext cx="256032" cy="256032"/>
          </a:xfrm>
          <a:prstGeom prst="rect">
            <a:avLst/>
          </a:prstGeom>
          <a:noFill/>
        </p:spPr>
        <p:txBody>
          <a:bodyPr wrap="square">
            <a:spAutoFit/>
          </a:bodyPr>
          <a:lstStyle/>
          <a:p>
            <a:pPr algn="ctr"/>
            <a:r>
              <a:rPr sz="900" b="1" i="0">
                <a:solidFill>
                  <a:srgbClr val="FFFFFF"/>
                </a:solidFill>
                <a:latin typeface="Segoe UI"/>
              </a:rPr>
              <a:t>2</a:t>
            </a:r>
          </a:p>
        </p:txBody>
      </p:sp>
      <p:sp>
        <p:nvSpPr>
          <p:cNvPr id="26" name="Rounded Rectangle 25"/>
          <p:cNvSpPr/>
          <p:nvPr/>
        </p:nvSpPr>
        <p:spPr>
          <a:xfrm>
            <a:off x="4434840" y="1133856"/>
            <a:ext cx="2478024" cy="548640"/>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5FA8A0"/>
                </a:solidFill>
                <a:latin typeface="Segoe UI"/>
              </a:rPr>
              <a:t>STEP</a:t>
            </a:r>
          </a:p>
          <a:p>
            <a:r>
              <a:rPr sz="1000">
                <a:solidFill>
                  <a:srgbClr val="1A1A1A"/>
                </a:solidFill>
                <a:latin typeface="Segoe UI"/>
              </a:rPr>
              <a:t>Identify Opportunity</a:t>
            </a:r>
          </a:p>
        </p:txBody>
      </p:sp>
      <p:sp>
        <p:nvSpPr>
          <p:cNvPr id="27" name="Rounded Rectangle 26"/>
          <p:cNvSpPr/>
          <p:nvPr/>
        </p:nvSpPr>
        <p:spPr>
          <a:xfrm>
            <a:off x="443484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Find blog contribution call-to-action</a:t>
            </a:r>
          </a:p>
        </p:txBody>
      </p:sp>
      <p:sp>
        <p:nvSpPr>
          <p:cNvPr id="28" name="Rounded Rectangle 27"/>
          <p:cNvSpPr/>
          <p:nvPr/>
        </p:nvSpPr>
        <p:spPr>
          <a:xfrm>
            <a:off x="443484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Review submission guidelines</a:t>
            </a:r>
          </a:p>
        </p:txBody>
      </p:sp>
      <p:sp>
        <p:nvSpPr>
          <p:cNvPr id="29" name="Rounded Rectangle 28"/>
          <p:cNvSpPr/>
          <p:nvPr/>
        </p:nvSpPr>
        <p:spPr>
          <a:xfrm>
            <a:off x="7004304" y="1115568"/>
            <a:ext cx="256032" cy="256032"/>
          </a:xfrm>
          <a:prstGeom prst="round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04304" y="1115568"/>
            <a:ext cx="256032" cy="256032"/>
          </a:xfrm>
          <a:prstGeom prst="rect">
            <a:avLst/>
          </a:prstGeom>
          <a:noFill/>
        </p:spPr>
        <p:txBody>
          <a:bodyPr wrap="square">
            <a:spAutoFit/>
          </a:bodyPr>
          <a:lstStyle/>
          <a:p>
            <a:pPr algn="ctr"/>
            <a:r>
              <a:rPr sz="900" b="1" i="0">
                <a:solidFill>
                  <a:srgbClr val="FFFFFF"/>
                </a:solidFill>
                <a:latin typeface="Segoe UI"/>
              </a:rPr>
              <a:t>3</a:t>
            </a:r>
          </a:p>
        </p:txBody>
      </p:sp>
      <p:sp>
        <p:nvSpPr>
          <p:cNvPr id="31" name="Rounded Rectangle 30"/>
          <p:cNvSpPr/>
          <p:nvPr/>
        </p:nvSpPr>
        <p:spPr>
          <a:xfrm>
            <a:off x="7040880" y="1133856"/>
            <a:ext cx="2478024" cy="548640"/>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5FA8A0"/>
                </a:solidFill>
                <a:latin typeface="Segoe UI"/>
              </a:rPr>
              <a:t>STEP</a:t>
            </a:r>
          </a:p>
          <a:p>
            <a:r>
              <a:rPr sz="1000">
                <a:solidFill>
                  <a:srgbClr val="1A1A1A"/>
                </a:solidFill>
                <a:latin typeface="Segoe UI"/>
              </a:rPr>
              <a:t>Submit Inquiry</a:t>
            </a:r>
          </a:p>
        </p:txBody>
      </p:sp>
      <p:sp>
        <p:nvSpPr>
          <p:cNvPr id="32" name="Rounded Rectangle 31"/>
          <p:cNvSpPr/>
          <p:nvPr/>
        </p:nvSpPr>
        <p:spPr>
          <a:xfrm>
            <a:off x="704088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Fill out contact form (name, email, pitch idea)</a:t>
            </a:r>
          </a:p>
        </p:txBody>
      </p:sp>
      <p:sp>
        <p:nvSpPr>
          <p:cNvPr id="33" name="Rounded Rectangle 32"/>
          <p:cNvSpPr/>
          <p:nvPr/>
        </p:nvSpPr>
        <p:spPr>
          <a:xfrm>
            <a:off x="704088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Submit; receive auto-confirmation email</a:t>
            </a:r>
          </a:p>
        </p:txBody>
      </p:sp>
      <p:sp>
        <p:nvSpPr>
          <p:cNvPr id="34" name="Rounded Rectangle 33"/>
          <p:cNvSpPr/>
          <p:nvPr/>
        </p:nvSpPr>
        <p:spPr>
          <a:xfrm>
            <a:off x="9610344" y="1115568"/>
            <a:ext cx="256032" cy="256032"/>
          </a:xfrm>
          <a:prstGeom prst="round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10344" y="1115568"/>
            <a:ext cx="256032" cy="256032"/>
          </a:xfrm>
          <a:prstGeom prst="rect">
            <a:avLst/>
          </a:prstGeom>
          <a:noFill/>
        </p:spPr>
        <p:txBody>
          <a:bodyPr wrap="square">
            <a:spAutoFit/>
          </a:bodyPr>
          <a:lstStyle/>
          <a:p>
            <a:pPr algn="ctr"/>
            <a:r>
              <a:rPr sz="900" b="1" i="0">
                <a:solidFill>
                  <a:srgbClr val="FFFFFF"/>
                </a:solidFill>
                <a:latin typeface="Segoe UI"/>
              </a:rPr>
              <a:t>4</a:t>
            </a:r>
          </a:p>
        </p:txBody>
      </p:sp>
      <p:sp>
        <p:nvSpPr>
          <p:cNvPr id="36" name="Rounded Rectangle 35"/>
          <p:cNvSpPr/>
          <p:nvPr/>
        </p:nvSpPr>
        <p:spPr>
          <a:xfrm>
            <a:off x="9646920" y="1133856"/>
            <a:ext cx="2478024" cy="548640"/>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5FA8A0"/>
                </a:solidFill>
                <a:latin typeface="Segoe UI"/>
              </a:rPr>
              <a:t>STEP</a:t>
            </a:r>
          </a:p>
          <a:p>
            <a:r>
              <a:rPr sz="1000">
                <a:solidFill>
                  <a:srgbClr val="1A1A1A"/>
                </a:solidFill>
                <a:latin typeface="Segoe UI"/>
              </a:rPr>
              <a:t>Piece Published</a:t>
            </a:r>
          </a:p>
        </p:txBody>
      </p:sp>
      <p:sp>
        <p:nvSpPr>
          <p:cNvPr id="37" name="Rounded Rectangle 36"/>
          <p:cNvSpPr/>
          <p:nvPr/>
        </p:nvSpPr>
        <p:spPr>
          <a:xfrm>
            <a:off x="964692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Band reviews &amp; publishes Dan's piece</a:t>
            </a:r>
          </a:p>
        </p:txBody>
      </p:sp>
      <p:sp>
        <p:nvSpPr>
          <p:cNvPr id="38" name="Rounded Rectangle 37"/>
          <p:cNvSpPr/>
          <p:nvPr/>
        </p:nvSpPr>
        <p:spPr>
          <a:xfrm>
            <a:off x="964692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Dan shares on his blog &amp; social feeds</a:t>
            </a:r>
          </a:p>
        </p:txBody>
      </p:sp>
      <p:sp>
        <p:nvSpPr>
          <p:cNvPr id="39" name="Rectangle 38"/>
          <p:cNvSpPr/>
          <p:nvPr/>
        </p:nvSpPr>
        <p:spPr>
          <a:xfrm>
            <a:off x="1792224" y="3986784"/>
            <a:ext cx="10332720" cy="16459"/>
          </a:xfrm>
          <a:prstGeom prst="rect">
            <a:avLst/>
          </a:prstGeom>
          <a:solidFill>
            <a:srgbClr val="D1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792224" y="4041648"/>
            <a:ext cx="10332720" cy="640080"/>
          </a:xfrm>
          <a:prstGeom prst="rect">
            <a:avLst/>
          </a:prstGeom>
          <a:solidFill>
            <a:srgbClr val="EEF2F6"/>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01952" y="4096511"/>
            <a:ext cx="10113264" cy="530352"/>
          </a:xfrm>
          <a:prstGeom prst="rect">
            <a:avLst/>
          </a:prstGeom>
          <a:noFill/>
        </p:spPr>
        <p:txBody>
          <a:bodyPr wrap="square">
            <a:spAutoFit/>
          </a:bodyPr>
          <a:lstStyle/>
          <a:p>
            <a:pPr algn="l"/>
            <a:r>
              <a:rPr sz="1000" b="0" i="0">
                <a:solidFill>
                  <a:srgbClr val="1A1A1A"/>
                </a:solidFill>
                <a:latin typeface="Segoe UI"/>
              </a:rPr>
              <a:t>Blog CMS  |  Contact / inquiry form  |  Email notification system  |  Social share integration</a:t>
            </a:r>
          </a:p>
        </p:txBody>
      </p:sp>
      <p:sp>
        <p:nvSpPr>
          <p:cNvPr id="42" name="Rectangle 41"/>
          <p:cNvSpPr/>
          <p:nvPr/>
        </p:nvSpPr>
        <p:spPr>
          <a:xfrm>
            <a:off x="1792224" y="4736592"/>
            <a:ext cx="10332720" cy="566928"/>
          </a:xfrm>
          <a:prstGeom prst="rect">
            <a:avLst/>
          </a:prstGeom>
          <a:solidFill>
            <a:srgbClr val="EEF2F6"/>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901952" y="4791455"/>
            <a:ext cx="10113264" cy="457200"/>
          </a:xfrm>
          <a:prstGeom prst="rect">
            <a:avLst/>
          </a:prstGeom>
          <a:noFill/>
        </p:spPr>
        <p:txBody>
          <a:bodyPr wrap="square">
            <a:spAutoFit/>
          </a:bodyPr>
          <a:lstStyle/>
          <a:p>
            <a:pPr algn="l"/>
            <a:r>
              <a:rPr sz="1000" b="0" i="0">
                <a:solidFill>
                  <a:srgbClr val="6B7280"/>
                </a:solidFill>
                <a:latin typeface="Segoe UI"/>
              </a:rPr>
              <a:t>Usability  |  Reliability (form submission)  |  Content moderation  |  Accessibility</a:t>
            </a:r>
          </a:p>
        </p:txBody>
      </p:sp>
      <p:sp>
        <p:nvSpPr>
          <p:cNvPr id="44" name="Rectangle 43"/>
          <p:cNvSpPr/>
          <p:nvPr/>
        </p:nvSpPr>
        <p:spPr>
          <a:xfrm>
            <a:off x="1792224" y="5358384"/>
            <a:ext cx="10332720" cy="640080"/>
          </a:xfrm>
          <a:prstGeom prst="rect">
            <a:avLst/>
          </a:prstGeom>
          <a:solidFill>
            <a:srgbClr val="EEF2F6"/>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901952" y="5413248"/>
            <a:ext cx="10113264" cy="530352"/>
          </a:xfrm>
          <a:prstGeom prst="rect">
            <a:avLst/>
          </a:prstGeom>
          <a:noFill/>
        </p:spPr>
        <p:txBody>
          <a:bodyPr wrap="square">
            <a:spAutoFit/>
          </a:bodyPr>
          <a:lstStyle/>
          <a:p>
            <a:pPr algn="l"/>
            <a:r>
              <a:rPr sz="1000" b="0" i="0">
                <a:solidFill>
                  <a:srgbClr val="6B7280"/>
                </a:solidFill>
                <a:latin typeface="Segoe UI"/>
              </a:rPr>
              <a:t>Existing blog posts  |  Form fields (name, email, pitch)  |  Auto-reply email template  |  Published article content</a:t>
            </a:r>
          </a:p>
        </p:txBody>
      </p:sp>
      <p:sp>
        <p:nvSpPr>
          <p:cNvPr id="46" name="Rectangle 45"/>
          <p:cNvSpPr/>
          <p:nvPr/>
        </p:nvSpPr>
        <p:spPr>
          <a:xfrm>
            <a:off x="0" y="6812280"/>
            <a:ext cx="12188952" cy="45720"/>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719072"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91639" y="0"/>
            <a:ext cx="27432" cy="6858000"/>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 y="658368"/>
            <a:ext cx="1554480" cy="329184"/>
          </a:xfrm>
          <a:prstGeom prst="rect">
            <a:avLst/>
          </a:prstGeom>
          <a:noFill/>
        </p:spPr>
        <p:txBody>
          <a:bodyPr wrap="square">
            <a:spAutoFit/>
          </a:bodyPr>
          <a:lstStyle/>
          <a:p>
            <a:pPr algn="ctr"/>
            <a:r>
              <a:rPr sz="800" b="1" i="0">
                <a:solidFill>
                  <a:srgbClr val="6B7280"/>
                </a:solidFill>
                <a:latin typeface="Segoe UI"/>
              </a:rPr>
              <a:t>CAPABILITY</a:t>
            </a:r>
          </a:p>
        </p:txBody>
      </p:sp>
      <p:sp>
        <p:nvSpPr>
          <p:cNvPr id="5" name="TextBox 4"/>
          <p:cNvSpPr txBox="1"/>
          <p:nvPr/>
        </p:nvSpPr>
        <p:spPr>
          <a:xfrm>
            <a:off x="64008" y="1316736"/>
            <a:ext cx="1554480" cy="329184"/>
          </a:xfrm>
          <a:prstGeom prst="rect">
            <a:avLst/>
          </a:prstGeom>
          <a:noFill/>
        </p:spPr>
        <p:txBody>
          <a:bodyPr wrap="square">
            <a:spAutoFit/>
          </a:bodyPr>
          <a:lstStyle/>
          <a:p>
            <a:pPr algn="ctr"/>
            <a:r>
              <a:rPr sz="800" b="1" i="0">
                <a:solidFill>
                  <a:srgbClr val="6B7280"/>
                </a:solidFill>
                <a:latin typeface="Segoe UI"/>
              </a:rPr>
              <a:t>STEPS</a:t>
            </a:r>
          </a:p>
        </p:txBody>
      </p:sp>
      <p:sp>
        <p:nvSpPr>
          <p:cNvPr id="6" name="TextBox 5"/>
          <p:cNvSpPr txBox="1"/>
          <p:nvPr/>
        </p:nvSpPr>
        <p:spPr>
          <a:xfrm>
            <a:off x="64008" y="2651760"/>
            <a:ext cx="1554480" cy="329184"/>
          </a:xfrm>
          <a:prstGeom prst="rect">
            <a:avLst/>
          </a:prstGeom>
          <a:noFill/>
        </p:spPr>
        <p:txBody>
          <a:bodyPr wrap="square">
            <a:spAutoFit/>
          </a:bodyPr>
          <a:lstStyle/>
          <a:p>
            <a:pPr algn="ctr"/>
            <a:r>
              <a:rPr sz="800" b="1" i="0">
                <a:solidFill>
                  <a:srgbClr val="6B7280"/>
                </a:solidFill>
                <a:latin typeface="Segoe UI"/>
              </a:rPr>
              <a:t>ACTIVITIES</a:t>
            </a:r>
          </a:p>
        </p:txBody>
      </p:sp>
      <p:sp>
        <p:nvSpPr>
          <p:cNvPr id="7" name="TextBox 6"/>
          <p:cNvSpPr txBox="1"/>
          <p:nvPr/>
        </p:nvSpPr>
        <p:spPr>
          <a:xfrm>
            <a:off x="64008" y="4270248"/>
            <a:ext cx="1554480" cy="329184"/>
          </a:xfrm>
          <a:prstGeom prst="rect">
            <a:avLst/>
          </a:prstGeom>
          <a:noFill/>
        </p:spPr>
        <p:txBody>
          <a:bodyPr wrap="square">
            <a:spAutoFit/>
          </a:bodyPr>
          <a:lstStyle/>
          <a:p>
            <a:pPr algn="ctr"/>
            <a:r>
              <a:rPr sz="800" b="1" i="0">
                <a:solidFill>
                  <a:srgbClr val="6B7280"/>
                </a:solidFill>
                <a:latin typeface="Segoe UI"/>
              </a:rPr>
              <a:t>ENABLERS</a:t>
            </a:r>
          </a:p>
        </p:txBody>
      </p:sp>
      <p:sp>
        <p:nvSpPr>
          <p:cNvPr id="8" name="TextBox 7"/>
          <p:cNvSpPr txBox="1"/>
          <p:nvPr/>
        </p:nvSpPr>
        <p:spPr>
          <a:xfrm>
            <a:off x="64008" y="4901183"/>
            <a:ext cx="1554480" cy="329184"/>
          </a:xfrm>
          <a:prstGeom prst="rect">
            <a:avLst/>
          </a:prstGeom>
          <a:noFill/>
        </p:spPr>
        <p:txBody>
          <a:bodyPr wrap="square">
            <a:spAutoFit/>
          </a:bodyPr>
          <a:lstStyle/>
          <a:p>
            <a:pPr algn="ctr"/>
            <a:r>
              <a:rPr sz="800" b="1" i="0">
                <a:solidFill>
                  <a:srgbClr val="6B7280"/>
                </a:solidFill>
                <a:latin typeface="Segoe UI"/>
              </a:rPr>
              <a:t>NFRs</a:t>
            </a:r>
          </a:p>
        </p:txBody>
      </p:sp>
      <p:sp>
        <p:nvSpPr>
          <p:cNvPr id="9" name="TextBox 8"/>
          <p:cNvSpPr txBox="1"/>
          <p:nvPr/>
        </p:nvSpPr>
        <p:spPr>
          <a:xfrm>
            <a:off x="64008" y="5559552"/>
            <a:ext cx="1554480" cy="329184"/>
          </a:xfrm>
          <a:prstGeom prst="rect">
            <a:avLst/>
          </a:prstGeom>
          <a:noFill/>
        </p:spPr>
        <p:txBody>
          <a:bodyPr wrap="square">
            <a:spAutoFit/>
          </a:bodyPr>
          <a:lstStyle/>
          <a:p>
            <a:pPr algn="ctr"/>
            <a:r>
              <a:rPr sz="800" b="1" i="0">
                <a:solidFill>
                  <a:srgbClr val="6B7280"/>
                </a:solidFill>
                <a:latin typeface="Segoe UI"/>
              </a:rPr>
              <a:t>DATA</a:t>
            </a:r>
          </a:p>
        </p:txBody>
      </p:sp>
      <p:sp>
        <p:nvSpPr>
          <p:cNvPr id="10" name="Rectangle 9"/>
          <p:cNvSpPr/>
          <p:nvPr/>
        </p:nvSpPr>
        <p:spPr>
          <a:xfrm>
            <a:off x="0" y="0"/>
            <a:ext cx="12188952" cy="420624"/>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92224" y="54864"/>
            <a:ext cx="7863840" cy="329184"/>
          </a:xfrm>
          <a:prstGeom prst="rect">
            <a:avLst/>
          </a:prstGeom>
          <a:noFill/>
        </p:spPr>
        <p:txBody>
          <a:bodyPr wrap="square">
            <a:spAutoFit/>
          </a:bodyPr>
          <a:lstStyle/>
          <a:p>
            <a:pPr algn="l"/>
            <a:r>
              <a:rPr sz="1200" b="1" i="0">
                <a:solidFill>
                  <a:srgbClr val="FFFFFF"/>
                </a:solidFill>
                <a:latin typeface="Segoe UI"/>
              </a:rPr>
              <a:t>Flow 3  ·  Dan Attends a Show &amp; Covers It Live</a:t>
            </a:r>
          </a:p>
        </p:txBody>
      </p:sp>
      <p:sp>
        <p:nvSpPr>
          <p:cNvPr id="12" name="Rounded Rectangle 11"/>
          <p:cNvSpPr/>
          <p:nvPr/>
        </p:nvSpPr>
        <p:spPr>
          <a:xfrm>
            <a:off x="9601200" y="64008"/>
            <a:ext cx="2514600" cy="274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0" y="64008"/>
            <a:ext cx="2514600" cy="274320"/>
          </a:xfrm>
          <a:prstGeom prst="rect">
            <a:avLst/>
          </a:prstGeom>
          <a:noFill/>
        </p:spPr>
        <p:txBody>
          <a:bodyPr wrap="square">
            <a:spAutoFit/>
          </a:bodyPr>
          <a:lstStyle/>
          <a:p>
            <a:pPr algn="ctr"/>
            <a:r>
              <a:rPr sz="800" b="1" i="0">
                <a:solidFill>
                  <a:srgbClr val="5FA8A0"/>
                </a:solidFill>
                <a:latin typeface="Segoe UI"/>
              </a:rPr>
              <a:t>Dan — Hardcore Blogger</a:t>
            </a:r>
          </a:p>
        </p:txBody>
      </p:sp>
      <p:sp>
        <p:nvSpPr>
          <p:cNvPr id="14" name="Rectangle 13"/>
          <p:cNvSpPr/>
          <p:nvPr/>
        </p:nvSpPr>
        <p:spPr>
          <a:xfrm>
            <a:off x="1792224" y="475488"/>
            <a:ext cx="10332720" cy="594360"/>
          </a:xfrm>
          <a:prstGeom prst="rect">
            <a:avLst/>
          </a:prstGeom>
          <a:solidFill>
            <a:srgbClr val="E8F4F3"/>
          </a:solidFill>
          <a:ln w="12700">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01952" y="530352"/>
            <a:ext cx="10113264" cy="310896"/>
          </a:xfrm>
          <a:prstGeom prst="rect">
            <a:avLst/>
          </a:prstGeom>
          <a:noFill/>
        </p:spPr>
        <p:txBody>
          <a:bodyPr wrap="square">
            <a:spAutoFit/>
          </a:bodyPr>
          <a:lstStyle/>
          <a:p>
            <a:pPr algn="l"/>
            <a:r>
              <a:rPr sz="1300" b="1" i="0">
                <a:solidFill>
                  <a:srgbClr val="5FA8A0"/>
                </a:solidFill>
                <a:latin typeface="Segoe UI"/>
              </a:rPr>
              <a:t>Discover, Reserve &amp; Attend an Upcoming Show</a:t>
            </a:r>
          </a:p>
        </p:txBody>
      </p:sp>
      <p:sp>
        <p:nvSpPr>
          <p:cNvPr id="16" name="TextBox 15"/>
          <p:cNvSpPr txBox="1"/>
          <p:nvPr/>
        </p:nvSpPr>
        <p:spPr>
          <a:xfrm>
            <a:off x="1901952" y="822960"/>
            <a:ext cx="10113264" cy="219456"/>
          </a:xfrm>
          <a:prstGeom prst="rect">
            <a:avLst/>
          </a:prstGeom>
          <a:noFill/>
        </p:spPr>
        <p:txBody>
          <a:bodyPr wrap="square">
            <a:spAutoFit/>
          </a:bodyPr>
          <a:lstStyle/>
          <a:p>
            <a:pPr algn="l"/>
            <a:r>
              <a:rPr sz="900" b="0" i="1">
                <a:solidFill>
                  <a:srgbClr val="6B7280"/>
                </a:solidFill>
                <a:latin typeface="Segoe UI"/>
              </a:rPr>
              <a:t>Trigger: Dan wants to cover Birch Wilson live for his underground magazine</a:t>
            </a:r>
          </a:p>
        </p:txBody>
      </p:sp>
      <p:sp>
        <p:nvSpPr>
          <p:cNvPr id="17" name="Rectangle 16"/>
          <p:cNvSpPr/>
          <p:nvPr/>
        </p:nvSpPr>
        <p:spPr>
          <a:xfrm>
            <a:off x="1792224" y="1399032"/>
            <a:ext cx="10195560" cy="18288"/>
          </a:xfrm>
          <a:prstGeom prst="rect">
            <a:avLst/>
          </a:prstGeom>
          <a:solidFill>
            <a:srgbClr val="D1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96344" y="1252728"/>
            <a:ext cx="256032" cy="310896"/>
          </a:xfrm>
          <a:prstGeom prst="rect">
            <a:avLst/>
          </a:prstGeom>
          <a:noFill/>
        </p:spPr>
        <p:txBody>
          <a:bodyPr wrap="square">
            <a:spAutoFit/>
          </a:bodyPr>
          <a:lstStyle/>
          <a:p>
            <a:pPr algn="ctr"/>
            <a:r>
              <a:rPr sz="1200" b="0" i="0">
                <a:solidFill>
                  <a:srgbClr val="4A90E2"/>
                </a:solidFill>
                <a:latin typeface="Segoe UI"/>
              </a:rPr>
              <a:t>▶</a:t>
            </a:r>
          </a:p>
        </p:txBody>
      </p:sp>
      <p:sp>
        <p:nvSpPr>
          <p:cNvPr id="19" name="Rounded Rectangle 18"/>
          <p:cNvSpPr/>
          <p:nvPr/>
        </p:nvSpPr>
        <p:spPr>
          <a:xfrm>
            <a:off x="1792224" y="1115568"/>
            <a:ext cx="256032" cy="256032"/>
          </a:xfrm>
          <a:prstGeom prst="round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92224" y="1115568"/>
            <a:ext cx="256032" cy="256032"/>
          </a:xfrm>
          <a:prstGeom prst="rect">
            <a:avLst/>
          </a:prstGeom>
          <a:noFill/>
        </p:spPr>
        <p:txBody>
          <a:bodyPr wrap="square">
            <a:spAutoFit/>
          </a:bodyPr>
          <a:lstStyle/>
          <a:p>
            <a:pPr algn="ctr"/>
            <a:r>
              <a:rPr sz="900" b="1" i="0">
                <a:solidFill>
                  <a:srgbClr val="FFFFFF"/>
                </a:solidFill>
                <a:latin typeface="Segoe UI"/>
              </a:rPr>
              <a:t>1</a:t>
            </a:r>
          </a:p>
        </p:txBody>
      </p:sp>
      <p:sp>
        <p:nvSpPr>
          <p:cNvPr id="21" name="Rounded Rectangle 20"/>
          <p:cNvSpPr/>
          <p:nvPr/>
        </p:nvSpPr>
        <p:spPr>
          <a:xfrm>
            <a:off x="1828800" y="1133856"/>
            <a:ext cx="2478024" cy="548640"/>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5FA8A0"/>
                </a:solidFill>
                <a:latin typeface="Segoe UI"/>
              </a:rPr>
              <a:t>STEP</a:t>
            </a:r>
          </a:p>
          <a:p>
            <a:r>
              <a:rPr sz="1000">
                <a:solidFill>
                  <a:srgbClr val="1A1A1A"/>
                </a:solidFill>
                <a:latin typeface="Segoe UI"/>
              </a:rPr>
              <a:t>Receive Notification</a:t>
            </a:r>
          </a:p>
        </p:txBody>
      </p:sp>
      <p:sp>
        <p:nvSpPr>
          <p:cNvPr id="22" name="Rounded Rectangle 21"/>
          <p:cNvSpPr/>
          <p:nvPr/>
        </p:nvSpPr>
        <p:spPr>
          <a:xfrm>
            <a:off x="182880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Receive email alert for upcoming show</a:t>
            </a:r>
          </a:p>
        </p:txBody>
      </p:sp>
      <p:sp>
        <p:nvSpPr>
          <p:cNvPr id="23" name="Rounded Rectangle 22"/>
          <p:cNvSpPr/>
          <p:nvPr/>
        </p:nvSpPr>
        <p:spPr>
          <a:xfrm>
            <a:off x="182880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Click link; land on the Shows page</a:t>
            </a:r>
          </a:p>
        </p:txBody>
      </p:sp>
      <p:sp>
        <p:nvSpPr>
          <p:cNvPr id="24" name="Rounded Rectangle 23"/>
          <p:cNvSpPr/>
          <p:nvPr/>
        </p:nvSpPr>
        <p:spPr>
          <a:xfrm>
            <a:off x="4398264" y="1115568"/>
            <a:ext cx="256032" cy="256032"/>
          </a:xfrm>
          <a:prstGeom prst="round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98264" y="1115568"/>
            <a:ext cx="256032" cy="256032"/>
          </a:xfrm>
          <a:prstGeom prst="rect">
            <a:avLst/>
          </a:prstGeom>
          <a:noFill/>
        </p:spPr>
        <p:txBody>
          <a:bodyPr wrap="square">
            <a:spAutoFit/>
          </a:bodyPr>
          <a:lstStyle/>
          <a:p>
            <a:pPr algn="ctr"/>
            <a:r>
              <a:rPr sz="900" b="1" i="0">
                <a:solidFill>
                  <a:srgbClr val="FFFFFF"/>
                </a:solidFill>
                <a:latin typeface="Segoe UI"/>
              </a:rPr>
              <a:t>2</a:t>
            </a:r>
          </a:p>
        </p:txBody>
      </p:sp>
      <p:sp>
        <p:nvSpPr>
          <p:cNvPr id="26" name="Rounded Rectangle 25"/>
          <p:cNvSpPr/>
          <p:nvPr/>
        </p:nvSpPr>
        <p:spPr>
          <a:xfrm>
            <a:off x="4434840" y="1133856"/>
            <a:ext cx="2478024" cy="548640"/>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5FA8A0"/>
                </a:solidFill>
                <a:latin typeface="Segoe UI"/>
              </a:rPr>
              <a:t>STEP</a:t>
            </a:r>
          </a:p>
          <a:p>
            <a:r>
              <a:rPr sz="1000">
                <a:solidFill>
                  <a:srgbClr val="1A1A1A"/>
                </a:solidFill>
                <a:latin typeface="Segoe UI"/>
              </a:rPr>
              <a:t>Review Show Details</a:t>
            </a:r>
          </a:p>
        </p:txBody>
      </p:sp>
      <p:sp>
        <p:nvSpPr>
          <p:cNvPr id="27" name="Rounded Rectangle 26"/>
          <p:cNvSpPr/>
          <p:nvPr/>
        </p:nvSpPr>
        <p:spPr>
          <a:xfrm>
            <a:off x="443484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Read date, venue, and city</a:t>
            </a:r>
          </a:p>
        </p:txBody>
      </p:sp>
      <p:sp>
        <p:nvSpPr>
          <p:cNvPr id="28" name="Rounded Rectangle 27"/>
          <p:cNvSpPr/>
          <p:nvPr/>
        </p:nvSpPr>
        <p:spPr>
          <a:xfrm>
            <a:off x="443484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Confirm personal availability</a:t>
            </a:r>
          </a:p>
        </p:txBody>
      </p:sp>
      <p:sp>
        <p:nvSpPr>
          <p:cNvPr id="29" name="Rounded Rectangle 28"/>
          <p:cNvSpPr/>
          <p:nvPr/>
        </p:nvSpPr>
        <p:spPr>
          <a:xfrm>
            <a:off x="7004304" y="1115568"/>
            <a:ext cx="256032" cy="256032"/>
          </a:xfrm>
          <a:prstGeom prst="round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04304" y="1115568"/>
            <a:ext cx="256032" cy="256032"/>
          </a:xfrm>
          <a:prstGeom prst="rect">
            <a:avLst/>
          </a:prstGeom>
          <a:noFill/>
        </p:spPr>
        <p:txBody>
          <a:bodyPr wrap="square">
            <a:spAutoFit/>
          </a:bodyPr>
          <a:lstStyle/>
          <a:p>
            <a:pPr algn="ctr"/>
            <a:r>
              <a:rPr sz="900" b="1" i="0">
                <a:solidFill>
                  <a:srgbClr val="FFFFFF"/>
                </a:solidFill>
                <a:latin typeface="Segoe UI"/>
              </a:rPr>
              <a:t>3</a:t>
            </a:r>
          </a:p>
        </p:txBody>
      </p:sp>
      <p:sp>
        <p:nvSpPr>
          <p:cNvPr id="31" name="Rounded Rectangle 30"/>
          <p:cNvSpPr/>
          <p:nvPr/>
        </p:nvSpPr>
        <p:spPr>
          <a:xfrm>
            <a:off x="7040880" y="1133856"/>
            <a:ext cx="2478024" cy="548640"/>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5FA8A0"/>
                </a:solidFill>
                <a:latin typeface="Segoe UI"/>
              </a:rPr>
              <a:t>STEP</a:t>
            </a:r>
          </a:p>
          <a:p>
            <a:r>
              <a:rPr sz="1000">
                <a:solidFill>
                  <a:srgbClr val="1A1A1A"/>
                </a:solidFill>
                <a:latin typeface="Segoe UI"/>
              </a:rPr>
              <a:t>Reserve Ticket</a:t>
            </a:r>
          </a:p>
        </p:txBody>
      </p:sp>
      <p:sp>
        <p:nvSpPr>
          <p:cNvPr id="32" name="Rounded Rectangle 31"/>
          <p:cNvSpPr/>
          <p:nvPr/>
        </p:nvSpPr>
        <p:spPr>
          <a:xfrm>
            <a:off x="704088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Fill out ticket reservation form</a:t>
            </a:r>
          </a:p>
        </p:txBody>
      </p:sp>
      <p:sp>
        <p:nvSpPr>
          <p:cNvPr id="33" name="Rounded Rectangle 32"/>
          <p:cNvSpPr/>
          <p:nvPr/>
        </p:nvSpPr>
        <p:spPr>
          <a:xfrm>
            <a:off x="704088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Submit; receive confirmation email</a:t>
            </a:r>
          </a:p>
        </p:txBody>
      </p:sp>
      <p:sp>
        <p:nvSpPr>
          <p:cNvPr id="34" name="Rounded Rectangle 33"/>
          <p:cNvSpPr/>
          <p:nvPr/>
        </p:nvSpPr>
        <p:spPr>
          <a:xfrm>
            <a:off x="9610344" y="1115568"/>
            <a:ext cx="256032" cy="256032"/>
          </a:xfrm>
          <a:prstGeom prst="round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10344" y="1115568"/>
            <a:ext cx="256032" cy="256032"/>
          </a:xfrm>
          <a:prstGeom prst="rect">
            <a:avLst/>
          </a:prstGeom>
          <a:noFill/>
        </p:spPr>
        <p:txBody>
          <a:bodyPr wrap="square">
            <a:spAutoFit/>
          </a:bodyPr>
          <a:lstStyle/>
          <a:p>
            <a:pPr algn="ctr"/>
            <a:r>
              <a:rPr sz="900" b="1" i="0">
                <a:solidFill>
                  <a:srgbClr val="FFFFFF"/>
                </a:solidFill>
                <a:latin typeface="Segoe UI"/>
              </a:rPr>
              <a:t>4</a:t>
            </a:r>
          </a:p>
        </p:txBody>
      </p:sp>
      <p:sp>
        <p:nvSpPr>
          <p:cNvPr id="36" name="Rounded Rectangle 35"/>
          <p:cNvSpPr/>
          <p:nvPr/>
        </p:nvSpPr>
        <p:spPr>
          <a:xfrm>
            <a:off x="9646920" y="1133856"/>
            <a:ext cx="2478024" cy="548640"/>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5FA8A0"/>
                </a:solidFill>
                <a:latin typeface="Segoe UI"/>
              </a:rPr>
              <a:t>STEP</a:t>
            </a:r>
          </a:p>
          <a:p>
            <a:r>
              <a:rPr sz="1000">
                <a:solidFill>
                  <a:srgbClr val="1A1A1A"/>
                </a:solidFill>
                <a:latin typeface="Segoe UI"/>
              </a:rPr>
              <a:t>Attend &amp; Cover</a:t>
            </a:r>
          </a:p>
        </p:txBody>
      </p:sp>
      <p:sp>
        <p:nvSpPr>
          <p:cNvPr id="37" name="Rounded Rectangle 36"/>
          <p:cNvSpPr/>
          <p:nvPr/>
        </p:nvSpPr>
        <p:spPr>
          <a:xfrm>
            <a:off x="964692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Attend show; experience intimate crowd</a:t>
            </a:r>
          </a:p>
        </p:txBody>
      </p:sp>
      <p:sp>
        <p:nvSpPr>
          <p:cNvPr id="38" name="Rounded Rectangle 37"/>
          <p:cNvSpPr/>
          <p:nvPr/>
        </p:nvSpPr>
        <p:spPr>
          <a:xfrm>
            <a:off x="964692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Return post-show; access band photos &amp; bio for review</a:t>
            </a:r>
          </a:p>
        </p:txBody>
      </p:sp>
      <p:sp>
        <p:nvSpPr>
          <p:cNvPr id="39" name="Rectangle 38"/>
          <p:cNvSpPr/>
          <p:nvPr/>
        </p:nvSpPr>
        <p:spPr>
          <a:xfrm>
            <a:off x="1792224" y="3986784"/>
            <a:ext cx="10332720" cy="16459"/>
          </a:xfrm>
          <a:prstGeom prst="rect">
            <a:avLst/>
          </a:prstGeom>
          <a:solidFill>
            <a:srgbClr val="D1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792224" y="4041648"/>
            <a:ext cx="10332720" cy="640080"/>
          </a:xfrm>
          <a:prstGeom prst="rect">
            <a:avLst/>
          </a:prstGeom>
          <a:solidFill>
            <a:srgbClr val="EEF2F6"/>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01952" y="4096511"/>
            <a:ext cx="10113264" cy="530352"/>
          </a:xfrm>
          <a:prstGeom prst="rect">
            <a:avLst/>
          </a:prstGeom>
          <a:noFill/>
        </p:spPr>
        <p:txBody>
          <a:bodyPr wrap="square">
            <a:spAutoFit/>
          </a:bodyPr>
          <a:lstStyle/>
          <a:p>
            <a:pPr algn="l"/>
            <a:r>
              <a:rPr sz="1000" b="0" i="0">
                <a:solidFill>
                  <a:srgbClr val="1A1A1A"/>
                </a:solidFill>
                <a:latin typeface="Segoe UI"/>
              </a:rPr>
              <a:t>Email notification system  |  Shows / events listing  |  Ticket reservation form  |  Photo gallery</a:t>
            </a:r>
          </a:p>
        </p:txBody>
      </p:sp>
      <p:sp>
        <p:nvSpPr>
          <p:cNvPr id="42" name="Rectangle 41"/>
          <p:cNvSpPr/>
          <p:nvPr/>
        </p:nvSpPr>
        <p:spPr>
          <a:xfrm>
            <a:off x="1792224" y="4736592"/>
            <a:ext cx="10332720" cy="566928"/>
          </a:xfrm>
          <a:prstGeom prst="rect">
            <a:avLst/>
          </a:prstGeom>
          <a:solidFill>
            <a:srgbClr val="EEF2F6"/>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901952" y="4791455"/>
            <a:ext cx="10113264" cy="457200"/>
          </a:xfrm>
          <a:prstGeom prst="rect">
            <a:avLst/>
          </a:prstGeom>
          <a:noFill/>
        </p:spPr>
        <p:txBody>
          <a:bodyPr wrap="square">
            <a:spAutoFit/>
          </a:bodyPr>
          <a:lstStyle/>
          <a:p>
            <a:pPr algn="l"/>
            <a:r>
              <a:rPr sz="1000" b="0" i="0">
                <a:solidFill>
                  <a:srgbClr val="6B7280"/>
                </a:solidFill>
                <a:latin typeface="Segoe UI"/>
              </a:rPr>
              <a:t>Reliability  |  Timeliness (alerts before sellout)  |  Usability  |  Scalability</a:t>
            </a:r>
          </a:p>
        </p:txBody>
      </p:sp>
      <p:sp>
        <p:nvSpPr>
          <p:cNvPr id="44" name="Rectangle 43"/>
          <p:cNvSpPr/>
          <p:nvPr/>
        </p:nvSpPr>
        <p:spPr>
          <a:xfrm>
            <a:off x="1792224" y="5358384"/>
            <a:ext cx="10332720" cy="640080"/>
          </a:xfrm>
          <a:prstGeom prst="rect">
            <a:avLst/>
          </a:prstGeom>
          <a:solidFill>
            <a:srgbClr val="EEF2F6"/>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901952" y="5413248"/>
            <a:ext cx="10113264" cy="530352"/>
          </a:xfrm>
          <a:prstGeom prst="rect">
            <a:avLst/>
          </a:prstGeom>
          <a:noFill/>
        </p:spPr>
        <p:txBody>
          <a:bodyPr wrap="square">
            <a:spAutoFit/>
          </a:bodyPr>
          <a:lstStyle/>
          <a:p>
            <a:pPr algn="l"/>
            <a:r>
              <a:rPr sz="1000" b="0" i="0">
                <a:solidFill>
                  <a:srgbClr val="6B7280"/>
                </a:solidFill>
                <a:latin typeface="Segoe UI"/>
              </a:rPr>
              <a:t>Show details (date, venue, city)  |  Ticket inventory  |  Fan email list  |  Live show photography</a:t>
            </a:r>
          </a:p>
        </p:txBody>
      </p:sp>
      <p:sp>
        <p:nvSpPr>
          <p:cNvPr id="46" name="Rectangle 45"/>
          <p:cNvSpPr/>
          <p:nvPr/>
        </p:nvSpPr>
        <p:spPr>
          <a:xfrm>
            <a:off x="0" y="6812280"/>
            <a:ext cx="12188952" cy="45720"/>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719072"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91639" y="0"/>
            <a:ext cx="27432" cy="6858000"/>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 y="658368"/>
            <a:ext cx="1554480" cy="329184"/>
          </a:xfrm>
          <a:prstGeom prst="rect">
            <a:avLst/>
          </a:prstGeom>
          <a:noFill/>
        </p:spPr>
        <p:txBody>
          <a:bodyPr wrap="square">
            <a:spAutoFit/>
          </a:bodyPr>
          <a:lstStyle/>
          <a:p>
            <a:pPr algn="ctr"/>
            <a:r>
              <a:rPr sz="800" b="1" i="0">
                <a:solidFill>
                  <a:srgbClr val="6B7280"/>
                </a:solidFill>
                <a:latin typeface="Segoe UI"/>
              </a:rPr>
              <a:t>CAPABILITY</a:t>
            </a:r>
          </a:p>
        </p:txBody>
      </p:sp>
      <p:sp>
        <p:nvSpPr>
          <p:cNvPr id="5" name="TextBox 4"/>
          <p:cNvSpPr txBox="1"/>
          <p:nvPr/>
        </p:nvSpPr>
        <p:spPr>
          <a:xfrm>
            <a:off x="64008" y="1316736"/>
            <a:ext cx="1554480" cy="329184"/>
          </a:xfrm>
          <a:prstGeom prst="rect">
            <a:avLst/>
          </a:prstGeom>
          <a:noFill/>
        </p:spPr>
        <p:txBody>
          <a:bodyPr wrap="square">
            <a:spAutoFit/>
          </a:bodyPr>
          <a:lstStyle/>
          <a:p>
            <a:pPr algn="ctr"/>
            <a:r>
              <a:rPr sz="800" b="1" i="0">
                <a:solidFill>
                  <a:srgbClr val="6B7280"/>
                </a:solidFill>
                <a:latin typeface="Segoe UI"/>
              </a:rPr>
              <a:t>STEPS</a:t>
            </a:r>
          </a:p>
        </p:txBody>
      </p:sp>
      <p:sp>
        <p:nvSpPr>
          <p:cNvPr id="6" name="TextBox 5"/>
          <p:cNvSpPr txBox="1"/>
          <p:nvPr/>
        </p:nvSpPr>
        <p:spPr>
          <a:xfrm>
            <a:off x="64008" y="2651760"/>
            <a:ext cx="1554480" cy="329184"/>
          </a:xfrm>
          <a:prstGeom prst="rect">
            <a:avLst/>
          </a:prstGeom>
          <a:noFill/>
        </p:spPr>
        <p:txBody>
          <a:bodyPr wrap="square">
            <a:spAutoFit/>
          </a:bodyPr>
          <a:lstStyle/>
          <a:p>
            <a:pPr algn="ctr"/>
            <a:r>
              <a:rPr sz="800" b="1" i="0">
                <a:solidFill>
                  <a:srgbClr val="6B7280"/>
                </a:solidFill>
                <a:latin typeface="Segoe UI"/>
              </a:rPr>
              <a:t>ACTIVITIES</a:t>
            </a:r>
          </a:p>
        </p:txBody>
      </p:sp>
      <p:sp>
        <p:nvSpPr>
          <p:cNvPr id="7" name="TextBox 6"/>
          <p:cNvSpPr txBox="1"/>
          <p:nvPr/>
        </p:nvSpPr>
        <p:spPr>
          <a:xfrm>
            <a:off x="64008" y="4270248"/>
            <a:ext cx="1554480" cy="329184"/>
          </a:xfrm>
          <a:prstGeom prst="rect">
            <a:avLst/>
          </a:prstGeom>
          <a:noFill/>
        </p:spPr>
        <p:txBody>
          <a:bodyPr wrap="square">
            <a:spAutoFit/>
          </a:bodyPr>
          <a:lstStyle/>
          <a:p>
            <a:pPr algn="ctr"/>
            <a:r>
              <a:rPr sz="800" b="1" i="0">
                <a:solidFill>
                  <a:srgbClr val="6B7280"/>
                </a:solidFill>
                <a:latin typeface="Segoe UI"/>
              </a:rPr>
              <a:t>ENABLERS</a:t>
            </a:r>
          </a:p>
        </p:txBody>
      </p:sp>
      <p:sp>
        <p:nvSpPr>
          <p:cNvPr id="8" name="TextBox 7"/>
          <p:cNvSpPr txBox="1"/>
          <p:nvPr/>
        </p:nvSpPr>
        <p:spPr>
          <a:xfrm>
            <a:off x="64008" y="4901183"/>
            <a:ext cx="1554480" cy="329184"/>
          </a:xfrm>
          <a:prstGeom prst="rect">
            <a:avLst/>
          </a:prstGeom>
          <a:noFill/>
        </p:spPr>
        <p:txBody>
          <a:bodyPr wrap="square">
            <a:spAutoFit/>
          </a:bodyPr>
          <a:lstStyle/>
          <a:p>
            <a:pPr algn="ctr"/>
            <a:r>
              <a:rPr sz="800" b="1" i="0">
                <a:solidFill>
                  <a:srgbClr val="6B7280"/>
                </a:solidFill>
                <a:latin typeface="Segoe UI"/>
              </a:rPr>
              <a:t>NFRs</a:t>
            </a:r>
          </a:p>
        </p:txBody>
      </p:sp>
      <p:sp>
        <p:nvSpPr>
          <p:cNvPr id="9" name="TextBox 8"/>
          <p:cNvSpPr txBox="1"/>
          <p:nvPr/>
        </p:nvSpPr>
        <p:spPr>
          <a:xfrm>
            <a:off x="64008" y="5559552"/>
            <a:ext cx="1554480" cy="329184"/>
          </a:xfrm>
          <a:prstGeom prst="rect">
            <a:avLst/>
          </a:prstGeom>
          <a:noFill/>
        </p:spPr>
        <p:txBody>
          <a:bodyPr wrap="square">
            <a:spAutoFit/>
          </a:bodyPr>
          <a:lstStyle/>
          <a:p>
            <a:pPr algn="ctr"/>
            <a:r>
              <a:rPr sz="800" b="1" i="0">
                <a:solidFill>
                  <a:srgbClr val="6B7280"/>
                </a:solidFill>
                <a:latin typeface="Segoe UI"/>
              </a:rPr>
              <a:t>DATA</a:t>
            </a:r>
          </a:p>
        </p:txBody>
      </p:sp>
      <p:sp>
        <p:nvSpPr>
          <p:cNvPr id="10" name="Rectangle 9"/>
          <p:cNvSpPr/>
          <p:nvPr/>
        </p:nvSpPr>
        <p:spPr>
          <a:xfrm>
            <a:off x="0" y="0"/>
            <a:ext cx="12188952" cy="420624"/>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92224" y="54864"/>
            <a:ext cx="7863840" cy="329184"/>
          </a:xfrm>
          <a:prstGeom prst="rect">
            <a:avLst/>
          </a:prstGeom>
          <a:noFill/>
        </p:spPr>
        <p:txBody>
          <a:bodyPr wrap="square">
            <a:spAutoFit/>
          </a:bodyPr>
          <a:lstStyle/>
          <a:p>
            <a:pPr algn="l"/>
            <a:r>
              <a:rPr sz="1200" b="1" i="0">
                <a:solidFill>
                  <a:srgbClr val="FFFFFF"/>
                </a:solidFill>
                <a:latin typeface="Segoe UI"/>
              </a:rPr>
              <a:t>Flow 4  ·  Jake Scouts the Band &amp; Assesses Their Sound</a:t>
            </a:r>
          </a:p>
        </p:txBody>
      </p:sp>
      <p:sp>
        <p:nvSpPr>
          <p:cNvPr id="12" name="Rounded Rectangle 11"/>
          <p:cNvSpPr/>
          <p:nvPr/>
        </p:nvSpPr>
        <p:spPr>
          <a:xfrm>
            <a:off x="9601200" y="64008"/>
            <a:ext cx="2514600" cy="274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0" y="64008"/>
            <a:ext cx="2514600" cy="274320"/>
          </a:xfrm>
          <a:prstGeom prst="rect">
            <a:avLst/>
          </a:prstGeom>
          <a:noFill/>
        </p:spPr>
        <p:txBody>
          <a:bodyPr wrap="square">
            <a:spAutoFit/>
          </a:bodyPr>
          <a:lstStyle/>
          <a:p>
            <a:pPr algn="ctr"/>
            <a:r>
              <a:rPr sz="800" b="1" i="0">
                <a:solidFill>
                  <a:srgbClr val="D48F0A"/>
                </a:solidFill>
                <a:latin typeface="Segoe UI"/>
              </a:rPr>
              <a:t>Jake — Indie Producer</a:t>
            </a:r>
          </a:p>
        </p:txBody>
      </p:sp>
      <p:sp>
        <p:nvSpPr>
          <p:cNvPr id="14" name="Rectangle 13"/>
          <p:cNvSpPr/>
          <p:nvPr/>
        </p:nvSpPr>
        <p:spPr>
          <a:xfrm>
            <a:off x="1792224" y="475488"/>
            <a:ext cx="10332720" cy="594360"/>
          </a:xfrm>
          <a:prstGeom prst="rect">
            <a:avLst/>
          </a:prstGeom>
          <a:solidFill>
            <a:srgbClr val="FDF5E0"/>
          </a:solidFill>
          <a:ln w="12700">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01952" y="530352"/>
            <a:ext cx="10113264" cy="310896"/>
          </a:xfrm>
          <a:prstGeom prst="rect">
            <a:avLst/>
          </a:prstGeom>
          <a:noFill/>
        </p:spPr>
        <p:txBody>
          <a:bodyPr wrap="square">
            <a:spAutoFit/>
          </a:bodyPr>
          <a:lstStyle/>
          <a:p>
            <a:pPr algn="l"/>
            <a:r>
              <a:rPr sz="1300" b="1" i="0">
                <a:solidFill>
                  <a:srgbClr val="D48F0A"/>
                </a:solidFill>
                <a:latin typeface="Segoe UI"/>
              </a:rPr>
              <a:t>Research &amp; Evaluate Birch Wilson as a Recording Client</a:t>
            </a:r>
          </a:p>
        </p:txBody>
      </p:sp>
      <p:sp>
        <p:nvSpPr>
          <p:cNvPr id="16" name="TextBox 15"/>
          <p:cNvSpPr txBox="1"/>
          <p:nvPr/>
        </p:nvSpPr>
        <p:spPr>
          <a:xfrm>
            <a:off x="1901952" y="822960"/>
            <a:ext cx="10113264" cy="219456"/>
          </a:xfrm>
          <a:prstGeom prst="rect">
            <a:avLst/>
          </a:prstGeom>
          <a:noFill/>
        </p:spPr>
        <p:txBody>
          <a:bodyPr wrap="square">
            <a:spAutoFit/>
          </a:bodyPr>
          <a:lstStyle/>
          <a:p>
            <a:pPr algn="l"/>
            <a:r>
              <a:rPr sz="900" b="0" i="1">
                <a:solidFill>
                  <a:srgbClr val="6B7280"/>
                </a:solidFill>
                <a:latin typeface="Segoe UI"/>
              </a:rPr>
              <a:t>Trigger: Jake is searching for local indie/rock bands to record as his next project</a:t>
            </a:r>
          </a:p>
        </p:txBody>
      </p:sp>
      <p:sp>
        <p:nvSpPr>
          <p:cNvPr id="17" name="Rectangle 16"/>
          <p:cNvSpPr/>
          <p:nvPr/>
        </p:nvSpPr>
        <p:spPr>
          <a:xfrm>
            <a:off x="1792224" y="1399032"/>
            <a:ext cx="10195560" cy="18288"/>
          </a:xfrm>
          <a:prstGeom prst="rect">
            <a:avLst/>
          </a:prstGeom>
          <a:solidFill>
            <a:srgbClr val="D1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96344" y="1252728"/>
            <a:ext cx="256032" cy="310896"/>
          </a:xfrm>
          <a:prstGeom prst="rect">
            <a:avLst/>
          </a:prstGeom>
          <a:noFill/>
        </p:spPr>
        <p:txBody>
          <a:bodyPr wrap="square">
            <a:spAutoFit/>
          </a:bodyPr>
          <a:lstStyle/>
          <a:p>
            <a:pPr algn="ctr"/>
            <a:r>
              <a:rPr sz="1200" b="0" i="0">
                <a:solidFill>
                  <a:srgbClr val="4A90E2"/>
                </a:solidFill>
                <a:latin typeface="Segoe UI"/>
              </a:rPr>
              <a:t>▶</a:t>
            </a:r>
          </a:p>
        </p:txBody>
      </p:sp>
      <p:sp>
        <p:nvSpPr>
          <p:cNvPr id="19" name="Rounded Rectangle 18"/>
          <p:cNvSpPr/>
          <p:nvPr/>
        </p:nvSpPr>
        <p:spPr>
          <a:xfrm>
            <a:off x="1792224" y="1115568"/>
            <a:ext cx="256032" cy="256032"/>
          </a:xfrm>
          <a:prstGeom prst="round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92224" y="1115568"/>
            <a:ext cx="256032" cy="256032"/>
          </a:xfrm>
          <a:prstGeom prst="rect">
            <a:avLst/>
          </a:prstGeom>
          <a:noFill/>
        </p:spPr>
        <p:txBody>
          <a:bodyPr wrap="square">
            <a:spAutoFit/>
          </a:bodyPr>
          <a:lstStyle/>
          <a:p>
            <a:pPr algn="ctr"/>
            <a:r>
              <a:rPr sz="900" b="1" i="0">
                <a:solidFill>
                  <a:srgbClr val="FFFFFF"/>
                </a:solidFill>
                <a:latin typeface="Segoe UI"/>
              </a:rPr>
              <a:t>1</a:t>
            </a:r>
          </a:p>
        </p:txBody>
      </p:sp>
      <p:sp>
        <p:nvSpPr>
          <p:cNvPr id="21" name="Rounded Rectangle 20"/>
          <p:cNvSpPr/>
          <p:nvPr/>
        </p:nvSpPr>
        <p:spPr>
          <a:xfrm>
            <a:off x="1828800" y="1133856"/>
            <a:ext cx="2478024" cy="548640"/>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D48F0A"/>
                </a:solidFill>
                <a:latin typeface="Segoe UI"/>
              </a:rPr>
              <a:t>STEP</a:t>
            </a:r>
          </a:p>
          <a:p>
            <a:r>
              <a:rPr sz="1000">
                <a:solidFill>
                  <a:srgbClr val="1A1A1A"/>
                </a:solidFill>
                <a:latin typeface="Segoe UI"/>
              </a:rPr>
              <a:t>Discover the Site</a:t>
            </a:r>
          </a:p>
        </p:txBody>
      </p:sp>
      <p:sp>
        <p:nvSpPr>
          <p:cNvPr id="22" name="Rounded Rectangle 21"/>
          <p:cNvSpPr/>
          <p:nvPr/>
        </p:nvSpPr>
        <p:spPr>
          <a:xfrm>
            <a:off x="182880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Search 'indie rock band Massachusetts'</a:t>
            </a:r>
          </a:p>
        </p:txBody>
      </p:sp>
      <p:sp>
        <p:nvSpPr>
          <p:cNvPr id="23" name="Rounded Rectangle 22"/>
          <p:cNvSpPr/>
          <p:nvPr/>
        </p:nvSpPr>
        <p:spPr>
          <a:xfrm>
            <a:off x="182880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Find &amp; click Birch Wilson in results</a:t>
            </a:r>
          </a:p>
        </p:txBody>
      </p:sp>
      <p:sp>
        <p:nvSpPr>
          <p:cNvPr id="24" name="Rounded Rectangle 23"/>
          <p:cNvSpPr/>
          <p:nvPr/>
        </p:nvSpPr>
        <p:spPr>
          <a:xfrm>
            <a:off x="4398264" y="1115568"/>
            <a:ext cx="256032" cy="256032"/>
          </a:xfrm>
          <a:prstGeom prst="round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98264" y="1115568"/>
            <a:ext cx="256032" cy="256032"/>
          </a:xfrm>
          <a:prstGeom prst="rect">
            <a:avLst/>
          </a:prstGeom>
          <a:noFill/>
        </p:spPr>
        <p:txBody>
          <a:bodyPr wrap="square">
            <a:spAutoFit/>
          </a:bodyPr>
          <a:lstStyle/>
          <a:p>
            <a:pPr algn="ctr"/>
            <a:r>
              <a:rPr sz="900" b="1" i="0">
                <a:solidFill>
                  <a:srgbClr val="FFFFFF"/>
                </a:solidFill>
                <a:latin typeface="Segoe UI"/>
              </a:rPr>
              <a:t>2</a:t>
            </a:r>
          </a:p>
        </p:txBody>
      </p:sp>
      <p:sp>
        <p:nvSpPr>
          <p:cNvPr id="26" name="Rounded Rectangle 25"/>
          <p:cNvSpPr/>
          <p:nvPr/>
        </p:nvSpPr>
        <p:spPr>
          <a:xfrm>
            <a:off x="4434840" y="1133856"/>
            <a:ext cx="2478024" cy="548640"/>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D48F0A"/>
                </a:solidFill>
                <a:latin typeface="Segoe UI"/>
              </a:rPr>
              <a:t>STEP</a:t>
            </a:r>
          </a:p>
          <a:p>
            <a:r>
              <a:rPr sz="1000">
                <a:solidFill>
                  <a:srgbClr val="1A1A1A"/>
                </a:solidFill>
                <a:latin typeface="Segoe UI"/>
              </a:rPr>
              <a:t>Assess the Sound</a:t>
            </a:r>
          </a:p>
        </p:txBody>
      </p:sp>
      <p:sp>
        <p:nvSpPr>
          <p:cNvPr id="27" name="Rounded Rectangle 26"/>
          <p:cNvSpPr/>
          <p:nvPr/>
        </p:nvSpPr>
        <p:spPr>
          <a:xfrm>
            <a:off x="443484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Navigate to Music page</a:t>
            </a:r>
          </a:p>
        </p:txBody>
      </p:sp>
      <p:sp>
        <p:nvSpPr>
          <p:cNvPr id="28" name="Rounded Rectangle 27"/>
          <p:cNvSpPr/>
          <p:nvPr/>
        </p:nvSpPr>
        <p:spPr>
          <a:xfrm>
            <a:off x="443484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Listen to Spotify embeds; note production quality &amp; style</a:t>
            </a:r>
          </a:p>
        </p:txBody>
      </p:sp>
      <p:sp>
        <p:nvSpPr>
          <p:cNvPr id="29" name="Rounded Rectangle 28"/>
          <p:cNvSpPr/>
          <p:nvPr/>
        </p:nvSpPr>
        <p:spPr>
          <a:xfrm>
            <a:off x="7004304" y="1115568"/>
            <a:ext cx="256032" cy="256032"/>
          </a:xfrm>
          <a:prstGeom prst="round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04304" y="1115568"/>
            <a:ext cx="256032" cy="256032"/>
          </a:xfrm>
          <a:prstGeom prst="rect">
            <a:avLst/>
          </a:prstGeom>
          <a:noFill/>
        </p:spPr>
        <p:txBody>
          <a:bodyPr wrap="square">
            <a:spAutoFit/>
          </a:bodyPr>
          <a:lstStyle/>
          <a:p>
            <a:pPr algn="ctr"/>
            <a:r>
              <a:rPr sz="900" b="1" i="0">
                <a:solidFill>
                  <a:srgbClr val="FFFFFF"/>
                </a:solidFill>
                <a:latin typeface="Segoe UI"/>
              </a:rPr>
              <a:t>3</a:t>
            </a:r>
          </a:p>
        </p:txBody>
      </p:sp>
      <p:sp>
        <p:nvSpPr>
          <p:cNvPr id="31" name="Rounded Rectangle 30"/>
          <p:cNvSpPr/>
          <p:nvPr/>
        </p:nvSpPr>
        <p:spPr>
          <a:xfrm>
            <a:off x="7040880" y="1133856"/>
            <a:ext cx="2478024" cy="548640"/>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D48F0A"/>
                </a:solidFill>
                <a:latin typeface="Segoe UI"/>
              </a:rPr>
              <a:t>STEP</a:t>
            </a:r>
          </a:p>
          <a:p>
            <a:r>
              <a:rPr sz="1000">
                <a:solidFill>
                  <a:srgbClr val="1A1A1A"/>
                </a:solidFill>
                <a:latin typeface="Segoe UI"/>
              </a:rPr>
              <a:t>Evaluate the Brand</a:t>
            </a:r>
          </a:p>
        </p:txBody>
      </p:sp>
      <p:sp>
        <p:nvSpPr>
          <p:cNvPr id="32" name="Rounded Rectangle 31"/>
          <p:cNvSpPr/>
          <p:nvPr/>
        </p:nvSpPr>
        <p:spPr>
          <a:xfrm>
            <a:off x="704088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Read About page; review bio &amp; band history</a:t>
            </a:r>
          </a:p>
        </p:txBody>
      </p:sp>
      <p:sp>
        <p:nvSpPr>
          <p:cNvPr id="33" name="Rounded Rectangle 32"/>
          <p:cNvSpPr/>
          <p:nvPr/>
        </p:nvSpPr>
        <p:spPr>
          <a:xfrm>
            <a:off x="704088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Assess aesthetic fit for his studio niche</a:t>
            </a:r>
          </a:p>
        </p:txBody>
      </p:sp>
      <p:sp>
        <p:nvSpPr>
          <p:cNvPr id="34" name="Rounded Rectangle 33"/>
          <p:cNvSpPr/>
          <p:nvPr/>
        </p:nvSpPr>
        <p:spPr>
          <a:xfrm>
            <a:off x="9610344" y="1115568"/>
            <a:ext cx="256032" cy="256032"/>
          </a:xfrm>
          <a:prstGeom prst="round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10344" y="1115568"/>
            <a:ext cx="256032" cy="256032"/>
          </a:xfrm>
          <a:prstGeom prst="rect">
            <a:avLst/>
          </a:prstGeom>
          <a:noFill/>
        </p:spPr>
        <p:txBody>
          <a:bodyPr wrap="square">
            <a:spAutoFit/>
          </a:bodyPr>
          <a:lstStyle/>
          <a:p>
            <a:pPr algn="ctr"/>
            <a:r>
              <a:rPr sz="900" b="1" i="0">
                <a:solidFill>
                  <a:srgbClr val="FFFFFF"/>
                </a:solidFill>
                <a:latin typeface="Segoe UI"/>
              </a:rPr>
              <a:t>4</a:t>
            </a:r>
          </a:p>
        </p:txBody>
      </p:sp>
      <p:sp>
        <p:nvSpPr>
          <p:cNvPr id="36" name="Rounded Rectangle 35"/>
          <p:cNvSpPr/>
          <p:nvPr/>
        </p:nvSpPr>
        <p:spPr>
          <a:xfrm>
            <a:off x="9646920" y="1133856"/>
            <a:ext cx="2478024" cy="548640"/>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D48F0A"/>
                </a:solidFill>
                <a:latin typeface="Segoe UI"/>
              </a:rPr>
              <a:t>STEP</a:t>
            </a:r>
          </a:p>
          <a:p>
            <a:r>
              <a:rPr sz="1000">
                <a:solidFill>
                  <a:srgbClr val="1A1A1A"/>
                </a:solidFill>
                <a:latin typeface="Segoe UI"/>
              </a:rPr>
              <a:t>Verify Band is Active</a:t>
            </a:r>
          </a:p>
        </p:txBody>
      </p:sp>
      <p:sp>
        <p:nvSpPr>
          <p:cNvPr id="37" name="Rounded Rectangle 36"/>
          <p:cNvSpPr/>
          <p:nvPr/>
        </p:nvSpPr>
        <p:spPr>
          <a:xfrm>
            <a:off x="964692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Check Shows page for upcoming gig schedule</a:t>
            </a:r>
          </a:p>
        </p:txBody>
      </p:sp>
      <p:sp>
        <p:nvSpPr>
          <p:cNvPr id="38" name="Rounded Rectangle 37"/>
          <p:cNvSpPr/>
          <p:nvPr/>
        </p:nvSpPr>
        <p:spPr>
          <a:xfrm>
            <a:off x="964692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Confirm band is actively performing (not dormant)</a:t>
            </a:r>
          </a:p>
        </p:txBody>
      </p:sp>
      <p:sp>
        <p:nvSpPr>
          <p:cNvPr id="39" name="Rectangle 38"/>
          <p:cNvSpPr/>
          <p:nvPr/>
        </p:nvSpPr>
        <p:spPr>
          <a:xfrm>
            <a:off x="1792224" y="3986784"/>
            <a:ext cx="10332720" cy="16459"/>
          </a:xfrm>
          <a:prstGeom prst="rect">
            <a:avLst/>
          </a:prstGeom>
          <a:solidFill>
            <a:srgbClr val="D1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792224" y="4041648"/>
            <a:ext cx="10332720" cy="640080"/>
          </a:xfrm>
          <a:prstGeom prst="rect">
            <a:avLst/>
          </a:prstGeom>
          <a:solidFill>
            <a:srgbClr val="EEF2F6"/>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01952" y="4096511"/>
            <a:ext cx="10113264" cy="530352"/>
          </a:xfrm>
          <a:prstGeom prst="rect">
            <a:avLst/>
          </a:prstGeom>
          <a:noFill/>
        </p:spPr>
        <p:txBody>
          <a:bodyPr wrap="square">
            <a:spAutoFit/>
          </a:bodyPr>
          <a:lstStyle/>
          <a:p>
            <a:pPr algn="l"/>
            <a:r>
              <a:rPr sz="1000" b="0" i="0">
                <a:solidFill>
                  <a:srgbClr val="1A1A1A"/>
                </a:solidFill>
                <a:latin typeface="Segoe UI"/>
              </a:rPr>
              <a:t>SEO &amp; search indexing  |  Spotify embed  |  About / bio page  |  Shows / events listing</a:t>
            </a:r>
          </a:p>
        </p:txBody>
      </p:sp>
      <p:sp>
        <p:nvSpPr>
          <p:cNvPr id="42" name="Rectangle 41"/>
          <p:cNvSpPr/>
          <p:nvPr/>
        </p:nvSpPr>
        <p:spPr>
          <a:xfrm>
            <a:off x="1792224" y="4736592"/>
            <a:ext cx="10332720" cy="566928"/>
          </a:xfrm>
          <a:prstGeom prst="rect">
            <a:avLst/>
          </a:prstGeom>
          <a:solidFill>
            <a:srgbClr val="EEF2F6"/>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901952" y="4791455"/>
            <a:ext cx="10113264" cy="457200"/>
          </a:xfrm>
          <a:prstGeom prst="rect">
            <a:avLst/>
          </a:prstGeom>
          <a:noFill/>
        </p:spPr>
        <p:txBody>
          <a:bodyPr wrap="square">
            <a:spAutoFit/>
          </a:bodyPr>
          <a:lstStyle/>
          <a:p>
            <a:pPr algn="l"/>
            <a:r>
              <a:rPr sz="1000" b="0" i="0">
                <a:solidFill>
                  <a:srgbClr val="6B7280"/>
                </a:solidFill>
                <a:latin typeface="Segoe UI"/>
              </a:rPr>
              <a:t>Credibility (professional appearance)  |  Performance  |  Usability  |  Discoverability</a:t>
            </a:r>
          </a:p>
        </p:txBody>
      </p:sp>
      <p:sp>
        <p:nvSpPr>
          <p:cNvPr id="44" name="Rectangle 43"/>
          <p:cNvSpPr/>
          <p:nvPr/>
        </p:nvSpPr>
        <p:spPr>
          <a:xfrm>
            <a:off x="1792224" y="5358384"/>
            <a:ext cx="10332720" cy="640080"/>
          </a:xfrm>
          <a:prstGeom prst="rect">
            <a:avLst/>
          </a:prstGeom>
          <a:solidFill>
            <a:srgbClr val="EEF2F6"/>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901952" y="5413248"/>
            <a:ext cx="10113264" cy="530352"/>
          </a:xfrm>
          <a:prstGeom prst="rect">
            <a:avLst/>
          </a:prstGeom>
          <a:noFill/>
        </p:spPr>
        <p:txBody>
          <a:bodyPr wrap="square">
            <a:spAutoFit/>
          </a:bodyPr>
          <a:lstStyle/>
          <a:p>
            <a:pPr algn="l"/>
            <a:r>
              <a:rPr sz="1000" b="0" i="0">
                <a:solidFill>
                  <a:srgbClr val="6B7280"/>
                </a:solidFill>
                <a:latin typeface="Segoe UI"/>
              </a:rPr>
              <a:t>Music track data  |  Band biography &amp; history  |  Genre &amp; influences metadata  |  Active show schedule</a:t>
            </a:r>
          </a:p>
        </p:txBody>
      </p:sp>
      <p:sp>
        <p:nvSpPr>
          <p:cNvPr id="46" name="Rectangle 45"/>
          <p:cNvSpPr/>
          <p:nvPr/>
        </p:nvSpPr>
        <p:spPr>
          <a:xfrm>
            <a:off x="0" y="6812280"/>
            <a:ext cx="12188952" cy="45720"/>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719072" cy="6858000"/>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691639" y="0"/>
            <a:ext cx="27432" cy="6858000"/>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 y="658368"/>
            <a:ext cx="1554480" cy="329184"/>
          </a:xfrm>
          <a:prstGeom prst="rect">
            <a:avLst/>
          </a:prstGeom>
          <a:noFill/>
        </p:spPr>
        <p:txBody>
          <a:bodyPr wrap="square">
            <a:spAutoFit/>
          </a:bodyPr>
          <a:lstStyle/>
          <a:p>
            <a:pPr algn="ctr"/>
            <a:r>
              <a:rPr sz="800" b="1" i="0">
                <a:solidFill>
                  <a:srgbClr val="6B7280"/>
                </a:solidFill>
                <a:latin typeface="Segoe UI"/>
              </a:rPr>
              <a:t>CAPABILITY</a:t>
            </a:r>
          </a:p>
        </p:txBody>
      </p:sp>
      <p:sp>
        <p:nvSpPr>
          <p:cNvPr id="5" name="TextBox 4"/>
          <p:cNvSpPr txBox="1"/>
          <p:nvPr/>
        </p:nvSpPr>
        <p:spPr>
          <a:xfrm>
            <a:off x="64008" y="1316736"/>
            <a:ext cx="1554480" cy="329184"/>
          </a:xfrm>
          <a:prstGeom prst="rect">
            <a:avLst/>
          </a:prstGeom>
          <a:noFill/>
        </p:spPr>
        <p:txBody>
          <a:bodyPr wrap="square">
            <a:spAutoFit/>
          </a:bodyPr>
          <a:lstStyle/>
          <a:p>
            <a:pPr algn="ctr"/>
            <a:r>
              <a:rPr sz="800" b="1" i="0">
                <a:solidFill>
                  <a:srgbClr val="6B7280"/>
                </a:solidFill>
                <a:latin typeface="Segoe UI"/>
              </a:rPr>
              <a:t>STEPS</a:t>
            </a:r>
          </a:p>
        </p:txBody>
      </p:sp>
      <p:sp>
        <p:nvSpPr>
          <p:cNvPr id="6" name="TextBox 5"/>
          <p:cNvSpPr txBox="1"/>
          <p:nvPr/>
        </p:nvSpPr>
        <p:spPr>
          <a:xfrm>
            <a:off x="64008" y="2651760"/>
            <a:ext cx="1554480" cy="329184"/>
          </a:xfrm>
          <a:prstGeom prst="rect">
            <a:avLst/>
          </a:prstGeom>
          <a:noFill/>
        </p:spPr>
        <p:txBody>
          <a:bodyPr wrap="square">
            <a:spAutoFit/>
          </a:bodyPr>
          <a:lstStyle/>
          <a:p>
            <a:pPr algn="ctr"/>
            <a:r>
              <a:rPr sz="800" b="1" i="0">
                <a:solidFill>
                  <a:srgbClr val="6B7280"/>
                </a:solidFill>
                <a:latin typeface="Segoe UI"/>
              </a:rPr>
              <a:t>ACTIVITIES</a:t>
            </a:r>
          </a:p>
        </p:txBody>
      </p:sp>
      <p:sp>
        <p:nvSpPr>
          <p:cNvPr id="7" name="TextBox 6"/>
          <p:cNvSpPr txBox="1"/>
          <p:nvPr/>
        </p:nvSpPr>
        <p:spPr>
          <a:xfrm>
            <a:off x="64008" y="4270248"/>
            <a:ext cx="1554480" cy="329184"/>
          </a:xfrm>
          <a:prstGeom prst="rect">
            <a:avLst/>
          </a:prstGeom>
          <a:noFill/>
        </p:spPr>
        <p:txBody>
          <a:bodyPr wrap="square">
            <a:spAutoFit/>
          </a:bodyPr>
          <a:lstStyle/>
          <a:p>
            <a:pPr algn="ctr"/>
            <a:r>
              <a:rPr sz="800" b="1" i="0">
                <a:solidFill>
                  <a:srgbClr val="6B7280"/>
                </a:solidFill>
                <a:latin typeface="Segoe UI"/>
              </a:rPr>
              <a:t>ENABLERS</a:t>
            </a:r>
          </a:p>
        </p:txBody>
      </p:sp>
      <p:sp>
        <p:nvSpPr>
          <p:cNvPr id="8" name="TextBox 7"/>
          <p:cNvSpPr txBox="1"/>
          <p:nvPr/>
        </p:nvSpPr>
        <p:spPr>
          <a:xfrm>
            <a:off x="64008" y="4901183"/>
            <a:ext cx="1554480" cy="329184"/>
          </a:xfrm>
          <a:prstGeom prst="rect">
            <a:avLst/>
          </a:prstGeom>
          <a:noFill/>
        </p:spPr>
        <p:txBody>
          <a:bodyPr wrap="square">
            <a:spAutoFit/>
          </a:bodyPr>
          <a:lstStyle/>
          <a:p>
            <a:pPr algn="ctr"/>
            <a:r>
              <a:rPr sz="800" b="1" i="0">
                <a:solidFill>
                  <a:srgbClr val="6B7280"/>
                </a:solidFill>
                <a:latin typeface="Segoe UI"/>
              </a:rPr>
              <a:t>NFRs</a:t>
            </a:r>
          </a:p>
        </p:txBody>
      </p:sp>
      <p:sp>
        <p:nvSpPr>
          <p:cNvPr id="9" name="TextBox 8"/>
          <p:cNvSpPr txBox="1"/>
          <p:nvPr/>
        </p:nvSpPr>
        <p:spPr>
          <a:xfrm>
            <a:off x="64008" y="5559552"/>
            <a:ext cx="1554480" cy="329184"/>
          </a:xfrm>
          <a:prstGeom prst="rect">
            <a:avLst/>
          </a:prstGeom>
          <a:noFill/>
        </p:spPr>
        <p:txBody>
          <a:bodyPr wrap="square">
            <a:spAutoFit/>
          </a:bodyPr>
          <a:lstStyle/>
          <a:p>
            <a:pPr algn="ctr"/>
            <a:r>
              <a:rPr sz="800" b="1" i="0">
                <a:solidFill>
                  <a:srgbClr val="6B7280"/>
                </a:solidFill>
                <a:latin typeface="Segoe UI"/>
              </a:rPr>
              <a:t>DATA</a:t>
            </a:r>
          </a:p>
        </p:txBody>
      </p:sp>
      <p:sp>
        <p:nvSpPr>
          <p:cNvPr id="10" name="Rectangle 9"/>
          <p:cNvSpPr/>
          <p:nvPr/>
        </p:nvSpPr>
        <p:spPr>
          <a:xfrm>
            <a:off x="0" y="0"/>
            <a:ext cx="12188952" cy="420624"/>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92224" y="54864"/>
            <a:ext cx="7863840" cy="329184"/>
          </a:xfrm>
          <a:prstGeom prst="rect">
            <a:avLst/>
          </a:prstGeom>
          <a:noFill/>
        </p:spPr>
        <p:txBody>
          <a:bodyPr wrap="square">
            <a:spAutoFit/>
          </a:bodyPr>
          <a:lstStyle/>
          <a:p>
            <a:pPr algn="l"/>
            <a:r>
              <a:rPr sz="1200" b="1" i="0">
                <a:solidFill>
                  <a:srgbClr val="FFFFFF"/>
                </a:solidFill>
                <a:latin typeface="Segoe UI"/>
              </a:rPr>
              <a:t>Flow 5  ·  Jake Reaches Out to Collaborate</a:t>
            </a:r>
          </a:p>
        </p:txBody>
      </p:sp>
      <p:sp>
        <p:nvSpPr>
          <p:cNvPr id="12" name="Rounded Rectangle 11"/>
          <p:cNvSpPr/>
          <p:nvPr/>
        </p:nvSpPr>
        <p:spPr>
          <a:xfrm>
            <a:off x="9601200" y="64008"/>
            <a:ext cx="2514600" cy="274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0" y="64008"/>
            <a:ext cx="2514600" cy="274320"/>
          </a:xfrm>
          <a:prstGeom prst="rect">
            <a:avLst/>
          </a:prstGeom>
          <a:noFill/>
        </p:spPr>
        <p:txBody>
          <a:bodyPr wrap="square">
            <a:spAutoFit/>
          </a:bodyPr>
          <a:lstStyle/>
          <a:p>
            <a:pPr algn="ctr"/>
            <a:r>
              <a:rPr sz="800" b="1" i="0">
                <a:solidFill>
                  <a:srgbClr val="D48F0A"/>
                </a:solidFill>
                <a:latin typeface="Segoe UI"/>
              </a:rPr>
              <a:t>Jake — Indie Producer</a:t>
            </a:r>
          </a:p>
        </p:txBody>
      </p:sp>
      <p:sp>
        <p:nvSpPr>
          <p:cNvPr id="14" name="Rectangle 13"/>
          <p:cNvSpPr/>
          <p:nvPr/>
        </p:nvSpPr>
        <p:spPr>
          <a:xfrm>
            <a:off x="1792224" y="475488"/>
            <a:ext cx="10332720" cy="594360"/>
          </a:xfrm>
          <a:prstGeom prst="rect">
            <a:avLst/>
          </a:prstGeom>
          <a:solidFill>
            <a:srgbClr val="FDF5E0"/>
          </a:solidFill>
          <a:ln w="12700">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01952" y="530352"/>
            <a:ext cx="10113264" cy="310896"/>
          </a:xfrm>
          <a:prstGeom prst="rect">
            <a:avLst/>
          </a:prstGeom>
          <a:noFill/>
        </p:spPr>
        <p:txBody>
          <a:bodyPr wrap="square">
            <a:spAutoFit/>
          </a:bodyPr>
          <a:lstStyle/>
          <a:p>
            <a:pPr algn="l"/>
            <a:r>
              <a:rPr sz="1300" b="1" i="0">
                <a:solidFill>
                  <a:srgbClr val="D48F0A"/>
                </a:solidFill>
                <a:latin typeface="Segoe UI"/>
              </a:rPr>
              <a:t>Submit a Recording Collaboration Inquiry</a:t>
            </a:r>
          </a:p>
        </p:txBody>
      </p:sp>
      <p:sp>
        <p:nvSpPr>
          <p:cNvPr id="16" name="TextBox 15"/>
          <p:cNvSpPr txBox="1"/>
          <p:nvPr/>
        </p:nvSpPr>
        <p:spPr>
          <a:xfrm>
            <a:off x="1901952" y="822960"/>
            <a:ext cx="10113264" cy="219456"/>
          </a:xfrm>
          <a:prstGeom prst="rect">
            <a:avLst/>
          </a:prstGeom>
          <a:noFill/>
        </p:spPr>
        <p:txBody>
          <a:bodyPr wrap="square">
            <a:spAutoFit/>
          </a:bodyPr>
          <a:lstStyle/>
          <a:p>
            <a:pPr algn="l"/>
            <a:r>
              <a:rPr sz="900" b="0" i="1">
                <a:solidFill>
                  <a:srgbClr val="6B7280"/>
                </a:solidFill>
                <a:latin typeface="Segoe UI"/>
              </a:rPr>
              <a:t>Trigger: Jake is ready to pitch a recording session to Birch Wilson</a:t>
            </a:r>
          </a:p>
        </p:txBody>
      </p:sp>
      <p:sp>
        <p:nvSpPr>
          <p:cNvPr id="17" name="Rectangle 16"/>
          <p:cNvSpPr/>
          <p:nvPr/>
        </p:nvSpPr>
        <p:spPr>
          <a:xfrm>
            <a:off x="1792224" y="1399032"/>
            <a:ext cx="10195560" cy="18288"/>
          </a:xfrm>
          <a:prstGeom prst="rect">
            <a:avLst/>
          </a:prstGeom>
          <a:solidFill>
            <a:srgbClr val="D1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96344" y="1252728"/>
            <a:ext cx="256032" cy="310896"/>
          </a:xfrm>
          <a:prstGeom prst="rect">
            <a:avLst/>
          </a:prstGeom>
          <a:noFill/>
        </p:spPr>
        <p:txBody>
          <a:bodyPr wrap="square">
            <a:spAutoFit/>
          </a:bodyPr>
          <a:lstStyle/>
          <a:p>
            <a:pPr algn="ctr"/>
            <a:r>
              <a:rPr sz="1200" b="0" i="0">
                <a:solidFill>
                  <a:srgbClr val="4A90E2"/>
                </a:solidFill>
                <a:latin typeface="Segoe UI"/>
              </a:rPr>
              <a:t>▶</a:t>
            </a:r>
          </a:p>
        </p:txBody>
      </p:sp>
      <p:sp>
        <p:nvSpPr>
          <p:cNvPr id="19" name="Rounded Rectangle 18"/>
          <p:cNvSpPr/>
          <p:nvPr/>
        </p:nvSpPr>
        <p:spPr>
          <a:xfrm>
            <a:off x="1792224" y="1115568"/>
            <a:ext cx="256032" cy="256032"/>
          </a:xfrm>
          <a:prstGeom prst="round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92224" y="1115568"/>
            <a:ext cx="256032" cy="256032"/>
          </a:xfrm>
          <a:prstGeom prst="rect">
            <a:avLst/>
          </a:prstGeom>
          <a:noFill/>
        </p:spPr>
        <p:txBody>
          <a:bodyPr wrap="square">
            <a:spAutoFit/>
          </a:bodyPr>
          <a:lstStyle/>
          <a:p>
            <a:pPr algn="ctr"/>
            <a:r>
              <a:rPr sz="900" b="1" i="0">
                <a:solidFill>
                  <a:srgbClr val="FFFFFF"/>
                </a:solidFill>
                <a:latin typeface="Segoe UI"/>
              </a:rPr>
              <a:t>1</a:t>
            </a:r>
          </a:p>
        </p:txBody>
      </p:sp>
      <p:sp>
        <p:nvSpPr>
          <p:cNvPr id="21" name="Rounded Rectangle 20"/>
          <p:cNvSpPr/>
          <p:nvPr/>
        </p:nvSpPr>
        <p:spPr>
          <a:xfrm>
            <a:off x="1828800" y="1133856"/>
            <a:ext cx="2478024" cy="548640"/>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D48F0A"/>
                </a:solidFill>
                <a:latin typeface="Segoe UI"/>
              </a:rPr>
              <a:t>STEP</a:t>
            </a:r>
          </a:p>
          <a:p>
            <a:r>
              <a:rPr sz="1000">
                <a:solidFill>
                  <a:srgbClr val="1A1A1A"/>
                </a:solidFill>
                <a:latin typeface="Segoe UI"/>
              </a:rPr>
              <a:t>Navigate to Contact</a:t>
            </a:r>
          </a:p>
        </p:txBody>
      </p:sp>
      <p:sp>
        <p:nvSpPr>
          <p:cNvPr id="22" name="Rounded Rectangle 21"/>
          <p:cNvSpPr/>
          <p:nvPr/>
        </p:nvSpPr>
        <p:spPr>
          <a:xfrm>
            <a:off x="182880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Find Contact page via site navigation</a:t>
            </a:r>
          </a:p>
        </p:txBody>
      </p:sp>
      <p:sp>
        <p:nvSpPr>
          <p:cNvPr id="23" name="Rounded Rectangle 22"/>
          <p:cNvSpPr/>
          <p:nvPr/>
        </p:nvSpPr>
        <p:spPr>
          <a:xfrm>
            <a:off x="182880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Review available contact options</a:t>
            </a:r>
          </a:p>
        </p:txBody>
      </p:sp>
      <p:sp>
        <p:nvSpPr>
          <p:cNvPr id="24" name="Rounded Rectangle 23"/>
          <p:cNvSpPr/>
          <p:nvPr/>
        </p:nvSpPr>
        <p:spPr>
          <a:xfrm>
            <a:off x="4398264" y="1115568"/>
            <a:ext cx="256032" cy="256032"/>
          </a:xfrm>
          <a:prstGeom prst="round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98264" y="1115568"/>
            <a:ext cx="256032" cy="256032"/>
          </a:xfrm>
          <a:prstGeom prst="rect">
            <a:avLst/>
          </a:prstGeom>
          <a:noFill/>
        </p:spPr>
        <p:txBody>
          <a:bodyPr wrap="square">
            <a:spAutoFit/>
          </a:bodyPr>
          <a:lstStyle/>
          <a:p>
            <a:pPr algn="ctr"/>
            <a:r>
              <a:rPr sz="900" b="1" i="0">
                <a:solidFill>
                  <a:srgbClr val="FFFFFF"/>
                </a:solidFill>
                <a:latin typeface="Segoe UI"/>
              </a:rPr>
              <a:t>2</a:t>
            </a:r>
          </a:p>
        </p:txBody>
      </p:sp>
      <p:sp>
        <p:nvSpPr>
          <p:cNvPr id="26" name="Rounded Rectangle 25"/>
          <p:cNvSpPr/>
          <p:nvPr/>
        </p:nvSpPr>
        <p:spPr>
          <a:xfrm>
            <a:off x="4434840" y="1133856"/>
            <a:ext cx="2478024" cy="548640"/>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D48F0A"/>
                </a:solidFill>
                <a:latin typeface="Segoe UI"/>
              </a:rPr>
              <a:t>STEP</a:t>
            </a:r>
          </a:p>
          <a:p>
            <a:r>
              <a:rPr sz="1000">
                <a:solidFill>
                  <a:srgbClr val="1A1A1A"/>
                </a:solidFill>
                <a:latin typeface="Segoe UI"/>
              </a:rPr>
              <a:t>Complete Inquiry Form</a:t>
            </a:r>
          </a:p>
        </p:txBody>
      </p:sp>
      <p:sp>
        <p:nvSpPr>
          <p:cNvPr id="27" name="Rounded Rectangle 26"/>
          <p:cNvSpPr/>
          <p:nvPr/>
        </p:nvSpPr>
        <p:spPr>
          <a:xfrm>
            <a:off x="443484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Enter name, studio, email &amp; pitch details</a:t>
            </a:r>
          </a:p>
        </p:txBody>
      </p:sp>
      <p:sp>
        <p:nvSpPr>
          <p:cNvPr id="28" name="Rounded Rectangle 27"/>
          <p:cNvSpPr/>
          <p:nvPr/>
        </p:nvSpPr>
        <p:spPr>
          <a:xfrm>
            <a:off x="443484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Describe services and budget range</a:t>
            </a:r>
          </a:p>
        </p:txBody>
      </p:sp>
      <p:sp>
        <p:nvSpPr>
          <p:cNvPr id="29" name="Rounded Rectangle 28"/>
          <p:cNvSpPr/>
          <p:nvPr/>
        </p:nvSpPr>
        <p:spPr>
          <a:xfrm>
            <a:off x="7004304" y="1115568"/>
            <a:ext cx="256032" cy="256032"/>
          </a:xfrm>
          <a:prstGeom prst="round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04304" y="1115568"/>
            <a:ext cx="256032" cy="256032"/>
          </a:xfrm>
          <a:prstGeom prst="rect">
            <a:avLst/>
          </a:prstGeom>
          <a:noFill/>
        </p:spPr>
        <p:txBody>
          <a:bodyPr wrap="square">
            <a:spAutoFit/>
          </a:bodyPr>
          <a:lstStyle/>
          <a:p>
            <a:pPr algn="ctr"/>
            <a:r>
              <a:rPr sz="900" b="1" i="0">
                <a:solidFill>
                  <a:srgbClr val="FFFFFF"/>
                </a:solidFill>
                <a:latin typeface="Segoe UI"/>
              </a:rPr>
              <a:t>3</a:t>
            </a:r>
          </a:p>
        </p:txBody>
      </p:sp>
      <p:sp>
        <p:nvSpPr>
          <p:cNvPr id="31" name="Rounded Rectangle 30"/>
          <p:cNvSpPr/>
          <p:nvPr/>
        </p:nvSpPr>
        <p:spPr>
          <a:xfrm>
            <a:off x="7040880" y="1133856"/>
            <a:ext cx="2478024" cy="548640"/>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D48F0A"/>
                </a:solidFill>
                <a:latin typeface="Segoe UI"/>
              </a:rPr>
              <a:t>STEP</a:t>
            </a:r>
          </a:p>
          <a:p>
            <a:r>
              <a:rPr sz="1000">
                <a:solidFill>
                  <a:srgbClr val="1A1A1A"/>
                </a:solidFill>
                <a:latin typeface="Segoe UI"/>
              </a:rPr>
              <a:t>Submit &amp; Confirm</a:t>
            </a:r>
          </a:p>
        </p:txBody>
      </p:sp>
      <p:sp>
        <p:nvSpPr>
          <p:cNvPr id="32" name="Rounded Rectangle 31"/>
          <p:cNvSpPr/>
          <p:nvPr/>
        </p:nvSpPr>
        <p:spPr>
          <a:xfrm>
            <a:off x="704088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Submit form; receive auto-confirmation email</a:t>
            </a:r>
          </a:p>
        </p:txBody>
      </p:sp>
      <p:sp>
        <p:nvSpPr>
          <p:cNvPr id="33" name="Rounded Rectangle 32"/>
          <p:cNvSpPr/>
          <p:nvPr/>
        </p:nvSpPr>
        <p:spPr>
          <a:xfrm>
            <a:off x="704088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Inquiry logged for band review</a:t>
            </a:r>
          </a:p>
        </p:txBody>
      </p:sp>
      <p:sp>
        <p:nvSpPr>
          <p:cNvPr id="34" name="Rounded Rectangle 33"/>
          <p:cNvSpPr/>
          <p:nvPr/>
        </p:nvSpPr>
        <p:spPr>
          <a:xfrm>
            <a:off x="9610344" y="1115568"/>
            <a:ext cx="256032" cy="256032"/>
          </a:xfrm>
          <a:prstGeom prst="round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10344" y="1115568"/>
            <a:ext cx="256032" cy="256032"/>
          </a:xfrm>
          <a:prstGeom prst="rect">
            <a:avLst/>
          </a:prstGeom>
          <a:noFill/>
        </p:spPr>
        <p:txBody>
          <a:bodyPr wrap="square">
            <a:spAutoFit/>
          </a:bodyPr>
          <a:lstStyle/>
          <a:p>
            <a:pPr algn="ctr"/>
            <a:r>
              <a:rPr sz="900" b="1" i="0">
                <a:solidFill>
                  <a:srgbClr val="FFFFFF"/>
                </a:solidFill>
                <a:latin typeface="Segoe UI"/>
              </a:rPr>
              <a:t>4</a:t>
            </a:r>
          </a:p>
        </p:txBody>
      </p:sp>
      <p:sp>
        <p:nvSpPr>
          <p:cNvPr id="36" name="Rounded Rectangle 35"/>
          <p:cNvSpPr/>
          <p:nvPr/>
        </p:nvSpPr>
        <p:spPr>
          <a:xfrm>
            <a:off x="9646920" y="1133856"/>
            <a:ext cx="2478024" cy="548640"/>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wrap="square" lIns="274320" rIns="64008" bIns="27432"/>
          <a:lstStyle/>
          <a:p>
            <a:pPr algn="ctr"/>
            <a:r>
              <a:rPr sz="700" b="1">
                <a:solidFill>
                  <a:srgbClr val="D48F0A"/>
                </a:solidFill>
                <a:latin typeface="Segoe UI"/>
              </a:rPr>
              <a:t>STEP</a:t>
            </a:r>
          </a:p>
          <a:p>
            <a:r>
              <a:rPr sz="1000">
                <a:solidFill>
                  <a:srgbClr val="1A1A1A"/>
                </a:solidFill>
                <a:latin typeface="Segoe UI"/>
              </a:rPr>
              <a:t>Begin Collaboration</a:t>
            </a:r>
          </a:p>
        </p:txBody>
      </p:sp>
      <p:sp>
        <p:nvSpPr>
          <p:cNvPr id="37" name="Rounded Rectangle 36"/>
          <p:cNvSpPr/>
          <p:nvPr/>
        </p:nvSpPr>
        <p:spPr>
          <a:xfrm>
            <a:off x="9646920" y="1737360"/>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Band reviews inquiry; sees credible producer</a:t>
            </a:r>
          </a:p>
        </p:txBody>
      </p:sp>
      <p:sp>
        <p:nvSpPr>
          <p:cNvPr id="38" name="Rounded Rectangle 37"/>
          <p:cNvSpPr/>
          <p:nvPr/>
        </p:nvSpPr>
        <p:spPr>
          <a:xfrm>
            <a:off x="9646920" y="2203704"/>
            <a:ext cx="2478024" cy="420624"/>
          </a:xfrm>
          <a:prstGeom prst="roundRect">
            <a:avLst/>
          </a:prstGeom>
          <a:solidFill>
            <a:srgbClr val="F5F8FC"/>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bIns="27432"/>
          <a:lstStyle/>
          <a:p>
            <a:pPr algn="ctr"/>
            <a:r>
              <a:rPr sz="900">
                <a:solidFill>
                  <a:srgbClr val="1A1A1A"/>
                </a:solidFill>
                <a:latin typeface="Segoe UI"/>
              </a:rPr>
              <a:t>→  Band responds; recording relationship begins</a:t>
            </a:r>
          </a:p>
        </p:txBody>
      </p:sp>
      <p:sp>
        <p:nvSpPr>
          <p:cNvPr id="39" name="Rectangle 38"/>
          <p:cNvSpPr/>
          <p:nvPr/>
        </p:nvSpPr>
        <p:spPr>
          <a:xfrm>
            <a:off x="1792224" y="3986784"/>
            <a:ext cx="10332720" cy="16459"/>
          </a:xfrm>
          <a:prstGeom prst="rect">
            <a:avLst/>
          </a:prstGeom>
          <a:solidFill>
            <a:srgbClr val="D1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792224" y="4041648"/>
            <a:ext cx="10332720" cy="640080"/>
          </a:xfrm>
          <a:prstGeom prst="rect">
            <a:avLst/>
          </a:prstGeom>
          <a:solidFill>
            <a:srgbClr val="EEF2F6"/>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01952" y="4096511"/>
            <a:ext cx="10113264" cy="530352"/>
          </a:xfrm>
          <a:prstGeom prst="rect">
            <a:avLst/>
          </a:prstGeom>
          <a:noFill/>
        </p:spPr>
        <p:txBody>
          <a:bodyPr wrap="square">
            <a:spAutoFit/>
          </a:bodyPr>
          <a:lstStyle/>
          <a:p>
            <a:pPr algn="l"/>
            <a:r>
              <a:rPr sz="1000" b="0" i="0">
                <a:solidFill>
                  <a:srgbClr val="1A1A1A"/>
                </a:solidFill>
                <a:latin typeface="Segoe UI"/>
              </a:rPr>
              <a:t>Contact / inquiry form  |  Email notification system  |  Form validation  |  CMS for inquiry management</a:t>
            </a:r>
          </a:p>
        </p:txBody>
      </p:sp>
      <p:sp>
        <p:nvSpPr>
          <p:cNvPr id="42" name="Rectangle 41"/>
          <p:cNvSpPr/>
          <p:nvPr/>
        </p:nvSpPr>
        <p:spPr>
          <a:xfrm>
            <a:off x="1792224" y="4736592"/>
            <a:ext cx="10332720" cy="566928"/>
          </a:xfrm>
          <a:prstGeom prst="rect">
            <a:avLst/>
          </a:prstGeom>
          <a:solidFill>
            <a:srgbClr val="EEF2F6"/>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901952" y="4791455"/>
            <a:ext cx="10113264" cy="457200"/>
          </a:xfrm>
          <a:prstGeom prst="rect">
            <a:avLst/>
          </a:prstGeom>
          <a:noFill/>
        </p:spPr>
        <p:txBody>
          <a:bodyPr wrap="square">
            <a:spAutoFit/>
          </a:bodyPr>
          <a:lstStyle/>
          <a:p>
            <a:pPr algn="l"/>
            <a:r>
              <a:rPr sz="1000" b="0" i="0">
                <a:solidFill>
                  <a:srgbClr val="6B7280"/>
                </a:solidFill>
                <a:latin typeface="Segoe UI"/>
              </a:rPr>
              <a:t>Reliability  |  Security (form data protection)  |  Usability  |  Response time</a:t>
            </a:r>
          </a:p>
        </p:txBody>
      </p:sp>
      <p:sp>
        <p:nvSpPr>
          <p:cNvPr id="44" name="Rectangle 43"/>
          <p:cNvSpPr/>
          <p:nvPr/>
        </p:nvSpPr>
        <p:spPr>
          <a:xfrm>
            <a:off x="1792224" y="5358384"/>
            <a:ext cx="10332720" cy="640080"/>
          </a:xfrm>
          <a:prstGeom prst="rect">
            <a:avLst/>
          </a:prstGeom>
          <a:solidFill>
            <a:srgbClr val="EEF2F6"/>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901952" y="5413248"/>
            <a:ext cx="10113264" cy="530352"/>
          </a:xfrm>
          <a:prstGeom prst="rect">
            <a:avLst/>
          </a:prstGeom>
          <a:noFill/>
        </p:spPr>
        <p:txBody>
          <a:bodyPr wrap="square">
            <a:spAutoFit/>
          </a:bodyPr>
          <a:lstStyle/>
          <a:p>
            <a:pPr algn="l"/>
            <a:r>
              <a:rPr sz="1000" b="0" i="0">
                <a:solidFill>
                  <a:srgbClr val="6B7280"/>
                </a:solidFill>
                <a:latin typeface="Segoe UI"/>
              </a:rPr>
              <a:t>Producer inquiry (name, studio, email, pitch)  |  Band contact email  |  Confirmation email template  |  Inquiry log</a:t>
            </a:r>
          </a:p>
        </p:txBody>
      </p:sp>
      <p:sp>
        <p:nvSpPr>
          <p:cNvPr id="46" name="Rectangle 45"/>
          <p:cNvSpPr/>
          <p:nvPr/>
        </p:nvSpPr>
        <p:spPr>
          <a:xfrm>
            <a:off x="0" y="6812280"/>
            <a:ext cx="12188952" cy="45720"/>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4552" cy="512064"/>
          </a:xfrm>
          <a:prstGeom prst="rect">
            <a:avLst/>
          </a:prstGeom>
          <a:noFill/>
        </p:spPr>
        <p:txBody>
          <a:bodyPr wrap="square">
            <a:spAutoFit/>
          </a:bodyPr>
          <a:lstStyle/>
          <a:p>
            <a:pPr algn="l"/>
            <a:r>
              <a:rPr sz="2600" b="1" i="0">
                <a:solidFill>
                  <a:srgbClr val="1A1A1A"/>
                </a:solidFill>
                <a:latin typeface="Segoe UI"/>
              </a:rPr>
              <a:t>PRODUCT ROADMAP</a:t>
            </a:r>
          </a:p>
        </p:txBody>
      </p:sp>
      <p:sp>
        <p:nvSpPr>
          <p:cNvPr id="4" name="Rounded Rectangle 3"/>
          <p:cNvSpPr/>
          <p:nvPr/>
        </p:nvSpPr>
        <p:spPr>
          <a:xfrm>
            <a:off x="457200" y="694944"/>
            <a:ext cx="11274552" cy="310896"/>
          </a:xfrm>
          <a:prstGeom prst="roundRect">
            <a:avLst/>
          </a:prstGeom>
          <a:solidFill>
            <a:srgbClr val="EDF2F7"/>
          </a:solidFill>
          <a:ln w="9525">
            <a:solidFill>
              <a:srgbClr val="D1D9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749808"/>
            <a:ext cx="10972800" cy="237744"/>
          </a:xfrm>
          <a:prstGeom prst="rect">
            <a:avLst/>
          </a:prstGeom>
          <a:noFill/>
        </p:spPr>
        <p:txBody>
          <a:bodyPr wrap="square">
            <a:spAutoFit/>
          </a:bodyPr>
          <a:lstStyle/>
          <a:p>
            <a:pPr algn="l"/>
            <a:r>
              <a:rPr sz="1100" b="0" i="0">
                <a:solidFill>
                  <a:srgbClr val="4A90E2"/>
                </a:solidFill>
                <a:latin typeface="Segoe UI"/>
              </a:rPr>
              <a:t>Trello Board:  [Insert Trello Board URL Here]</a:t>
            </a:r>
          </a:p>
        </p:txBody>
      </p:sp>
      <p:sp>
        <p:nvSpPr>
          <p:cNvPr id="6" name="Rounded Rectangle 5"/>
          <p:cNvSpPr/>
          <p:nvPr/>
        </p:nvSpPr>
        <p:spPr>
          <a:xfrm>
            <a:off x="274320" y="1078992"/>
            <a:ext cx="3657600" cy="512064"/>
          </a:xfrm>
          <a:prstGeom prst="round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097280"/>
            <a:ext cx="3657600" cy="475488"/>
          </a:xfrm>
          <a:prstGeom prst="rect">
            <a:avLst/>
          </a:prstGeom>
          <a:noFill/>
        </p:spPr>
        <p:txBody>
          <a:bodyPr wrap="square">
            <a:spAutoFit/>
          </a:bodyPr>
          <a:lstStyle/>
          <a:p>
            <a:pPr algn="ctr"/>
            <a:r>
              <a:rPr sz="1000" b="1" i="0">
                <a:solidFill>
                  <a:srgbClr val="FFFFFF"/>
                </a:solidFill>
                <a:latin typeface="Segoe UI"/>
              </a:rPr>
              <a:t>Release 1
Core Foundation</a:t>
            </a:r>
          </a:p>
        </p:txBody>
      </p:sp>
      <p:sp>
        <p:nvSpPr>
          <p:cNvPr id="8" name="Rounded Rectangle 7"/>
          <p:cNvSpPr/>
          <p:nvPr/>
        </p:nvSpPr>
        <p:spPr>
          <a:xfrm>
            <a:off x="274320" y="1664208"/>
            <a:ext cx="3657600" cy="566928"/>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737360"/>
            <a:ext cx="3474720" cy="457200"/>
          </a:xfrm>
          <a:prstGeom prst="rect">
            <a:avLst/>
          </a:prstGeom>
          <a:noFill/>
        </p:spPr>
        <p:txBody>
          <a:bodyPr wrap="square">
            <a:spAutoFit/>
          </a:bodyPr>
          <a:lstStyle/>
          <a:p>
            <a:pPr algn="l"/>
            <a:r>
              <a:rPr sz="1000" b="0" i="0">
                <a:solidFill>
                  <a:srgbClr val="1A1A1A"/>
                </a:solidFill>
                <a:latin typeface="Segoe UI"/>
              </a:rPr>
              <a:t>→  Display band biography &amp; story</a:t>
            </a:r>
          </a:p>
        </p:txBody>
      </p:sp>
      <p:sp>
        <p:nvSpPr>
          <p:cNvPr id="10" name="Rounded Rectangle 9"/>
          <p:cNvSpPr/>
          <p:nvPr/>
        </p:nvSpPr>
        <p:spPr>
          <a:xfrm>
            <a:off x="274320" y="2286000"/>
            <a:ext cx="3657600" cy="566928"/>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359152"/>
            <a:ext cx="3474720" cy="457200"/>
          </a:xfrm>
          <a:prstGeom prst="rect">
            <a:avLst/>
          </a:prstGeom>
          <a:noFill/>
        </p:spPr>
        <p:txBody>
          <a:bodyPr wrap="square">
            <a:spAutoFit/>
          </a:bodyPr>
          <a:lstStyle/>
          <a:p>
            <a:pPr algn="l"/>
            <a:r>
              <a:rPr sz="1000" b="0" i="0">
                <a:solidFill>
                  <a:srgbClr val="1A1A1A"/>
                </a:solidFill>
                <a:latin typeface="Segoe UI"/>
              </a:rPr>
              <a:t>→  Embed Spotify music player</a:t>
            </a:r>
          </a:p>
        </p:txBody>
      </p:sp>
      <p:sp>
        <p:nvSpPr>
          <p:cNvPr id="12" name="Rounded Rectangle 11"/>
          <p:cNvSpPr/>
          <p:nvPr/>
        </p:nvSpPr>
        <p:spPr>
          <a:xfrm>
            <a:off x="274320" y="2907792"/>
            <a:ext cx="3657600" cy="566928"/>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980944"/>
            <a:ext cx="3474720" cy="457200"/>
          </a:xfrm>
          <a:prstGeom prst="rect">
            <a:avLst/>
          </a:prstGeom>
          <a:noFill/>
        </p:spPr>
        <p:txBody>
          <a:bodyPr wrap="square">
            <a:spAutoFit/>
          </a:bodyPr>
          <a:lstStyle/>
          <a:p>
            <a:pPr algn="l"/>
            <a:r>
              <a:rPr sz="1000" b="0" i="0">
                <a:solidFill>
                  <a:srgbClr val="1A1A1A"/>
                </a:solidFill>
                <a:latin typeface="Segoe UI"/>
              </a:rPr>
              <a:t>→  Link Instagram feed in footer</a:t>
            </a:r>
          </a:p>
        </p:txBody>
      </p:sp>
      <p:sp>
        <p:nvSpPr>
          <p:cNvPr id="14" name="Rounded Rectangle 13"/>
          <p:cNvSpPr/>
          <p:nvPr/>
        </p:nvSpPr>
        <p:spPr>
          <a:xfrm>
            <a:off x="274320" y="3529584"/>
            <a:ext cx="3657600" cy="566928"/>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602736"/>
            <a:ext cx="3474720" cy="457200"/>
          </a:xfrm>
          <a:prstGeom prst="rect">
            <a:avLst/>
          </a:prstGeom>
          <a:noFill/>
        </p:spPr>
        <p:txBody>
          <a:bodyPr wrap="square">
            <a:spAutoFit/>
          </a:bodyPr>
          <a:lstStyle/>
          <a:p>
            <a:pPr algn="l"/>
            <a:r>
              <a:rPr sz="1000" b="0" i="0">
                <a:solidFill>
                  <a:srgbClr val="1A1A1A"/>
                </a:solidFill>
                <a:latin typeface="Segoe UI"/>
              </a:rPr>
              <a:t>→  Submit booking / contact form</a:t>
            </a:r>
          </a:p>
        </p:txBody>
      </p:sp>
      <p:sp>
        <p:nvSpPr>
          <p:cNvPr id="16" name="Rounded Rectangle 15"/>
          <p:cNvSpPr/>
          <p:nvPr/>
        </p:nvSpPr>
        <p:spPr>
          <a:xfrm>
            <a:off x="274320" y="4151376"/>
            <a:ext cx="3657600" cy="566928"/>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4224528"/>
            <a:ext cx="3474720" cy="457200"/>
          </a:xfrm>
          <a:prstGeom prst="rect">
            <a:avLst/>
          </a:prstGeom>
          <a:noFill/>
        </p:spPr>
        <p:txBody>
          <a:bodyPr wrap="square">
            <a:spAutoFit/>
          </a:bodyPr>
          <a:lstStyle/>
          <a:p>
            <a:pPr algn="l"/>
            <a:r>
              <a:rPr sz="1000" b="0" i="0">
                <a:solidFill>
                  <a:srgbClr val="1A1A1A"/>
                </a:solidFill>
                <a:latin typeface="Segoe UI"/>
              </a:rPr>
              <a:t>→  View upcoming shows listing</a:t>
            </a:r>
          </a:p>
        </p:txBody>
      </p:sp>
      <p:sp>
        <p:nvSpPr>
          <p:cNvPr id="18" name="Rounded Rectangle 17"/>
          <p:cNvSpPr/>
          <p:nvPr/>
        </p:nvSpPr>
        <p:spPr>
          <a:xfrm>
            <a:off x="274320" y="4773168"/>
            <a:ext cx="3657600" cy="566928"/>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846320"/>
            <a:ext cx="3474720" cy="457200"/>
          </a:xfrm>
          <a:prstGeom prst="rect">
            <a:avLst/>
          </a:prstGeom>
          <a:noFill/>
        </p:spPr>
        <p:txBody>
          <a:bodyPr wrap="square">
            <a:spAutoFit/>
          </a:bodyPr>
          <a:lstStyle/>
          <a:p>
            <a:pPr algn="l"/>
            <a:r>
              <a:rPr sz="1000" b="0" i="0">
                <a:solidFill>
                  <a:srgbClr val="1A1A1A"/>
                </a:solidFill>
                <a:latin typeface="Segoe UI"/>
              </a:rPr>
              <a:t>→  Sign up for email notifications</a:t>
            </a:r>
          </a:p>
        </p:txBody>
      </p:sp>
      <p:sp>
        <p:nvSpPr>
          <p:cNvPr id="20" name="Rounded Rectangle 19"/>
          <p:cNvSpPr/>
          <p:nvPr/>
        </p:nvSpPr>
        <p:spPr>
          <a:xfrm>
            <a:off x="274320" y="5394960"/>
            <a:ext cx="3657600" cy="566928"/>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5468112"/>
            <a:ext cx="3474720" cy="457200"/>
          </a:xfrm>
          <a:prstGeom prst="rect">
            <a:avLst/>
          </a:prstGeom>
          <a:noFill/>
        </p:spPr>
        <p:txBody>
          <a:bodyPr wrap="square">
            <a:spAutoFit/>
          </a:bodyPr>
          <a:lstStyle/>
          <a:p>
            <a:pPr algn="l"/>
            <a:r>
              <a:rPr sz="1000" b="0" i="0">
                <a:solidFill>
                  <a:srgbClr val="1A1A1A"/>
                </a:solidFill>
                <a:latin typeface="Segoe UI"/>
              </a:rPr>
              <a:t>→  Display branding &amp; artwork on Homepage</a:t>
            </a:r>
          </a:p>
        </p:txBody>
      </p:sp>
      <p:sp>
        <p:nvSpPr>
          <p:cNvPr id="22" name="Rounded Rectangle 21"/>
          <p:cNvSpPr/>
          <p:nvPr/>
        </p:nvSpPr>
        <p:spPr>
          <a:xfrm>
            <a:off x="4251960" y="1078992"/>
            <a:ext cx="3657600" cy="512064"/>
          </a:xfrm>
          <a:prstGeom prst="round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51960" y="1097280"/>
            <a:ext cx="3657600" cy="475488"/>
          </a:xfrm>
          <a:prstGeom prst="rect">
            <a:avLst/>
          </a:prstGeom>
          <a:noFill/>
        </p:spPr>
        <p:txBody>
          <a:bodyPr wrap="square">
            <a:spAutoFit/>
          </a:bodyPr>
          <a:lstStyle/>
          <a:p>
            <a:pPr algn="ctr"/>
            <a:r>
              <a:rPr sz="1000" b="1" i="0">
                <a:solidFill>
                  <a:srgbClr val="FFFFFF"/>
                </a:solidFill>
                <a:latin typeface="Segoe UI"/>
              </a:rPr>
              <a:t>Release 2
Fan Engagement</a:t>
            </a:r>
          </a:p>
        </p:txBody>
      </p:sp>
      <p:sp>
        <p:nvSpPr>
          <p:cNvPr id="24" name="Rounded Rectangle 23"/>
          <p:cNvSpPr/>
          <p:nvPr/>
        </p:nvSpPr>
        <p:spPr>
          <a:xfrm>
            <a:off x="4251960" y="1664208"/>
            <a:ext cx="3657600" cy="566928"/>
          </a:xfrm>
          <a:prstGeom prst="roundRect">
            <a:avLst/>
          </a:prstGeom>
          <a:solidFill>
            <a:srgbClr val="EDF2F7"/>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1737360"/>
            <a:ext cx="3474720" cy="457200"/>
          </a:xfrm>
          <a:prstGeom prst="rect">
            <a:avLst/>
          </a:prstGeom>
          <a:noFill/>
        </p:spPr>
        <p:txBody>
          <a:bodyPr wrap="square">
            <a:spAutoFit/>
          </a:bodyPr>
          <a:lstStyle/>
          <a:p>
            <a:pPr algn="l"/>
            <a:r>
              <a:rPr sz="1000" b="0" i="0">
                <a:solidFill>
                  <a:srgbClr val="1A1A1A"/>
                </a:solidFill>
                <a:latin typeface="Segoe UI"/>
              </a:rPr>
              <a:t>→  Purchase / reserve show tickets on-site</a:t>
            </a:r>
          </a:p>
        </p:txBody>
      </p:sp>
      <p:sp>
        <p:nvSpPr>
          <p:cNvPr id="26" name="Rounded Rectangle 25"/>
          <p:cNvSpPr/>
          <p:nvPr/>
        </p:nvSpPr>
        <p:spPr>
          <a:xfrm>
            <a:off x="4251960" y="2286000"/>
            <a:ext cx="3657600" cy="566928"/>
          </a:xfrm>
          <a:prstGeom prst="roundRect">
            <a:avLst/>
          </a:prstGeom>
          <a:solidFill>
            <a:srgbClr val="EDF2F7"/>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2359152"/>
            <a:ext cx="3474720" cy="457200"/>
          </a:xfrm>
          <a:prstGeom prst="rect">
            <a:avLst/>
          </a:prstGeom>
          <a:noFill/>
        </p:spPr>
        <p:txBody>
          <a:bodyPr wrap="square">
            <a:spAutoFit/>
          </a:bodyPr>
          <a:lstStyle/>
          <a:p>
            <a:pPr algn="l"/>
            <a:r>
              <a:rPr sz="1000" b="0" i="0">
                <a:solidFill>
                  <a:srgbClr val="1A1A1A"/>
                </a:solidFill>
                <a:latin typeface="Segoe UI"/>
              </a:rPr>
              <a:t>→  Read blog posts &amp; band updates</a:t>
            </a:r>
          </a:p>
        </p:txBody>
      </p:sp>
      <p:sp>
        <p:nvSpPr>
          <p:cNvPr id="28" name="Rounded Rectangle 27"/>
          <p:cNvSpPr/>
          <p:nvPr/>
        </p:nvSpPr>
        <p:spPr>
          <a:xfrm>
            <a:off x="4251960" y="2907792"/>
            <a:ext cx="3657600" cy="566928"/>
          </a:xfrm>
          <a:prstGeom prst="roundRect">
            <a:avLst/>
          </a:prstGeom>
          <a:solidFill>
            <a:srgbClr val="EDF2F7"/>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43400" y="2980944"/>
            <a:ext cx="3474720" cy="457200"/>
          </a:xfrm>
          <a:prstGeom prst="rect">
            <a:avLst/>
          </a:prstGeom>
          <a:noFill/>
        </p:spPr>
        <p:txBody>
          <a:bodyPr wrap="square">
            <a:spAutoFit/>
          </a:bodyPr>
          <a:lstStyle/>
          <a:p>
            <a:pPr algn="l"/>
            <a:r>
              <a:rPr sz="1000" b="0" i="0">
                <a:solidFill>
                  <a:srgbClr val="1A1A1A"/>
                </a:solidFill>
                <a:latin typeface="Segoe UI"/>
              </a:rPr>
              <a:t>→  Browse live show photo gallery</a:t>
            </a:r>
          </a:p>
        </p:txBody>
      </p:sp>
      <p:sp>
        <p:nvSpPr>
          <p:cNvPr id="30" name="Rounded Rectangle 29"/>
          <p:cNvSpPr/>
          <p:nvPr/>
        </p:nvSpPr>
        <p:spPr>
          <a:xfrm>
            <a:off x="4251960" y="3529584"/>
            <a:ext cx="3657600" cy="566928"/>
          </a:xfrm>
          <a:prstGeom prst="roundRect">
            <a:avLst/>
          </a:prstGeom>
          <a:solidFill>
            <a:srgbClr val="EDF2F7"/>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3400" y="3602736"/>
            <a:ext cx="3474720" cy="457200"/>
          </a:xfrm>
          <a:prstGeom prst="rect">
            <a:avLst/>
          </a:prstGeom>
          <a:noFill/>
        </p:spPr>
        <p:txBody>
          <a:bodyPr wrap="square">
            <a:spAutoFit/>
          </a:bodyPr>
          <a:lstStyle/>
          <a:p>
            <a:pPr algn="l"/>
            <a:r>
              <a:rPr sz="1000" b="0" i="0">
                <a:solidFill>
                  <a:srgbClr val="1A1A1A"/>
                </a:solidFill>
                <a:latin typeface="Segoe UI"/>
              </a:rPr>
              <a:t>→  Auto-confirmation emails after submission</a:t>
            </a:r>
          </a:p>
        </p:txBody>
      </p:sp>
      <p:sp>
        <p:nvSpPr>
          <p:cNvPr id="32" name="Rounded Rectangle 31"/>
          <p:cNvSpPr/>
          <p:nvPr/>
        </p:nvSpPr>
        <p:spPr>
          <a:xfrm>
            <a:off x="4251960" y="4151376"/>
            <a:ext cx="3657600" cy="566928"/>
          </a:xfrm>
          <a:prstGeom prst="roundRect">
            <a:avLst/>
          </a:prstGeom>
          <a:solidFill>
            <a:srgbClr val="EDF2F7"/>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43400" y="4224528"/>
            <a:ext cx="3474720" cy="457200"/>
          </a:xfrm>
          <a:prstGeom prst="rect">
            <a:avLst/>
          </a:prstGeom>
          <a:noFill/>
        </p:spPr>
        <p:txBody>
          <a:bodyPr wrap="square">
            <a:spAutoFit/>
          </a:bodyPr>
          <a:lstStyle/>
          <a:p>
            <a:pPr algn="l"/>
            <a:r>
              <a:rPr sz="1000" b="0" i="0">
                <a:solidFill>
                  <a:srgbClr val="1A1A1A"/>
                </a:solidFill>
                <a:latin typeface="Segoe UI"/>
              </a:rPr>
              <a:t>→  Share pages to social platforms</a:t>
            </a:r>
          </a:p>
        </p:txBody>
      </p:sp>
      <p:sp>
        <p:nvSpPr>
          <p:cNvPr id="34" name="Rounded Rectangle 33"/>
          <p:cNvSpPr/>
          <p:nvPr/>
        </p:nvSpPr>
        <p:spPr>
          <a:xfrm>
            <a:off x="4251960" y="4773168"/>
            <a:ext cx="3657600" cy="566928"/>
          </a:xfrm>
          <a:prstGeom prst="roundRect">
            <a:avLst/>
          </a:prstGeom>
          <a:solidFill>
            <a:srgbClr val="EDF2F7"/>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400" y="4846320"/>
            <a:ext cx="3474720" cy="457200"/>
          </a:xfrm>
          <a:prstGeom prst="rect">
            <a:avLst/>
          </a:prstGeom>
          <a:noFill/>
        </p:spPr>
        <p:txBody>
          <a:bodyPr wrap="square">
            <a:spAutoFit/>
          </a:bodyPr>
          <a:lstStyle/>
          <a:p>
            <a:pPr algn="l"/>
            <a:r>
              <a:rPr sz="1000" b="0" i="0">
                <a:solidFill>
                  <a:srgbClr val="1A1A1A"/>
                </a:solidFill>
                <a:latin typeface="Segoe UI"/>
              </a:rPr>
              <a:t>→  Welcome email with Spotify link on signup</a:t>
            </a:r>
          </a:p>
        </p:txBody>
      </p:sp>
      <p:sp>
        <p:nvSpPr>
          <p:cNvPr id="36" name="Rounded Rectangle 35"/>
          <p:cNvSpPr/>
          <p:nvPr/>
        </p:nvSpPr>
        <p:spPr>
          <a:xfrm>
            <a:off x="8229600" y="1078992"/>
            <a:ext cx="3657600" cy="512064"/>
          </a:xfrm>
          <a:prstGeom prst="round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0" y="1097280"/>
            <a:ext cx="3657600" cy="475488"/>
          </a:xfrm>
          <a:prstGeom prst="rect">
            <a:avLst/>
          </a:prstGeom>
          <a:noFill/>
        </p:spPr>
        <p:txBody>
          <a:bodyPr wrap="square">
            <a:spAutoFit/>
          </a:bodyPr>
          <a:lstStyle/>
          <a:p>
            <a:pPr algn="ctr"/>
            <a:r>
              <a:rPr sz="1000" b="1" i="0">
                <a:solidFill>
                  <a:srgbClr val="FFFFFF"/>
                </a:solidFill>
                <a:latin typeface="Segoe UI"/>
              </a:rPr>
              <a:t>Release 3
Community &amp; Growth</a:t>
            </a:r>
          </a:p>
        </p:txBody>
      </p:sp>
      <p:sp>
        <p:nvSpPr>
          <p:cNvPr id="38" name="Rounded Rectangle 37"/>
          <p:cNvSpPr/>
          <p:nvPr/>
        </p:nvSpPr>
        <p:spPr>
          <a:xfrm>
            <a:off x="8229600" y="1664208"/>
            <a:ext cx="3657600" cy="566928"/>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21040" y="1737360"/>
            <a:ext cx="3474720" cy="457200"/>
          </a:xfrm>
          <a:prstGeom prst="rect">
            <a:avLst/>
          </a:prstGeom>
          <a:noFill/>
        </p:spPr>
        <p:txBody>
          <a:bodyPr wrap="square">
            <a:spAutoFit/>
          </a:bodyPr>
          <a:lstStyle/>
          <a:p>
            <a:pPr algn="l"/>
            <a:r>
              <a:rPr sz="1000" b="0" i="0">
                <a:solidFill>
                  <a:srgbClr val="1A1A1A"/>
                </a:solidFill>
                <a:latin typeface="Segoe UI"/>
              </a:rPr>
              <a:t>→  Contribute fan / press review to blog</a:t>
            </a:r>
          </a:p>
        </p:txBody>
      </p:sp>
      <p:sp>
        <p:nvSpPr>
          <p:cNvPr id="40" name="Rounded Rectangle 39"/>
          <p:cNvSpPr/>
          <p:nvPr/>
        </p:nvSpPr>
        <p:spPr>
          <a:xfrm>
            <a:off x="8229600" y="2286000"/>
            <a:ext cx="3657600" cy="566928"/>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0" y="2359152"/>
            <a:ext cx="3474720" cy="457200"/>
          </a:xfrm>
          <a:prstGeom prst="rect">
            <a:avLst/>
          </a:prstGeom>
          <a:noFill/>
        </p:spPr>
        <p:txBody>
          <a:bodyPr wrap="square">
            <a:spAutoFit/>
          </a:bodyPr>
          <a:lstStyle/>
          <a:p>
            <a:pPr algn="l"/>
            <a:r>
              <a:rPr sz="1000" b="0" i="0">
                <a:solidFill>
                  <a:srgbClr val="1A1A1A"/>
                </a:solidFill>
                <a:latin typeface="Segoe UI"/>
              </a:rPr>
              <a:t>→  Watch embedded video (live footage)</a:t>
            </a:r>
          </a:p>
        </p:txBody>
      </p:sp>
      <p:sp>
        <p:nvSpPr>
          <p:cNvPr id="42" name="Rounded Rectangle 41"/>
          <p:cNvSpPr/>
          <p:nvPr/>
        </p:nvSpPr>
        <p:spPr>
          <a:xfrm>
            <a:off x="8229600" y="2907792"/>
            <a:ext cx="3657600" cy="566928"/>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21040" y="2980944"/>
            <a:ext cx="3474720" cy="457200"/>
          </a:xfrm>
          <a:prstGeom prst="rect">
            <a:avLst/>
          </a:prstGeom>
          <a:noFill/>
        </p:spPr>
        <p:txBody>
          <a:bodyPr wrap="square">
            <a:spAutoFit/>
          </a:bodyPr>
          <a:lstStyle/>
          <a:p>
            <a:pPr algn="l"/>
            <a:r>
              <a:rPr sz="1000" b="0" i="0">
                <a:solidFill>
                  <a:srgbClr val="1A1A1A"/>
                </a:solidFill>
                <a:latin typeface="Segoe UI"/>
              </a:rPr>
              <a:t>→  Download band press kit / EPK</a:t>
            </a:r>
          </a:p>
        </p:txBody>
      </p:sp>
      <p:sp>
        <p:nvSpPr>
          <p:cNvPr id="44" name="Rounded Rectangle 43"/>
          <p:cNvSpPr/>
          <p:nvPr/>
        </p:nvSpPr>
        <p:spPr>
          <a:xfrm>
            <a:off x="8229600" y="3529584"/>
            <a:ext cx="3657600" cy="566928"/>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21040" y="3602736"/>
            <a:ext cx="3474720" cy="457200"/>
          </a:xfrm>
          <a:prstGeom prst="rect">
            <a:avLst/>
          </a:prstGeom>
          <a:noFill/>
        </p:spPr>
        <p:txBody>
          <a:bodyPr wrap="square">
            <a:spAutoFit/>
          </a:bodyPr>
          <a:lstStyle/>
          <a:p>
            <a:pPr algn="l"/>
            <a:r>
              <a:rPr sz="1000" b="0" i="0">
                <a:solidFill>
                  <a:srgbClr val="1A1A1A"/>
                </a:solidFill>
                <a:latin typeface="Segoe UI"/>
              </a:rPr>
              <a:t>→  Browse limited merchandise store</a:t>
            </a:r>
          </a:p>
        </p:txBody>
      </p:sp>
      <p:sp>
        <p:nvSpPr>
          <p:cNvPr id="46" name="Rounded Rectangle 45"/>
          <p:cNvSpPr/>
          <p:nvPr/>
        </p:nvSpPr>
        <p:spPr>
          <a:xfrm>
            <a:off x="8229600" y="4151376"/>
            <a:ext cx="3657600" cy="566928"/>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21040" y="4224528"/>
            <a:ext cx="3474720" cy="457200"/>
          </a:xfrm>
          <a:prstGeom prst="rect">
            <a:avLst/>
          </a:prstGeom>
          <a:noFill/>
        </p:spPr>
        <p:txBody>
          <a:bodyPr wrap="square">
            <a:spAutoFit/>
          </a:bodyPr>
          <a:lstStyle/>
          <a:p>
            <a:pPr algn="l"/>
            <a:r>
              <a:rPr sz="1000" b="0" i="0">
                <a:solidFill>
                  <a:srgbClr val="1A1A1A"/>
                </a:solidFill>
                <a:latin typeface="Segoe UI"/>
              </a:rPr>
              <a:t>→  View individual band member profiles</a:t>
            </a:r>
          </a:p>
        </p:txBody>
      </p:sp>
      <p:sp>
        <p:nvSpPr>
          <p:cNvPr id="48" name="Rounded Rectangle 47"/>
          <p:cNvSpPr/>
          <p:nvPr/>
        </p:nvSpPr>
        <p:spPr>
          <a:xfrm>
            <a:off x="8229600" y="4773168"/>
            <a:ext cx="3657600" cy="566928"/>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21040" y="4846320"/>
            <a:ext cx="3474720" cy="457200"/>
          </a:xfrm>
          <a:prstGeom prst="rect">
            <a:avLst/>
          </a:prstGeom>
          <a:noFill/>
        </p:spPr>
        <p:txBody>
          <a:bodyPr wrap="square">
            <a:spAutoFit/>
          </a:bodyPr>
          <a:lstStyle/>
          <a:p>
            <a:pPr algn="l"/>
            <a:r>
              <a:rPr sz="1000" b="0" i="0">
                <a:solidFill>
                  <a:srgbClr val="1A1A1A"/>
                </a:solidFill>
                <a:latin typeface="Segoe UI"/>
              </a:rPr>
              <a:t>→  Comment on blog posts</a:t>
            </a:r>
          </a:p>
        </p:txBody>
      </p:sp>
      <p:sp>
        <p:nvSpPr>
          <p:cNvPr id="50" name="Rectangle 49"/>
          <p:cNvSpPr/>
          <p:nvPr/>
        </p:nvSpPr>
        <p:spPr>
          <a:xfrm>
            <a:off x="0" y="6812280"/>
            <a:ext cx="12188952" cy="4572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Rectangle 1"/>
          <p:cNvSpPr/>
          <p:nvPr/>
        </p:nvSpPr>
        <p:spPr>
          <a:xfrm>
            <a:off x="0" y="0"/>
            <a:ext cx="12188952" cy="4572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3657600" cy="274320"/>
          </a:xfrm>
          <a:prstGeom prst="rect">
            <a:avLst/>
          </a:prstGeom>
          <a:noFill/>
        </p:spPr>
        <p:txBody>
          <a:bodyPr wrap="square">
            <a:spAutoFit/>
          </a:bodyPr>
          <a:lstStyle/>
          <a:p>
            <a:pPr algn="l"/>
            <a:r>
              <a:rPr sz="900" b="1" i="0">
                <a:solidFill>
                  <a:srgbClr val="6B7280"/>
                </a:solidFill>
                <a:latin typeface="Segoe UI"/>
              </a:rPr>
              <a:t>CONTENT MAP</a:t>
            </a:r>
          </a:p>
        </p:txBody>
      </p:sp>
      <p:sp>
        <p:nvSpPr>
          <p:cNvPr id="4" name="Rectangle 3"/>
          <p:cNvSpPr/>
          <p:nvPr/>
        </p:nvSpPr>
        <p:spPr>
          <a:xfrm>
            <a:off x="457200" y="438912"/>
            <a:ext cx="11274552" cy="16459"/>
          </a:xfrm>
          <a:prstGeom prst="rect">
            <a:avLst/>
          </a:prstGeom>
          <a:solidFill>
            <a:srgbClr val="D1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93776"/>
            <a:ext cx="11274552" cy="347472"/>
          </a:xfrm>
          <a:prstGeom prst="rect">
            <a:avLst/>
          </a:prstGeom>
          <a:noFill/>
        </p:spPr>
        <p:txBody>
          <a:bodyPr wrap="square">
            <a:spAutoFit/>
          </a:bodyPr>
          <a:lstStyle/>
          <a:p>
            <a:pPr algn="l"/>
            <a:r>
              <a:rPr sz="1500" b="1" i="0">
                <a:solidFill>
                  <a:srgbClr val="1A1A1A"/>
                </a:solidFill>
                <a:latin typeface="Segoe UI"/>
              </a:rPr>
              <a:t>Birch Wilson Digital Experience  ·  Data &amp; Content Categories by Site Section</a:t>
            </a:r>
          </a:p>
        </p:txBody>
      </p:sp>
      <p:sp>
        <p:nvSpPr>
          <p:cNvPr id="6" name="Rounded Rectangle 5"/>
          <p:cNvSpPr/>
          <p:nvPr/>
        </p:nvSpPr>
        <p:spPr>
          <a:xfrm>
            <a:off x="228600" y="3236976"/>
            <a:ext cx="1417320" cy="457200"/>
          </a:xfrm>
          <a:prstGeom prst="roundRect">
            <a:avLst/>
          </a:prstGeom>
          <a:solidFill>
            <a:srgbClr val="1A1A1A"/>
          </a:solidFill>
          <a:ln w="12700">
            <a:solidFill>
              <a:srgbClr val="1A1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 y="3236976"/>
            <a:ext cx="1417320" cy="457200"/>
          </a:xfrm>
          <a:prstGeom prst="rect">
            <a:avLst/>
          </a:prstGeom>
          <a:noFill/>
        </p:spPr>
        <p:txBody>
          <a:bodyPr wrap="square">
            <a:spAutoFit/>
          </a:bodyPr>
          <a:lstStyle/>
          <a:p>
            <a:pPr algn="ctr"/>
            <a:r>
              <a:rPr sz="1000" b="1" i="0">
                <a:solidFill>
                  <a:srgbClr val="FFFFFF"/>
                </a:solidFill>
                <a:latin typeface="Segoe UI"/>
              </a:rPr>
              <a:t>BIRCH
WILSON</a:t>
            </a:r>
          </a:p>
        </p:txBody>
      </p:sp>
      <p:sp>
        <p:nvSpPr>
          <p:cNvPr id="8" name="Rectangle 7"/>
          <p:cNvSpPr/>
          <p:nvPr/>
        </p:nvSpPr>
        <p:spPr>
          <a:xfrm>
            <a:off x="1881835" y="1051560"/>
            <a:ext cx="20116" cy="4841747"/>
          </a:xfrm>
          <a:prstGeom prst="rect">
            <a:avLst/>
          </a:prstGeom>
          <a:solidFill>
            <a:srgbClr val="B8C5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645920" y="3454603"/>
            <a:ext cx="260603" cy="20116"/>
          </a:xfrm>
          <a:prstGeom prst="rect">
            <a:avLst/>
          </a:prstGeom>
          <a:solidFill>
            <a:srgbClr val="B8C5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92807" y="1040587"/>
            <a:ext cx="86868" cy="20116"/>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965960" y="859536"/>
            <a:ext cx="1463040" cy="384048"/>
          </a:xfrm>
          <a:prstGeom prst="roundRect">
            <a:avLst/>
          </a:prstGeom>
          <a:solidFill>
            <a:srgbClr val="5FA8A0"/>
          </a:solidFill>
          <a:ln w="12700">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65960" y="859536"/>
            <a:ext cx="1463040" cy="384048"/>
          </a:xfrm>
          <a:prstGeom prst="rect">
            <a:avLst/>
          </a:prstGeom>
          <a:noFill/>
        </p:spPr>
        <p:txBody>
          <a:bodyPr wrap="square">
            <a:spAutoFit/>
          </a:bodyPr>
          <a:lstStyle/>
          <a:p>
            <a:pPr algn="ctr"/>
            <a:r>
              <a:rPr sz="900" b="1" i="0">
                <a:solidFill>
                  <a:srgbClr val="FFFFFF"/>
                </a:solidFill>
                <a:latin typeface="Segoe UI"/>
              </a:rPr>
              <a:t>Artist</a:t>
            </a:r>
          </a:p>
        </p:txBody>
      </p:sp>
      <p:sp>
        <p:nvSpPr>
          <p:cNvPr id="13" name="Rectangle 12"/>
          <p:cNvSpPr/>
          <p:nvPr/>
        </p:nvSpPr>
        <p:spPr>
          <a:xfrm>
            <a:off x="3619195" y="667511"/>
            <a:ext cx="20116" cy="781812"/>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29000" y="1040587"/>
            <a:ext cx="214884" cy="20116"/>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30168" y="656539"/>
            <a:ext cx="86867" cy="20116"/>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703320" y="502919"/>
            <a:ext cx="2194560" cy="329184"/>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94759" y="539495"/>
            <a:ext cx="2011679" cy="256031"/>
          </a:xfrm>
          <a:prstGeom prst="rect">
            <a:avLst/>
          </a:prstGeom>
          <a:noFill/>
        </p:spPr>
        <p:txBody>
          <a:bodyPr wrap="square">
            <a:spAutoFit/>
          </a:bodyPr>
          <a:lstStyle/>
          <a:p>
            <a:pPr algn="l"/>
            <a:r>
              <a:rPr sz="800" b="0" i="0">
                <a:solidFill>
                  <a:srgbClr val="1A1A1A"/>
                </a:solidFill>
                <a:latin typeface="Segoe UI"/>
              </a:rPr>
              <a:t>Bio &amp; Origin Story</a:t>
            </a:r>
          </a:p>
        </p:txBody>
      </p:sp>
      <p:sp>
        <p:nvSpPr>
          <p:cNvPr id="18" name="Rectangle 17"/>
          <p:cNvSpPr/>
          <p:nvPr/>
        </p:nvSpPr>
        <p:spPr>
          <a:xfrm>
            <a:off x="3630168" y="1040587"/>
            <a:ext cx="86867" cy="20116"/>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703320" y="886967"/>
            <a:ext cx="2194560" cy="329184"/>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94759" y="923543"/>
            <a:ext cx="2011679" cy="256031"/>
          </a:xfrm>
          <a:prstGeom prst="rect">
            <a:avLst/>
          </a:prstGeom>
          <a:noFill/>
        </p:spPr>
        <p:txBody>
          <a:bodyPr wrap="square">
            <a:spAutoFit/>
          </a:bodyPr>
          <a:lstStyle/>
          <a:p>
            <a:pPr algn="l"/>
            <a:r>
              <a:rPr sz="800" b="0" i="0">
                <a:solidFill>
                  <a:srgbClr val="1A1A1A"/>
                </a:solidFill>
                <a:latin typeface="Segoe UI"/>
              </a:rPr>
              <a:t>Genre &amp; Influences</a:t>
            </a:r>
          </a:p>
        </p:txBody>
      </p:sp>
      <p:sp>
        <p:nvSpPr>
          <p:cNvPr id="21" name="Rectangle 20"/>
          <p:cNvSpPr/>
          <p:nvPr/>
        </p:nvSpPr>
        <p:spPr>
          <a:xfrm>
            <a:off x="3630168" y="1424635"/>
            <a:ext cx="86867" cy="20116"/>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703320" y="1271016"/>
            <a:ext cx="2194560" cy="329184"/>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94759" y="1307592"/>
            <a:ext cx="2011679" cy="256031"/>
          </a:xfrm>
          <a:prstGeom prst="rect">
            <a:avLst/>
          </a:prstGeom>
          <a:noFill/>
        </p:spPr>
        <p:txBody>
          <a:bodyPr wrap="square">
            <a:spAutoFit/>
          </a:bodyPr>
          <a:lstStyle/>
          <a:p>
            <a:pPr algn="l"/>
            <a:r>
              <a:rPr sz="800" b="0" i="0">
                <a:solidFill>
                  <a:srgbClr val="1A1A1A"/>
                </a:solidFill>
                <a:latin typeface="Segoe UI"/>
              </a:rPr>
              <a:t>Band Member Info</a:t>
            </a:r>
          </a:p>
        </p:txBody>
      </p:sp>
      <p:sp>
        <p:nvSpPr>
          <p:cNvPr id="24" name="Rectangle 23"/>
          <p:cNvSpPr/>
          <p:nvPr/>
        </p:nvSpPr>
        <p:spPr>
          <a:xfrm>
            <a:off x="1892807" y="2247595"/>
            <a:ext cx="86868"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965960" y="2066544"/>
            <a:ext cx="1463040" cy="384048"/>
          </a:xfrm>
          <a:prstGeom prst="roundRect">
            <a:avLst/>
          </a:prstGeom>
          <a:solidFill>
            <a:srgbClr val="4A90E2"/>
          </a:solidFill>
          <a:ln w="1270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965960" y="2066544"/>
            <a:ext cx="1463040" cy="384048"/>
          </a:xfrm>
          <a:prstGeom prst="rect">
            <a:avLst/>
          </a:prstGeom>
          <a:noFill/>
        </p:spPr>
        <p:txBody>
          <a:bodyPr wrap="square">
            <a:spAutoFit/>
          </a:bodyPr>
          <a:lstStyle/>
          <a:p>
            <a:pPr algn="ctr"/>
            <a:r>
              <a:rPr sz="900" b="1" i="0">
                <a:solidFill>
                  <a:srgbClr val="FFFFFF"/>
                </a:solidFill>
                <a:latin typeface="Segoe UI"/>
              </a:rPr>
              <a:t>Music</a:t>
            </a:r>
          </a:p>
        </p:txBody>
      </p:sp>
      <p:sp>
        <p:nvSpPr>
          <p:cNvPr id="27" name="Rectangle 26"/>
          <p:cNvSpPr/>
          <p:nvPr/>
        </p:nvSpPr>
        <p:spPr>
          <a:xfrm>
            <a:off x="3619195" y="1874520"/>
            <a:ext cx="20116" cy="781811"/>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429000" y="2247595"/>
            <a:ext cx="214884"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30168" y="1863547"/>
            <a:ext cx="86867"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703320" y="1709928"/>
            <a:ext cx="2194560" cy="329184"/>
          </a:xfrm>
          <a:prstGeom prst="roundRect">
            <a:avLst/>
          </a:prstGeom>
          <a:solidFill>
            <a:srgbClr val="EDF2F7"/>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94759" y="1746504"/>
            <a:ext cx="2011679" cy="256031"/>
          </a:xfrm>
          <a:prstGeom prst="rect">
            <a:avLst/>
          </a:prstGeom>
          <a:noFill/>
        </p:spPr>
        <p:txBody>
          <a:bodyPr wrap="square">
            <a:spAutoFit/>
          </a:bodyPr>
          <a:lstStyle/>
          <a:p>
            <a:pPr algn="l"/>
            <a:r>
              <a:rPr sz="800" b="0" i="0">
                <a:solidFill>
                  <a:srgbClr val="1A1A1A"/>
                </a:solidFill>
                <a:latin typeface="Segoe UI"/>
              </a:rPr>
              <a:t>Spotify Tracks</a:t>
            </a:r>
          </a:p>
        </p:txBody>
      </p:sp>
      <p:sp>
        <p:nvSpPr>
          <p:cNvPr id="32" name="Rectangle 31"/>
          <p:cNvSpPr/>
          <p:nvPr/>
        </p:nvSpPr>
        <p:spPr>
          <a:xfrm>
            <a:off x="6088075" y="1682496"/>
            <a:ext cx="20116" cy="397764"/>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97879" y="1863547"/>
            <a:ext cx="214884"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99048" y="1671523"/>
            <a:ext cx="86868"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172200" y="1517904"/>
            <a:ext cx="2011680" cy="329184"/>
          </a:xfrm>
          <a:prstGeom prst="roundRect">
            <a:avLst/>
          </a:prstGeom>
          <a:solidFill>
            <a:srgbClr val="F5F8FC"/>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1554480"/>
            <a:ext cx="1828800" cy="256031"/>
          </a:xfrm>
          <a:prstGeom prst="rect">
            <a:avLst/>
          </a:prstGeom>
          <a:noFill/>
        </p:spPr>
        <p:txBody>
          <a:bodyPr wrap="square">
            <a:spAutoFit/>
          </a:bodyPr>
          <a:lstStyle/>
          <a:p>
            <a:pPr algn="l"/>
            <a:r>
              <a:rPr sz="800" b="0" i="0">
                <a:solidFill>
                  <a:srgbClr val="6B7280"/>
                </a:solidFill>
                <a:latin typeface="Segoe UI"/>
              </a:rPr>
              <a:t>Song Playlist</a:t>
            </a:r>
          </a:p>
        </p:txBody>
      </p:sp>
      <p:sp>
        <p:nvSpPr>
          <p:cNvPr id="37" name="Rectangle 36"/>
          <p:cNvSpPr/>
          <p:nvPr/>
        </p:nvSpPr>
        <p:spPr>
          <a:xfrm>
            <a:off x="6099048" y="2055571"/>
            <a:ext cx="86868"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172200" y="1901952"/>
            <a:ext cx="2011680" cy="329184"/>
          </a:xfrm>
          <a:prstGeom prst="roundRect">
            <a:avLst/>
          </a:prstGeom>
          <a:solidFill>
            <a:srgbClr val="F5F8FC"/>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63640" y="1938528"/>
            <a:ext cx="1828800" cy="256031"/>
          </a:xfrm>
          <a:prstGeom prst="rect">
            <a:avLst/>
          </a:prstGeom>
          <a:noFill/>
        </p:spPr>
        <p:txBody>
          <a:bodyPr wrap="square">
            <a:spAutoFit/>
          </a:bodyPr>
          <a:lstStyle/>
          <a:p>
            <a:pPr algn="l"/>
            <a:r>
              <a:rPr sz="800" b="0" i="0">
                <a:solidFill>
                  <a:srgbClr val="6B7280"/>
                </a:solidFill>
                <a:latin typeface="Segoe UI"/>
              </a:rPr>
              <a:t>Embed Player</a:t>
            </a:r>
          </a:p>
        </p:txBody>
      </p:sp>
      <p:sp>
        <p:nvSpPr>
          <p:cNvPr id="40" name="Rectangle 39"/>
          <p:cNvSpPr/>
          <p:nvPr/>
        </p:nvSpPr>
        <p:spPr>
          <a:xfrm>
            <a:off x="3630168" y="2247595"/>
            <a:ext cx="86867"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3703320" y="2093976"/>
            <a:ext cx="2194560" cy="329184"/>
          </a:xfrm>
          <a:prstGeom prst="roundRect">
            <a:avLst/>
          </a:prstGeom>
          <a:solidFill>
            <a:srgbClr val="EDF2F7"/>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94759" y="2130552"/>
            <a:ext cx="2011679" cy="256031"/>
          </a:xfrm>
          <a:prstGeom prst="rect">
            <a:avLst/>
          </a:prstGeom>
          <a:noFill/>
        </p:spPr>
        <p:txBody>
          <a:bodyPr wrap="square">
            <a:spAutoFit/>
          </a:bodyPr>
          <a:lstStyle/>
          <a:p>
            <a:pPr algn="l"/>
            <a:r>
              <a:rPr sz="800" b="0" i="0">
                <a:solidFill>
                  <a:srgbClr val="1A1A1A"/>
                </a:solidFill>
                <a:latin typeface="Segoe UI"/>
              </a:rPr>
              <a:t>Track Metadata</a:t>
            </a:r>
          </a:p>
        </p:txBody>
      </p:sp>
      <p:sp>
        <p:nvSpPr>
          <p:cNvPr id="43" name="Rectangle 42"/>
          <p:cNvSpPr/>
          <p:nvPr/>
        </p:nvSpPr>
        <p:spPr>
          <a:xfrm>
            <a:off x="3630168" y="2631643"/>
            <a:ext cx="86867"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703320" y="2478024"/>
            <a:ext cx="2194560" cy="329184"/>
          </a:xfrm>
          <a:prstGeom prst="roundRect">
            <a:avLst/>
          </a:prstGeom>
          <a:solidFill>
            <a:srgbClr val="EDF2F7"/>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794759" y="2514600"/>
            <a:ext cx="2011679" cy="256031"/>
          </a:xfrm>
          <a:prstGeom prst="rect">
            <a:avLst/>
          </a:prstGeom>
          <a:noFill/>
        </p:spPr>
        <p:txBody>
          <a:bodyPr wrap="square">
            <a:spAutoFit/>
          </a:bodyPr>
          <a:lstStyle/>
          <a:p>
            <a:pPr algn="l"/>
            <a:r>
              <a:rPr sz="800" b="0" i="0">
                <a:solidFill>
                  <a:srgbClr val="1A1A1A"/>
                </a:solidFill>
                <a:latin typeface="Segoe UI"/>
              </a:rPr>
              <a:t>Live Footage</a:t>
            </a:r>
          </a:p>
        </p:txBody>
      </p:sp>
      <p:sp>
        <p:nvSpPr>
          <p:cNvPr id="46" name="Rectangle 45"/>
          <p:cNvSpPr/>
          <p:nvPr/>
        </p:nvSpPr>
        <p:spPr>
          <a:xfrm>
            <a:off x="1892807" y="3454603"/>
            <a:ext cx="86868" cy="20116"/>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965960" y="3273552"/>
            <a:ext cx="1463040" cy="384048"/>
          </a:xfrm>
          <a:prstGeom prst="roundRect">
            <a:avLst/>
          </a:prstGeom>
          <a:solidFill>
            <a:srgbClr val="5FA8A0"/>
          </a:solidFill>
          <a:ln w="12700">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65960" y="3273552"/>
            <a:ext cx="1463040" cy="384048"/>
          </a:xfrm>
          <a:prstGeom prst="rect">
            <a:avLst/>
          </a:prstGeom>
          <a:noFill/>
        </p:spPr>
        <p:txBody>
          <a:bodyPr wrap="square">
            <a:spAutoFit/>
          </a:bodyPr>
          <a:lstStyle/>
          <a:p>
            <a:pPr algn="ctr"/>
            <a:r>
              <a:rPr sz="900" b="1" i="0">
                <a:solidFill>
                  <a:srgbClr val="FFFFFF"/>
                </a:solidFill>
                <a:latin typeface="Segoe UI"/>
              </a:rPr>
              <a:t>Blog</a:t>
            </a:r>
          </a:p>
        </p:txBody>
      </p:sp>
      <p:sp>
        <p:nvSpPr>
          <p:cNvPr id="49" name="Rectangle 48"/>
          <p:cNvSpPr/>
          <p:nvPr/>
        </p:nvSpPr>
        <p:spPr>
          <a:xfrm>
            <a:off x="3619195" y="3081528"/>
            <a:ext cx="20116" cy="781811"/>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429000" y="3454603"/>
            <a:ext cx="214884" cy="20116"/>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630168" y="3070555"/>
            <a:ext cx="86867" cy="20116"/>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3703320" y="2916936"/>
            <a:ext cx="2194560" cy="329184"/>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794759" y="2953512"/>
            <a:ext cx="2011679" cy="256031"/>
          </a:xfrm>
          <a:prstGeom prst="rect">
            <a:avLst/>
          </a:prstGeom>
          <a:noFill/>
        </p:spPr>
        <p:txBody>
          <a:bodyPr wrap="square">
            <a:spAutoFit/>
          </a:bodyPr>
          <a:lstStyle/>
          <a:p>
            <a:pPr algn="l"/>
            <a:r>
              <a:rPr sz="800" b="0" i="0">
                <a:solidFill>
                  <a:srgbClr val="1A1A1A"/>
                </a:solidFill>
                <a:latin typeface="Segoe UI"/>
              </a:rPr>
              <a:t>Published Posts</a:t>
            </a:r>
          </a:p>
        </p:txBody>
      </p:sp>
      <p:sp>
        <p:nvSpPr>
          <p:cNvPr id="54" name="Rectangle 53"/>
          <p:cNvSpPr/>
          <p:nvPr/>
        </p:nvSpPr>
        <p:spPr>
          <a:xfrm>
            <a:off x="3630168" y="3454603"/>
            <a:ext cx="86867" cy="20116"/>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3703320" y="3300984"/>
            <a:ext cx="2194560" cy="329184"/>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794759" y="3337560"/>
            <a:ext cx="2011679" cy="256031"/>
          </a:xfrm>
          <a:prstGeom prst="rect">
            <a:avLst/>
          </a:prstGeom>
          <a:noFill/>
        </p:spPr>
        <p:txBody>
          <a:bodyPr wrap="square">
            <a:spAutoFit/>
          </a:bodyPr>
          <a:lstStyle/>
          <a:p>
            <a:pPr algn="l"/>
            <a:r>
              <a:rPr sz="800" b="0" i="0">
                <a:solidFill>
                  <a:srgbClr val="1A1A1A"/>
                </a:solidFill>
                <a:latin typeface="Segoe UI"/>
              </a:rPr>
              <a:t>Fan Contributions</a:t>
            </a:r>
          </a:p>
        </p:txBody>
      </p:sp>
      <p:sp>
        <p:nvSpPr>
          <p:cNvPr id="57" name="Rectangle 56"/>
          <p:cNvSpPr/>
          <p:nvPr/>
        </p:nvSpPr>
        <p:spPr>
          <a:xfrm>
            <a:off x="6088075" y="3273552"/>
            <a:ext cx="20116" cy="397763"/>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897879" y="3454603"/>
            <a:ext cx="214884" cy="20116"/>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099048" y="3262579"/>
            <a:ext cx="86868" cy="20116"/>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6172200" y="3108960"/>
            <a:ext cx="2011680" cy="329184"/>
          </a:xfrm>
          <a:prstGeom prst="roundRect">
            <a:avLst/>
          </a:prstGeom>
          <a:solidFill>
            <a:srgbClr val="F5F8FC"/>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63640" y="3145536"/>
            <a:ext cx="1828800" cy="256031"/>
          </a:xfrm>
          <a:prstGeom prst="rect">
            <a:avLst/>
          </a:prstGeom>
          <a:noFill/>
        </p:spPr>
        <p:txBody>
          <a:bodyPr wrap="square">
            <a:spAutoFit/>
          </a:bodyPr>
          <a:lstStyle/>
          <a:p>
            <a:pPr algn="l"/>
            <a:r>
              <a:rPr sz="800" b="0" i="0">
                <a:solidFill>
                  <a:srgbClr val="6B7280"/>
                </a:solidFill>
                <a:latin typeface="Segoe UI"/>
              </a:rPr>
              <a:t>Submission Form</a:t>
            </a:r>
          </a:p>
        </p:txBody>
      </p:sp>
      <p:sp>
        <p:nvSpPr>
          <p:cNvPr id="62" name="Rectangle 61"/>
          <p:cNvSpPr/>
          <p:nvPr/>
        </p:nvSpPr>
        <p:spPr>
          <a:xfrm>
            <a:off x="6099048" y="3646627"/>
            <a:ext cx="86868" cy="20116"/>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172200" y="3493008"/>
            <a:ext cx="2011680" cy="329184"/>
          </a:xfrm>
          <a:prstGeom prst="roundRect">
            <a:avLst/>
          </a:prstGeom>
          <a:solidFill>
            <a:srgbClr val="F5F8FC"/>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63640" y="3529584"/>
            <a:ext cx="1828800" cy="256031"/>
          </a:xfrm>
          <a:prstGeom prst="rect">
            <a:avLst/>
          </a:prstGeom>
          <a:noFill/>
        </p:spPr>
        <p:txBody>
          <a:bodyPr wrap="square">
            <a:spAutoFit/>
          </a:bodyPr>
          <a:lstStyle/>
          <a:p>
            <a:pPr algn="l"/>
            <a:r>
              <a:rPr sz="800" b="0" i="0">
                <a:solidFill>
                  <a:srgbClr val="6B7280"/>
                </a:solidFill>
                <a:latin typeface="Segoe UI"/>
              </a:rPr>
              <a:t>Published Article</a:t>
            </a:r>
          </a:p>
        </p:txBody>
      </p:sp>
      <p:sp>
        <p:nvSpPr>
          <p:cNvPr id="65" name="Rectangle 64"/>
          <p:cNvSpPr/>
          <p:nvPr/>
        </p:nvSpPr>
        <p:spPr>
          <a:xfrm>
            <a:off x="3630168" y="3838651"/>
            <a:ext cx="86867" cy="20116"/>
          </a:xfrm>
          <a:prstGeom prst="rect">
            <a:avLst/>
          </a:prstGeom>
          <a:solidFill>
            <a:srgbClr val="5FA8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3703320" y="3685032"/>
            <a:ext cx="2194560" cy="329184"/>
          </a:xfrm>
          <a:prstGeom prst="roundRect">
            <a:avLst/>
          </a:prstGeom>
          <a:solidFill>
            <a:srgbClr val="EDF2F7"/>
          </a:solidFill>
          <a:ln w="9525">
            <a:solidFill>
              <a:srgbClr val="5FA8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794759" y="3721608"/>
            <a:ext cx="2011679" cy="256031"/>
          </a:xfrm>
          <a:prstGeom prst="rect">
            <a:avLst/>
          </a:prstGeom>
          <a:noFill/>
        </p:spPr>
        <p:txBody>
          <a:bodyPr wrap="square">
            <a:spAutoFit/>
          </a:bodyPr>
          <a:lstStyle/>
          <a:p>
            <a:pPr algn="l"/>
            <a:r>
              <a:rPr sz="800" b="0" i="0">
                <a:solidFill>
                  <a:srgbClr val="1A1A1A"/>
                </a:solidFill>
                <a:latin typeface="Segoe UI"/>
              </a:rPr>
              <a:t>Submission Guidelines</a:t>
            </a:r>
          </a:p>
        </p:txBody>
      </p:sp>
      <p:sp>
        <p:nvSpPr>
          <p:cNvPr id="68" name="Rectangle 67"/>
          <p:cNvSpPr/>
          <p:nvPr/>
        </p:nvSpPr>
        <p:spPr>
          <a:xfrm>
            <a:off x="1892807" y="4661611"/>
            <a:ext cx="86868" cy="20116"/>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1965960" y="4480560"/>
            <a:ext cx="1463040" cy="384048"/>
          </a:xfrm>
          <a:prstGeom prst="roundRect">
            <a:avLst/>
          </a:prstGeom>
          <a:solidFill>
            <a:srgbClr val="D48F0A"/>
          </a:solidFill>
          <a:ln w="12700">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965960" y="4480560"/>
            <a:ext cx="1463040" cy="384048"/>
          </a:xfrm>
          <a:prstGeom prst="rect">
            <a:avLst/>
          </a:prstGeom>
          <a:noFill/>
        </p:spPr>
        <p:txBody>
          <a:bodyPr wrap="square">
            <a:spAutoFit/>
          </a:bodyPr>
          <a:lstStyle/>
          <a:p>
            <a:pPr algn="ctr"/>
            <a:r>
              <a:rPr sz="900" b="1" i="0">
                <a:solidFill>
                  <a:srgbClr val="FFFFFF"/>
                </a:solidFill>
                <a:latin typeface="Segoe UI"/>
              </a:rPr>
              <a:t>Shows</a:t>
            </a:r>
          </a:p>
        </p:txBody>
      </p:sp>
      <p:sp>
        <p:nvSpPr>
          <p:cNvPr id="71" name="Rectangle 70"/>
          <p:cNvSpPr/>
          <p:nvPr/>
        </p:nvSpPr>
        <p:spPr>
          <a:xfrm>
            <a:off x="3619195" y="4288536"/>
            <a:ext cx="20116" cy="781811"/>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429000" y="4661611"/>
            <a:ext cx="214884" cy="20116"/>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630168" y="4277563"/>
            <a:ext cx="86867" cy="20116"/>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3703320" y="4123944"/>
            <a:ext cx="2194560" cy="329184"/>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794759" y="4160520"/>
            <a:ext cx="2011679" cy="256031"/>
          </a:xfrm>
          <a:prstGeom prst="rect">
            <a:avLst/>
          </a:prstGeom>
          <a:noFill/>
        </p:spPr>
        <p:txBody>
          <a:bodyPr wrap="square">
            <a:spAutoFit/>
          </a:bodyPr>
          <a:lstStyle/>
          <a:p>
            <a:pPr algn="l"/>
            <a:r>
              <a:rPr sz="800" b="0" i="0">
                <a:solidFill>
                  <a:srgbClr val="1A1A1A"/>
                </a:solidFill>
                <a:latin typeface="Segoe UI"/>
              </a:rPr>
              <a:t>Show Details</a:t>
            </a:r>
          </a:p>
        </p:txBody>
      </p:sp>
      <p:sp>
        <p:nvSpPr>
          <p:cNvPr id="76" name="Rectangle 75"/>
          <p:cNvSpPr/>
          <p:nvPr/>
        </p:nvSpPr>
        <p:spPr>
          <a:xfrm>
            <a:off x="6088075" y="4096511"/>
            <a:ext cx="20116" cy="397763"/>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897879" y="4277563"/>
            <a:ext cx="214884" cy="20116"/>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099048" y="4085539"/>
            <a:ext cx="86868" cy="20116"/>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6172200" y="3931920"/>
            <a:ext cx="2011680" cy="329184"/>
          </a:xfrm>
          <a:prstGeom prst="roundRect">
            <a:avLst/>
          </a:prstGeom>
          <a:solidFill>
            <a:srgbClr val="F5F8FC"/>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63640" y="3968496"/>
            <a:ext cx="1828800" cy="256031"/>
          </a:xfrm>
          <a:prstGeom prst="rect">
            <a:avLst/>
          </a:prstGeom>
          <a:noFill/>
        </p:spPr>
        <p:txBody>
          <a:bodyPr wrap="square">
            <a:spAutoFit/>
          </a:bodyPr>
          <a:lstStyle/>
          <a:p>
            <a:pPr algn="l"/>
            <a:r>
              <a:rPr sz="800" b="0" i="0">
                <a:solidFill>
                  <a:srgbClr val="6B7280"/>
                </a:solidFill>
                <a:latin typeface="Segoe UI"/>
              </a:rPr>
              <a:t>Date</a:t>
            </a:r>
          </a:p>
        </p:txBody>
      </p:sp>
      <p:sp>
        <p:nvSpPr>
          <p:cNvPr id="81" name="Rectangle 80"/>
          <p:cNvSpPr/>
          <p:nvPr/>
        </p:nvSpPr>
        <p:spPr>
          <a:xfrm>
            <a:off x="6099048" y="4469587"/>
            <a:ext cx="86868" cy="20116"/>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6172200" y="4315968"/>
            <a:ext cx="2011680" cy="329184"/>
          </a:xfrm>
          <a:prstGeom prst="roundRect">
            <a:avLst/>
          </a:prstGeom>
          <a:solidFill>
            <a:srgbClr val="F5F8FC"/>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63640" y="4352544"/>
            <a:ext cx="1828800" cy="256031"/>
          </a:xfrm>
          <a:prstGeom prst="rect">
            <a:avLst/>
          </a:prstGeom>
          <a:noFill/>
        </p:spPr>
        <p:txBody>
          <a:bodyPr wrap="square">
            <a:spAutoFit/>
          </a:bodyPr>
          <a:lstStyle/>
          <a:p>
            <a:pPr algn="l"/>
            <a:r>
              <a:rPr sz="800" b="0" i="0">
                <a:solidFill>
                  <a:srgbClr val="6B7280"/>
                </a:solidFill>
                <a:latin typeface="Segoe UI"/>
              </a:rPr>
              <a:t>Venue &amp; City</a:t>
            </a:r>
          </a:p>
        </p:txBody>
      </p:sp>
      <p:sp>
        <p:nvSpPr>
          <p:cNvPr id="84" name="Rectangle 83"/>
          <p:cNvSpPr/>
          <p:nvPr/>
        </p:nvSpPr>
        <p:spPr>
          <a:xfrm>
            <a:off x="3630168" y="4661611"/>
            <a:ext cx="86867" cy="20116"/>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3703320" y="4507992"/>
            <a:ext cx="2194560" cy="329184"/>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794759" y="4544568"/>
            <a:ext cx="2011679" cy="256031"/>
          </a:xfrm>
          <a:prstGeom prst="rect">
            <a:avLst/>
          </a:prstGeom>
          <a:noFill/>
        </p:spPr>
        <p:txBody>
          <a:bodyPr wrap="square">
            <a:spAutoFit/>
          </a:bodyPr>
          <a:lstStyle/>
          <a:p>
            <a:pPr algn="l"/>
            <a:r>
              <a:rPr sz="800" b="0" i="0">
                <a:solidFill>
                  <a:srgbClr val="1A1A1A"/>
                </a:solidFill>
                <a:latin typeface="Segoe UI"/>
              </a:rPr>
              <a:t>Ticket Inventory</a:t>
            </a:r>
          </a:p>
        </p:txBody>
      </p:sp>
      <p:sp>
        <p:nvSpPr>
          <p:cNvPr id="87" name="Rectangle 86"/>
          <p:cNvSpPr/>
          <p:nvPr/>
        </p:nvSpPr>
        <p:spPr>
          <a:xfrm>
            <a:off x="3630168" y="5045659"/>
            <a:ext cx="86867" cy="20116"/>
          </a:xfrm>
          <a:prstGeom prst="rect">
            <a:avLst/>
          </a:prstGeom>
          <a:solidFill>
            <a:srgbClr val="D48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3703320" y="4892040"/>
            <a:ext cx="2194560" cy="329184"/>
          </a:xfrm>
          <a:prstGeom prst="roundRect">
            <a:avLst/>
          </a:prstGeom>
          <a:solidFill>
            <a:srgbClr val="EDF2F7"/>
          </a:solidFill>
          <a:ln w="9525">
            <a:solidFill>
              <a:srgbClr val="D48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794759" y="4928616"/>
            <a:ext cx="2011679" cy="256031"/>
          </a:xfrm>
          <a:prstGeom prst="rect">
            <a:avLst/>
          </a:prstGeom>
          <a:noFill/>
        </p:spPr>
        <p:txBody>
          <a:bodyPr wrap="square">
            <a:spAutoFit/>
          </a:bodyPr>
          <a:lstStyle/>
          <a:p>
            <a:pPr algn="l"/>
            <a:r>
              <a:rPr sz="800" b="0" i="0">
                <a:solidFill>
                  <a:srgbClr val="1A1A1A"/>
                </a:solidFill>
                <a:latin typeface="Segoe UI"/>
              </a:rPr>
              <a:t>Live Photography</a:t>
            </a:r>
          </a:p>
        </p:txBody>
      </p:sp>
      <p:sp>
        <p:nvSpPr>
          <p:cNvPr id="90" name="Rectangle 89"/>
          <p:cNvSpPr/>
          <p:nvPr/>
        </p:nvSpPr>
        <p:spPr>
          <a:xfrm>
            <a:off x="1892807" y="5868619"/>
            <a:ext cx="86868"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1965960" y="5687568"/>
            <a:ext cx="1463040" cy="384048"/>
          </a:xfrm>
          <a:prstGeom prst="roundRect">
            <a:avLst/>
          </a:prstGeom>
          <a:solidFill>
            <a:srgbClr val="4A90E2"/>
          </a:solidFill>
          <a:ln w="12700">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965960" y="5687568"/>
            <a:ext cx="1463040" cy="384048"/>
          </a:xfrm>
          <a:prstGeom prst="rect">
            <a:avLst/>
          </a:prstGeom>
          <a:noFill/>
        </p:spPr>
        <p:txBody>
          <a:bodyPr wrap="square">
            <a:spAutoFit/>
          </a:bodyPr>
          <a:lstStyle/>
          <a:p>
            <a:pPr algn="ctr"/>
            <a:r>
              <a:rPr sz="900" b="1" i="0">
                <a:solidFill>
                  <a:srgbClr val="FFFFFF"/>
                </a:solidFill>
                <a:latin typeface="Segoe UI"/>
              </a:rPr>
              <a:t>Contact</a:t>
            </a:r>
          </a:p>
        </p:txBody>
      </p:sp>
      <p:sp>
        <p:nvSpPr>
          <p:cNvPr id="93" name="Rectangle 92"/>
          <p:cNvSpPr/>
          <p:nvPr/>
        </p:nvSpPr>
        <p:spPr>
          <a:xfrm>
            <a:off x="3619195" y="5495544"/>
            <a:ext cx="20116" cy="781811"/>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429000" y="5868619"/>
            <a:ext cx="214884"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630168" y="5484571"/>
            <a:ext cx="86867"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3703320" y="5330952"/>
            <a:ext cx="2194560" cy="329184"/>
          </a:xfrm>
          <a:prstGeom prst="roundRect">
            <a:avLst/>
          </a:prstGeom>
          <a:solidFill>
            <a:srgbClr val="EDF2F7"/>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794759" y="5367528"/>
            <a:ext cx="2011679" cy="256031"/>
          </a:xfrm>
          <a:prstGeom prst="rect">
            <a:avLst/>
          </a:prstGeom>
          <a:noFill/>
        </p:spPr>
        <p:txBody>
          <a:bodyPr wrap="square">
            <a:spAutoFit/>
          </a:bodyPr>
          <a:lstStyle/>
          <a:p>
            <a:pPr algn="l"/>
            <a:r>
              <a:rPr sz="800" b="0" i="0">
                <a:solidFill>
                  <a:srgbClr val="1A1A1A"/>
                </a:solidFill>
                <a:latin typeface="Segoe UI"/>
              </a:rPr>
              <a:t>Inquiry Form Fields</a:t>
            </a:r>
          </a:p>
        </p:txBody>
      </p:sp>
      <p:sp>
        <p:nvSpPr>
          <p:cNvPr id="98" name="Rectangle 97"/>
          <p:cNvSpPr/>
          <p:nvPr/>
        </p:nvSpPr>
        <p:spPr>
          <a:xfrm>
            <a:off x="3630168" y="5868619"/>
            <a:ext cx="86867"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3703320" y="5715000"/>
            <a:ext cx="2194560" cy="329184"/>
          </a:xfrm>
          <a:prstGeom prst="roundRect">
            <a:avLst/>
          </a:prstGeom>
          <a:solidFill>
            <a:srgbClr val="EDF2F7"/>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3794759" y="5751576"/>
            <a:ext cx="2011679" cy="256031"/>
          </a:xfrm>
          <a:prstGeom prst="rect">
            <a:avLst/>
          </a:prstGeom>
          <a:noFill/>
        </p:spPr>
        <p:txBody>
          <a:bodyPr wrap="square">
            <a:spAutoFit/>
          </a:bodyPr>
          <a:lstStyle/>
          <a:p>
            <a:pPr algn="l"/>
            <a:r>
              <a:rPr sz="800" b="0" i="0">
                <a:solidFill>
                  <a:srgbClr val="1A1A1A"/>
                </a:solidFill>
                <a:latin typeface="Segoe UI"/>
              </a:rPr>
              <a:t>Confirmation Templates</a:t>
            </a:r>
          </a:p>
        </p:txBody>
      </p:sp>
      <p:sp>
        <p:nvSpPr>
          <p:cNvPr id="101" name="Rectangle 100"/>
          <p:cNvSpPr/>
          <p:nvPr/>
        </p:nvSpPr>
        <p:spPr>
          <a:xfrm>
            <a:off x="3630168" y="6252667"/>
            <a:ext cx="86867"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3703320" y="6099048"/>
            <a:ext cx="2194560" cy="329184"/>
          </a:xfrm>
          <a:prstGeom prst="roundRect">
            <a:avLst/>
          </a:prstGeom>
          <a:solidFill>
            <a:srgbClr val="EDF2F7"/>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794759" y="6135624"/>
            <a:ext cx="2011679" cy="256031"/>
          </a:xfrm>
          <a:prstGeom prst="rect">
            <a:avLst/>
          </a:prstGeom>
          <a:noFill/>
        </p:spPr>
        <p:txBody>
          <a:bodyPr wrap="square">
            <a:spAutoFit/>
          </a:bodyPr>
          <a:lstStyle/>
          <a:p>
            <a:pPr algn="l"/>
            <a:r>
              <a:rPr sz="800" b="0" i="0">
                <a:solidFill>
                  <a:srgbClr val="1A1A1A"/>
                </a:solidFill>
                <a:latin typeface="Segoe UI"/>
              </a:rPr>
              <a:t>Email Notifications</a:t>
            </a:r>
          </a:p>
        </p:txBody>
      </p:sp>
      <p:sp>
        <p:nvSpPr>
          <p:cNvPr id="104" name="Rectangle 103"/>
          <p:cNvSpPr/>
          <p:nvPr/>
        </p:nvSpPr>
        <p:spPr>
          <a:xfrm>
            <a:off x="6088075" y="6071616"/>
            <a:ext cx="20116" cy="397763"/>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5897879" y="6252667"/>
            <a:ext cx="214884"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6099048" y="6060643"/>
            <a:ext cx="86868"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ounded Rectangle 106"/>
          <p:cNvSpPr/>
          <p:nvPr/>
        </p:nvSpPr>
        <p:spPr>
          <a:xfrm>
            <a:off x="6172200" y="5907024"/>
            <a:ext cx="2011680" cy="329184"/>
          </a:xfrm>
          <a:prstGeom prst="roundRect">
            <a:avLst/>
          </a:prstGeom>
          <a:solidFill>
            <a:srgbClr val="F5F8FC"/>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263640" y="5943600"/>
            <a:ext cx="1828800" cy="256031"/>
          </a:xfrm>
          <a:prstGeom prst="rect">
            <a:avLst/>
          </a:prstGeom>
          <a:noFill/>
        </p:spPr>
        <p:txBody>
          <a:bodyPr wrap="square">
            <a:spAutoFit/>
          </a:bodyPr>
          <a:lstStyle/>
          <a:p>
            <a:pPr algn="l"/>
            <a:r>
              <a:rPr sz="800" b="0" i="0">
                <a:solidFill>
                  <a:srgbClr val="6B7280"/>
                </a:solidFill>
                <a:latin typeface="Segoe UI"/>
              </a:rPr>
              <a:t>Welcome Email</a:t>
            </a:r>
          </a:p>
        </p:txBody>
      </p:sp>
      <p:sp>
        <p:nvSpPr>
          <p:cNvPr id="109" name="Rectangle 108"/>
          <p:cNvSpPr/>
          <p:nvPr/>
        </p:nvSpPr>
        <p:spPr>
          <a:xfrm>
            <a:off x="6099048" y="6444691"/>
            <a:ext cx="86868" cy="20116"/>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ounded Rectangle 109"/>
          <p:cNvSpPr/>
          <p:nvPr/>
        </p:nvSpPr>
        <p:spPr>
          <a:xfrm>
            <a:off x="6172200" y="6291072"/>
            <a:ext cx="2011680" cy="329184"/>
          </a:xfrm>
          <a:prstGeom prst="roundRect">
            <a:avLst/>
          </a:prstGeom>
          <a:solidFill>
            <a:srgbClr val="F5F8FC"/>
          </a:solidFill>
          <a:ln w="9525">
            <a:solidFill>
              <a:srgbClr val="4A9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263640" y="6327648"/>
            <a:ext cx="1828800" cy="256031"/>
          </a:xfrm>
          <a:prstGeom prst="rect">
            <a:avLst/>
          </a:prstGeom>
          <a:noFill/>
        </p:spPr>
        <p:txBody>
          <a:bodyPr wrap="square">
            <a:spAutoFit/>
          </a:bodyPr>
          <a:lstStyle/>
          <a:p>
            <a:pPr algn="l"/>
            <a:r>
              <a:rPr sz="800" b="0" i="0">
                <a:solidFill>
                  <a:srgbClr val="6B7280"/>
                </a:solidFill>
                <a:latin typeface="Segoe UI"/>
              </a:rPr>
              <a:t>Show Alerts</a:t>
            </a:r>
          </a:p>
        </p:txBody>
      </p:sp>
      <p:sp>
        <p:nvSpPr>
          <p:cNvPr id="112" name="Rectangle 111"/>
          <p:cNvSpPr/>
          <p:nvPr/>
        </p:nvSpPr>
        <p:spPr>
          <a:xfrm>
            <a:off x="0" y="6812280"/>
            <a:ext cx="12188952" cy="45720"/>
          </a:xfrm>
          <a:prstGeom prst="rect">
            <a:avLst/>
          </a:prstGeom>
          <a:solidFill>
            <a:srgbClr val="4A90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