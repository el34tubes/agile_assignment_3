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3"/>
  </p:sldMasterIdLst>
  <p:sldIdLst>
    <p:sldId id="261" r:id="rId4"/>
    <p:sldId id="262" r:id="rId5"/>
    <p:sldId id="304" r:id="rId6"/>
    <p:sldId id="263" r:id="rId7"/>
    <p:sldId id="323" r:id="rId8"/>
    <p:sldId id="324" r:id="rId9"/>
    <p:sldId id="305" r:id="rId10"/>
    <p:sldId id="307" r:id="rId11"/>
    <p:sldId id="311" r:id="rId12"/>
    <p:sldId id="309" r:id="rId13"/>
    <p:sldId id="317" r:id="rId14"/>
    <p:sldId id="31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39"/>
    <p:restoredTop sz="94640"/>
  </p:normalViewPr>
  <p:slideViewPr>
    <p:cSldViewPr snapToGrid="0" snapToObjects="1">
      <p:cViewPr varScale="1">
        <p:scale>
          <a:sx n="74" d="100"/>
          <a:sy n="74" d="100"/>
        </p:scale>
        <p:origin x="63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heme" Target="theme/theme1.xml"/><Relationship Id="rId3" Type="http://schemas.openxmlformats.org/officeDocument/2006/relationships/slideMaster" Target="slideMasters/slide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73E41-A1CE-B843-82D6-6CB190F806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79FC5C-2B05-1D4C-8E62-6382E816FD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7A5E7F-4F2A-054E-A5A7-4AE714FCA34C}"/>
              </a:ext>
            </a:extLst>
          </p:cNvPr>
          <p:cNvSpPr>
            <a:spLocks noGrp="1"/>
          </p:cNvSpPr>
          <p:nvPr>
            <p:ph type="dt" sz="half" idx="10"/>
          </p:nvPr>
        </p:nvSpPr>
        <p:spPr/>
        <p:txBody>
          <a:bodyPr/>
          <a:lstStyle/>
          <a:p>
            <a:fld id="{CC8489E5-7C50-5E4B-9836-7DE0079D44EF}" type="datetimeFigureOut">
              <a:rPr lang="en-US" smtClean="0"/>
              <a:t>3/5/2026</a:t>
            </a:fld>
            <a:endParaRPr lang="en-US"/>
          </a:p>
        </p:txBody>
      </p:sp>
      <p:sp>
        <p:nvSpPr>
          <p:cNvPr id="5" name="Footer Placeholder 4">
            <a:extLst>
              <a:ext uri="{FF2B5EF4-FFF2-40B4-BE49-F238E27FC236}">
                <a16:creationId xmlns:a16="http://schemas.microsoft.com/office/drawing/2014/main" id="{9FE0CF3B-C496-2940-8C45-6B0CD4AAF8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DB14EC-B747-7740-8DA0-5E09B0092831}"/>
              </a:ext>
            </a:extLst>
          </p:cNvPr>
          <p:cNvSpPr>
            <a:spLocks noGrp="1"/>
          </p:cNvSpPr>
          <p:nvPr>
            <p:ph type="sldNum" sz="quarter" idx="12"/>
          </p:nvPr>
        </p:nvSpPr>
        <p:spPr/>
        <p:txBody>
          <a:bodyPr/>
          <a:lstStyle/>
          <a:p>
            <a:fld id="{A2A797C7-DA7F-D44F-A90E-3083FCB703AA}" type="slidenum">
              <a:rPr lang="en-US" smtClean="0"/>
              <a:t>‹#›</a:t>
            </a:fld>
            <a:endParaRPr lang="en-US"/>
          </a:p>
        </p:txBody>
      </p:sp>
    </p:spTree>
    <p:extLst>
      <p:ext uri="{BB962C8B-B14F-4D97-AF65-F5344CB8AC3E}">
        <p14:creationId xmlns:p14="http://schemas.microsoft.com/office/powerpoint/2010/main" val="3872876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2C19B-5B8D-EB4E-B049-888ABE0233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930B4D-9AF5-134A-A9A4-D1E0E9F7C5A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769634-775A-9242-8CEB-4C8D7ED9EAA9}"/>
              </a:ext>
            </a:extLst>
          </p:cNvPr>
          <p:cNvSpPr>
            <a:spLocks noGrp="1"/>
          </p:cNvSpPr>
          <p:nvPr>
            <p:ph type="dt" sz="half" idx="10"/>
          </p:nvPr>
        </p:nvSpPr>
        <p:spPr/>
        <p:txBody>
          <a:bodyPr/>
          <a:lstStyle/>
          <a:p>
            <a:fld id="{CC8489E5-7C50-5E4B-9836-7DE0079D44EF}" type="datetimeFigureOut">
              <a:rPr lang="en-US" smtClean="0"/>
              <a:t>3/5/2026</a:t>
            </a:fld>
            <a:endParaRPr lang="en-US"/>
          </a:p>
        </p:txBody>
      </p:sp>
      <p:sp>
        <p:nvSpPr>
          <p:cNvPr id="5" name="Footer Placeholder 4">
            <a:extLst>
              <a:ext uri="{FF2B5EF4-FFF2-40B4-BE49-F238E27FC236}">
                <a16:creationId xmlns:a16="http://schemas.microsoft.com/office/drawing/2014/main" id="{5A436F84-95CC-7E4A-9685-D9C4A1A19D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FA19C0-2974-FA4D-BECA-D4F8986DFF48}"/>
              </a:ext>
            </a:extLst>
          </p:cNvPr>
          <p:cNvSpPr>
            <a:spLocks noGrp="1"/>
          </p:cNvSpPr>
          <p:nvPr>
            <p:ph type="sldNum" sz="quarter" idx="12"/>
          </p:nvPr>
        </p:nvSpPr>
        <p:spPr/>
        <p:txBody>
          <a:bodyPr/>
          <a:lstStyle/>
          <a:p>
            <a:fld id="{A2A797C7-DA7F-D44F-A90E-3083FCB703AA}" type="slidenum">
              <a:rPr lang="en-US" smtClean="0"/>
              <a:t>‹#›</a:t>
            </a:fld>
            <a:endParaRPr lang="en-US"/>
          </a:p>
        </p:txBody>
      </p:sp>
    </p:spTree>
    <p:extLst>
      <p:ext uri="{BB962C8B-B14F-4D97-AF65-F5344CB8AC3E}">
        <p14:creationId xmlns:p14="http://schemas.microsoft.com/office/powerpoint/2010/main" val="785473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B2B1A-B7FB-9040-B97B-BF6A88600C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B7DD606-457B-CF40-A4F9-5EF48E0D40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634E825-8D0F-524B-9313-2BB8901B8073}"/>
              </a:ext>
            </a:extLst>
          </p:cNvPr>
          <p:cNvSpPr>
            <a:spLocks noGrp="1"/>
          </p:cNvSpPr>
          <p:nvPr>
            <p:ph type="dt" sz="half" idx="10"/>
          </p:nvPr>
        </p:nvSpPr>
        <p:spPr/>
        <p:txBody>
          <a:bodyPr/>
          <a:lstStyle/>
          <a:p>
            <a:fld id="{CC8489E5-7C50-5E4B-9836-7DE0079D44EF}" type="datetimeFigureOut">
              <a:rPr lang="en-US" smtClean="0"/>
              <a:t>3/5/2026</a:t>
            </a:fld>
            <a:endParaRPr lang="en-US"/>
          </a:p>
        </p:txBody>
      </p:sp>
      <p:sp>
        <p:nvSpPr>
          <p:cNvPr id="5" name="Footer Placeholder 4">
            <a:extLst>
              <a:ext uri="{FF2B5EF4-FFF2-40B4-BE49-F238E27FC236}">
                <a16:creationId xmlns:a16="http://schemas.microsoft.com/office/drawing/2014/main" id="{94E1D15F-69DD-0F41-87FA-F5B9198F2A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06A130-B8E7-4048-8F00-AF95EAA7F15B}"/>
              </a:ext>
            </a:extLst>
          </p:cNvPr>
          <p:cNvSpPr>
            <a:spLocks noGrp="1"/>
          </p:cNvSpPr>
          <p:nvPr>
            <p:ph type="sldNum" sz="quarter" idx="12"/>
          </p:nvPr>
        </p:nvSpPr>
        <p:spPr/>
        <p:txBody>
          <a:bodyPr/>
          <a:lstStyle/>
          <a:p>
            <a:fld id="{A2A797C7-DA7F-D44F-A90E-3083FCB703AA}" type="slidenum">
              <a:rPr lang="en-US" smtClean="0"/>
              <a:t>‹#›</a:t>
            </a:fld>
            <a:endParaRPr lang="en-US"/>
          </a:p>
        </p:txBody>
      </p:sp>
    </p:spTree>
    <p:extLst>
      <p:ext uri="{BB962C8B-B14F-4D97-AF65-F5344CB8AC3E}">
        <p14:creationId xmlns:p14="http://schemas.microsoft.com/office/powerpoint/2010/main" val="2648032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5DCD2-4914-DF44-9DEC-B9915EB448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4A16D4-CF50-1149-8955-95F09B86DDB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411E9D-F699-FE48-99AD-ADCD10195BA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C64009-4EDB-204C-9607-1F6B0E6E58FF}"/>
              </a:ext>
            </a:extLst>
          </p:cNvPr>
          <p:cNvSpPr>
            <a:spLocks noGrp="1"/>
          </p:cNvSpPr>
          <p:nvPr>
            <p:ph type="dt" sz="half" idx="10"/>
          </p:nvPr>
        </p:nvSpPr>
        <p:spPr/>
        <p:txBody>
          <a:bodyPr/>
          <a:lstStyle/>
          <a:p>
            <a:fld id="{CC8489E5-7C50-5E4B-9836-7DE0079D44EF}" type="datetimeFigureOut">
              <a:rPr lang="en-US" smtClean="0"/>
              <a:t>3/5/2026</a:t>
            </a:fld>
            <a:endParaRPr lang="en-US"/>
          </a:p>
        </p:txBody>
      </p:sp>
      <p:sp>
        <p:nvSpPr>
          <p:cNvPr id="6" name="Footer Placeholder 5">
            <a:extLst>
              <a:ext uri="{FF2B5EF4-FFF2-40B4-BE49-F238E27FC236}">
                <a16:creationId xmlns:a16="http://schemas.microsoft.com/office/drawing/2014/main" id="{F534CC17-26A8-4048-8B79-28DF54D6A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6A6D06-6960-2749-B605-548966605679}"/>
              </a:ext>
            </a:extLst>
          </p:cNvPr>
          <p:cNvSpPr>
            <a:spLocks noGrp="1"/>
          </p:cNvSpPr>
          <p:nvPr>
            <p:ph type="sldNum" sz="quarter" idx="12"/>
          </p:nvPr>
        </p:nvSpPr>
        <p:spPr/>
        <p:txBody>
          <a:bodyPr/>
          <a:lstStyle/>
          <a:p>
            <a:fld id="{A2A797C7-DA7F-D44F-A90E-3083FCB703AA}" type="slidenum">
              <a:rPr lang="en-US" smtClean="0"/>
              <a:t>‹#›</a:t>
            </a:fld>
            <a:endParaRPr lang="en-US"/>
          </a:p>
        </p:txBody>
      </p:sp>
    </p:spTree>
    <p:extLst>
      <p:ext uri="{BB962C8B-B14F-4D97-AF65-F5344CB8AC3E}">
        <p14:creationId xmlns:p14="http://schemas.microsoft.com/office/powerpoint/2010/main" val="2867460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F4261-FFC5-1C45-BB14-AD304467E9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123D22-099B-5E4B-801D-5094962279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6AA0373-B146-EB48-8870-F341BEDBADF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5F3897-661C-8B4D-B94E-E950A4B8DA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22DE225-0A9B-7E45-9419-3A74CEBA368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3378D3D-C2EA-4E4C-BC15-0268C329F60B}"/>
              </a:ext>
            </a:extLst>
          </p:cNvPr>
          <p:cNvSpPr>
            <a:spLocks noGrp="1"/>
          </p:cNvSpPr>
          <p:nvPr>
            <p:ph type="dt" sz="half" idx="10"/>
          </p:nvPr>
        </p:nvSpPr>
        <p:spPr/>
        <p:txBody>
          <a:bodyPr/>
          <a:lstStyle/>
          <a:p>
            <a:fld id="{CC8489E5-7C50-5E4B-9836-7DE0079D44EF}" type="datetimeFigureOut">
              <a:rPr lang="en-US" smtClean="0"/>
              <a:t>3/5/2026</a:t>
            </a:fld>
            <a:endParaRPr lang="en-US"/>
          </a:p>
        </p:txBody>
      </p:sp>
      <p:sp>
        <p:nvSpPr>
          <p:cNvPr id="8" name="Footer Placeholder 7">
            <a:extLst>
              <a:ext uri="{FF2B5EF4-FFF2-40B4-BE49-F238E27FC236}">
                <a16:creationId xmlns:a16="http://schemas.microsoft.com/office/drawing/2014/main" id="{FC9D1653-ED8B-5B4C-A6F5-0600DFF16C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C7D5ABA-4533-2243-B5CB-F3AA6143975A}"/>
              </a:ext>
            </a:extLst>
          </p:cNvPr>
          <p:cNvSpPr>
            <a:spLocks noGrp="1"/>
          </p:cNvSpPr>
          <p:nvPr>
            <p:ph type="sldNum" sz="quarter" idx="12"/>
          </p:nvPr>
        </p:nvSpPr>
        <p:spPr/>
        <p:txBody>
          <a:bodyPr/>
          <a:lstStyle/>
          <a:p>
            <a:fld id="{A2A797C7-DA7F-D44F-A90E-3083FCB703AA}" type="slidenum">
              <a:rPr lang="en-US" smtClean="0"/>
              <a:t>‹#›</a:t>
            </a:fld>
            <a:endParaRPr lang="en-US"/>
          </a:p>
        </p:txBody>
      </p:sp>
    </p:spTree>
    <p:extLst>
      <p:ext uri="{BB962C8B-B14F-4D97-AF65-F5344CB8AC3E}">
        <p14:creationId xmlns:p14="http://schemas.microsoft.com/office/powerpoint/2010/main" val="3071012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FFA7D-F9B0-1F4F-B198-FC91D0FE26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08079E-D664-D54E-9CDE-08867B2084AC}"/>
              </a:ext>
            </a:extLst>
          </p:cNvPr>
          <p:cNvSpPr>
            <a:spLocks noGrp="1"/>
          </p:cNvSpPr>
          <p:nvPr>
            <p:ph type="dt" sz="half" idx="10"/>
          </p:nvPr>
        </p:nvSpPr>
        <p:spPr/>
        <p:txBody>
          <a:bodyPr/>
          <a:lstStyle/>
          <a:p>
            <a:fld id="{CC8489E5-7C50-5E4B-9836-7DE0079D44EF}" type="datetimeFigureOut">
              <a:rPr lang="en-US" smtClean="0"/>
              <a:t>3/5/2026</a:t>
            </a:fld>
            <a:endParaRPr lang="en-US"/>
          </a:p>
        </p:txBody>
      </p:sp>
      <p:sp>
        <p:nvSpPr>
          <p:cNvPr id="4" name="Footer Placeholder 3">
            <a:extLst>
              <a:ext uri="{FF2B5EF4-FFF2-40B4-BE49-F238E27FC236}">
                <a16:creationId xmlns:a16="http://schemas.microsoft.com/office/drawing/2014/main" id="{DDE456F0-5F5A-E142-A8CF-5A212694C9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C4EE1C-BC63-174D-99D6-1B712C00F38C}"/>
              </a:ext>
            </a:extLst>
          </p:cNvPr>
          <p:cNvSpPr>
            <a:spLocks noGrp="1"/>
          </p:cNvSpPr>
          <p:nvPr>
            <p:ph type="sldNum" sz="quarter" idx="12"/>
          </p:nvPr>
        </p:nvSpPr>
        <p:spPr/>
        <p:txBody>
          <a:bodyPr/>
          <a:lstStyle/>
          <a:p>
            <a:fld id="{A2A797C7-DA7F-D44F-A90E-3083FCB703AA}" type="slidenum">
              <a:rPr lang="en-US" smtClean="0"/>
              <a:t>‹#›</a:t>
            </a:fld>
            <a:endParaRPr lang="en-US"/>
          </a:p>
        </p:txBody>
      </p:sp>
    </p:spTree>
    <p:extLst>
      <p:ext uri="{BB962C8B-B14F-4D97-AF65-F5344CB8AC3E}">
        <p14:creationId xmlns:p14="http://schemas.microsoft.com/office/powerpoint/2010/main" val="1977056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06BE66-04AD-7345-B922-611E636C3BD8}"/>
              </a:ext>
            </a:extLst>
          </p:cNvPr>
          <p:cNvSpPr>
            <a:spLocks noGrp="1"/>
          </p:cNvSpPr>
          <p:nvPr>
            <p:ph type="dt" sz="half" idx="10"/>
          </p:nvPr>
        </p:nvSpPr>
        <p:spPr/>
        <p:txBody>
          <a:bodyPr/>
          <a:lstStyle/>
          <a:p>
            <a:fld id="{CC8489E5-7C50-5E4B-9836-7DE0079D44EF}" type="datetimeFigureOut">
              <a:rPr lang="en-US" smtClean="0"/>
              <a:t>3/5/2026</a:t>
            </a:fld>
            <a:endParaRPr lang="en-US"/>
          </a:p>
        </p:txBody>
      </p:sp>
      <p:sp>
        <p:nvSpPr>
          <p:cNvPr id="3" name="Footer Placeholder 2">
            <a:extLst>
              <a:ext uri="{FF2B5EF4-FFF2-40B4-BE49-F238E27FC236}">
                <a16:creationId xmlns:a16="http://schemas.microsoft.com/office/drawing/2014/main" id="{23EC1D67-5BF0-7746-A479-E23AA5EA3C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27B561-0AB9-9649-9786-25CFECC6B6A1}"/>
              </a:ext>
            </a:extLst>
          </p:cNvPr>
          <p:cNvSpPr>
            <a:spLocks noGrp="1"/>
          </p:cNvSpPr>
          <p:nvPr>
            <p:ph type="sldNum" sz="quarter" idx="12"/>
          </p:nvPr>
        </p:nvSpPr>
        <p:spPr/>
        <p:txBody>
          <a:bodyPr/>
          <a:lstStyle/>
          <a:p>
            <a:fld id="{A2A797C7-DA7F-D44F-A90E-3083FCB703AA}" type="slidenum">
              <a:rPr lang="en-US" smtClean="0"/>
              <a:t>‹#›</a:t>
            </a:fld>
            <a:endParaRPr lang="en-US"/>
          </a:p>
        </p:txBody>
      </p:sp>
    </p:spTree>
    <p:extLst>
      <p:ext uri="{BB962C8B-B14F-4D97-AF65-F5344CB8AC3E}">
        <p14:creationId xmlns:p14="http://schemas.microsoft.com/office/powerpoint/2010/main" val="1990915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CBF8-F657-8D41-AFDD-A4AD3BD1C9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F92F5B-CC90-9641-B0FB-7C9995A247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48FA53-1D1E-5C46-A8D9-748E921F4D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582D7FD-5DCE-494D-8553-C6BBCC67C6AE}"/>
              </a:ext>
            </a:extLst>
          </p:cNvPr>
          <p:cNvSpPr>
            <a:spLocks noGrp="1"/>
          </p:cNvSpPr>
          <p:nvPr>
            <p:ph type="dt" sz="half" idx="10"/>
          </p:nvPr>
        </p:nvSpPr>
        <p:spPr/>
        <p:txBody>
          <a:bodyPr/>
          <a:lstStyle/>
          <a:p>
            <a:fld id="{CC8489E5-7C50-5E4B-9836-7DE0079D44EF}" type="datetimeFigureOut">
              <a:rPr lang="en-US" smtClean="0"/>
              <a:t>3/5/2026</a:t>
            </a:fld>
            <a:endParaRPr lang="en-US"/>
          </a:p>
        </p:txBody>
      </p:sp>
      <p:sp>
        <p:nvSpPr>
          <p:cNvPr id="6" name="Footer Placeholder 5">
            <a:extLst>
              <a:ext uri="{FF2B5EF4-FFF2-40B4-BE49-F238E27FC236}">
                <a16:creationId xmlns:a16="http://schemas.microsoft.com/office/drawing/2014/main" id="{B23D7256-DDAF-F64F-B7B3-3489AEDD63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4375D2-BC02-0241-A992-D49D597AC453}"/>
              </a:ext>
            </a:extLst>
          </p:cNvPr>
          <p:cNvSpPr>
            <a:spLocks noGrp="1"/>
          </p:cNvSpPr>
          <p:nvPr>
            <p:ph type="sldNum" sz="quarter" idx="12"/>
          </p:nvPr>
        </p:nvSpPr>
        <p:spPr/>
        <p:txBody>
          <a:bodyPr/>
          <a:lstStyle/>
          <a:p>
            <a:fld id="{A2A797C7-DA7F-D44F-A90E-3083FCB703AA}" type="slidenum">
              <a:rPr lang="en-US" smtClean="0"/>
              <a:t>‹#›</a:t>
            </a:fld>
            <a:endParaRPr lang="en-US"/>
          </a:p>
        </p:txBody>
      </p:sp>
    </p:spTree>
    <p:extLst>
      <p:ext uri="{BB962C8B-B14F-4D97-AF65-F5344CB8AC3E}">
        <p14:creationId xmlns:p14="http://schemas.microsoft.com/office/powerpoint/2010/main" val="2314257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CB8F1-BF2A-DE45-A1F3-6564A136C6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30D4C8-09B2-9C49-8121-087DB21BCA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BE530E-3C79-E340-9693-4D7D7E5A10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68BDF1B-BAEC-F240-AA46-204F91700862}"/>
              </a:ext>
            </a:extLst>
          </p:cNvPr>
          <p:cNvSpPr>
            <a:spLocks noGrp="1"/>
          </p:cNvSpPr>
          <p:nvPr>
            <p:ph type="dt" sz="half" idx="10"/>
          </p:nvPr>
        </p:nvSpPr>
        <p:spPr/>
        <p:txBody>
          <a:bodyPr/>
          <a:lstStyle/>
          <a:p>
            <a:fld id="{CC8489E5-7C50-5E4B-9836-7DE0079D44EF}" type="datetimeFigureOut">
              <a:rPr lang="en-US" smtClean="0"/>
              <a:t>3/5/2026</a:t>
            </a:fld>
            <a:endParaRPr lang="en-US"/>
          </a:p>
        </p:txBody>
      </p:sp>
      <p:sp>
        <p:nvSpPr>
          <p:cNvPr id="6" name="Footer Placeholder 5">
            <a:extLst>
              <a:ext uri="{FF2B5EF4-FFF2-40B4-BE49-F238E27FC236}">
                <a16:creationId xmlns:a16="http://schemas.microsoft.com/office/drawing/2014/main" id="{95D17691-EB03-7942-BC4A-45B0123AAB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55FC3C-4EC4-4D47-8484-2A54925689AB}"/>
              </a:ext>
            </a:extLst>
          </p:cNvPr>
          <p:cNvSpPr>
            <a:spLocks noGrp="1"/>
          </p:cNvSpPr>
          <p:nvPr>
            <p:ph type="sldNum" sz="quarter" idx="12"/>
          </p:nvPr>
        </p:nvSpPr>
        <p:spPr/>
        <p:txBody>
          <a:bodyPr/>
          <a:lstStyle/>
          <a:p>
            <a:fld id="{A2A797C7-DA7F-D44F-A90E-3083FCB703AA}" type="slidenum">
              <a:rPr lang="en-US" smtClean="0"/>
              <a:t>‹#›</a:t>
            </a:fld>
            <a:endParaRPr lang="en-US"/>
          </a:p>
        </p:txBody>
      </p:sp>
    </p:spTree>
    <p:extLst>
      <p:ext uri="{BB962C8B-B14F-4D97-AF65-F5344CB8AC3E}">
        <p14:creationId xmlns:p14="http://schemas.microsoft.com/office/powerpoint/2010/main" val="117205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745FC-583C-0543-9DD1-AF0BC93B4D8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C8ABFE-474A-0945-94C0-7A8F3FD4EEB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F9A043-ADAB-9D4F-85FD-0F797E5499EF}"/>
              </a:ext>
            </a:extLst>
          </p:cNvPr>
          <p:cNvSpPr>
            <a:spLocks noGrp="1"/>
          </p:cNvSpPr>
          <p:nvPr>
            <p:ph type="dt" sz="half" idx="10"/>
          </p:nvPr>
        </p:nvSpPr>
        <p:spPr/>
        <p:txBody>
          <a:bodyPr/>
          <a:lstStyle/>
          <a:p>
            <a:fld id="{CC8489E5-7C50-5E4B-9836-7DE0079D44EF}" type="datetimeFigureOut">
              <a:rPr lang="en-US" smtClean="0"/>
              <a:t>3/5/2026</a:t>
            </a:fld>
            <a:endParaRPr lang="en-US"/>
          </a:p>
        </p:txBody>
      </p:sp>
      <p:sp>
        <p:nvSpPr>
          <p:cNvPr id="5" name="Footer Placeholder 4">
            <a:extLst>
              <a:ext uri="{FF2B5EF4-FFF2-40B4-BE49-F238E27FC236}">
                <a16:creationId xmlns:a16="http://schemas.microsoft.com/office/drawing/2014/main" id="{C151E875-9168-3E45-9BFC-B4F5A163DE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780B4A-95BD-864D-8820-DF4359B59D09}"/>
              </a:ext>
            </a:extLst>
          </p:cNvPr>
          <p:cNvSpPr>
            <a:spLocks noGrp="1"/>
          </p:cNvSpPr>
          <p:nvPr>
            <p:ph type="sldNum" sz="quarter" idx="12"/>
          </p:nvPr>
        </p:nvSpPr>
        <p:spPr/>
        <p:txBody>
          <a:bodyPr/>
          <a:lstStyle/>
          <a:p>
            <a:fld id="{A2A797C7-DA7F-D44F-A90E-3083FCB703AA}" type="slidenum">
              <a:rPr lang="en-US" smtClean="0"/>
              <a:t>‹#›</a:t>
            </a:fld>
            <a:endParaRPr lang="en-US"/>
          </a:p>
        </p:txBody>
      </p:sp>
    </p:spTree>
    <p:extLst>
      <p:ext uri="{BB962C8B-B14F-4D97-AF65-F5344CB8AC3E}">
        <p14:creationId xmlns:p14="http://schemas.microsoft.com/office/powerpoint/2010/main" val="3951590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81E478-2686-C040-9599-A3DBC14C872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EA1B7F-D8DD-3744-BA3B-5A84F8619F7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957C8D-5E0B-2843-B764-416A6C5A653A}"/>
              </a:ext>
            </a:extLst>
          </p:cNvPr>
          <p:cNvSpPr>
            <a:spLocks noGrp="1"/>
          </p:cNvSpPr>
          <p:nvPr>
            <p:ph type="dt" sz="half" idx="10"/>
          </p:nvPr>
        </p:nvSpPr>
        <p:spPr/>
        <p:txBody>
          <a:bodyPr/>
          <a:lstStyle/>
          <a:p>
            <a:fld id="{CC8489E5-7C50-5E4B-9836-7DE0079D44EF}" type="datetimeFigureOut">
              <a:rPr lang="en-US" smtClean="0"/>
              <a:t>3/5/2026</a:t>
            </a:fld>
            <a:endParaRPr lang="en-US"/>
          </a:p>
        </p:txBody>
      </p:sp>
      <p:sp>
        <p:nvSpPr>
          <p:cNvPr id="5" name="Footer Placeholder 4">
            <a:extLst>
              <a:ext uri="{FF2B5EF4-FFF2-40B4-BE49-F238E27FC236}">
                <a16:creationId xmlns:a16="http://schemas.microsoft.com/office/drawing/2014/main" id="{33FA65F1-5E3E-FD42-82C0-0CAF984A69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FF8B68-CF08-1E40-A24A-3D8F8CB79F20}"/>
              </a:ext>
            </a:extLst>
          </p:cNvPr>
          <p:cNvSpPr>
            <a:spLocks noGrp="1"/>
          </p:cNvSpPr>
          <p:nvPr>
            <p:ph type="sldNum" sz="quarter" idx="12"/>
          </p:nvPr>
        </p:nvSpPr>
        <p:spPr/>
        <p:txBody>
          <a:bodyPr/>
          <a:lstStyle/>
          <a:p>
            <a:fld id="{A2A797C7-DA7F-D44F-A90E-3083FCB703AA}" type="slidenum">
              <a:rPr lang="en-US" smtClean="0"/>
              <a:t>‹#›</a:t>
            </a:fld>
            <a:endParaRPr lang="en-US"/>
          </a:p>
        </p:txBody>
      </p:sp>
    </p:spTree>
    <p:extLst>
      <p:ext uri="{BB962C8B-B14F-4D97-AF65-F5344CB8AC3E}">
        <p14:creationId xmlns:p14="http://schemas.microsoft.com/office/powerpoint/2010/main" val="1910694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B6F4EB-E865-0142-947C-414D2AC795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E5CE89-0EEC-A743-B575-68752AB95E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D077E4-3681-ED43-B61F-EE5E5CABAE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8489E5-7C50-5E4B-9836-7DE0079D44EF}" type="datetimeFigureOut">
              <a:rPr lang="en-US" smtClean="0"/>
              <a:t>3/5/2026</a:t>
            </a:fld>
            <a:endParaRPr lang="en-US"/>
          </a:p>
        </p:txBody>
      </p:sp>
      <p:sp>
        <p:nvSpPr>
          <p:cNvPr id="5" name="Footer Placeholder 4">
            <a:extLst>
              <a:ext uri="{FF2B5EF4-FFF2-40B4-BE49-F238E27FC236}">
                <a16:creationId xmlns:a16="http://schemas.microsoft.com/office/drawing/2014/main" id="{63EA5EA7-D431-494A-ADE9-7F01DF2D69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60CDDDA-26FA-CB47-8F91-F4AD261315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A797C7-DA7F-D44F-A90E-3083FCB703AA}" type="slidenum">
              <a:rPr lang="en-US" smtClean="0"/>
              <a:t>‹#›</a:t>
            </a:fld>
            <a:endParaRPr lang="en-US"/>
          </a:p>
        </p:txBody>
      </p:sp>
    </p:spTree>
    <p:extLst>
      <p:ext uri="{BB962C8B-B14F-4D97-AF65-F5344CB8AC3E}">
        <p14:creationId xmlns:p14="http://schemas.microsoft.com/office/powerpoint/2010/main" val="39999412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trello.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trello.com/" TargetMode="External"/><Relationship Id="rId1" Type="http://schemas.openxmlformats.org/officeDocument/2006/relationships/slideLayout" Target="../slideLayouts/slideLayout2.xml"/><Relationship Id="rId6" Type="http://schemas.openxmlformats.org/officeDocument/2006/relationships/hyperlink" Target="https://trello.com/b/Fg1OBULU/cs-634-example" TargetMode="Externa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simplemind.eu/" TargetMode="External"/><Relationship Id="rId2" Type="http://schemas.openxmlformats.org/officeDocument/2006/relationships/hyperlink" Target="http://freemind.sourceforge.net/wiki/index.php/Main_Page"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www.softwarearchitecturenotes.com/architectureRequirements.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64210" cy="6858000"/>
          </a:xfrm>
          <a:prstGeom prst="rect">
            <a:avLst/>
          </a:prstGeom>
          <a:solidFill>
            <a:srgbClr val="F57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461719" y="0"/>
            <a:ext cx="269929" cy="6858000"/>
          </a:xfrm>
          <a:prstGeom prst="rect">
            <a:avLst/>
          </a:prstGeom>
          <a:solidFill>
            <a:srgbClr val="138B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29157" y="0"/>
            <a:ext cx="180814" cy="6858000"/>
          </a:xfrm>
          <a:prstGeom prst="rect">
            <a:avLst/>
          </a:prstGeom>
          <a:solidFill>
            <a:srgbClr val="28AC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107480" y="0"/>
            <a:ext cx="89116" cy="6858000"/>
          </a:xfrm>
          <a:prstGeom prst="rect">
            <a:avLst/>
          </a:prstGeom>
          <a:solidFill>
            <a:srgbClr val="8EC6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294105" y="5438143"/>
            <a:ext cx="7578671" cy="707886"/>
          </a:xfrm>
          <a:prstGeom prst="rect">
            <a:avLst/>
          </a:prstGeom>
          <a:noFill/>
        </p:spPr>
        <p:txBody>
          <a:bodyPr wrap="square" rtlCol="0">
            <a:spAutoFit/>
          </a:bodyPr>
          <a:lstStyle/>
          <a:p>
            <a:r>
              <a:rPr lang="en-US" sz="4000" dirty="0">
                <a:latin typeface="Futura PT Book" charset="0"/>
                <a:ea typeface="Futura PT Book" charset="0"/>
                <a:cs typeface="Futura PT Book" charset="0"/>
              </a:rPr>
              <a:t>Agile Software Development</a:t>
            </a:r>
          </a:p>
        </p:txBody>
      </p:sp>
      <p:sp>
        <p:nvSpPr>
          <p:cNvPr id="14" name="TextBox 13"/>
          <p:cNvSpPr txBox="1"/>
          <p:nvPr/>
        </p:nvSpPr>
        <p:spPr>
          <a:xfrm>
            <a:off x="1294105" y="6086181"/>
            <a:ext cx="6554843" cy="338554"/>
          </a:xfrm>
          <a:prstGeom prst="rect">
            <a:avLst/>
          </a:prstGeom>
          <a:noFill/>
        </p:spPr>
        <p:txBody>
          <a:bodyPr wrap="square" rtlCol="0">
            <a:spAutoFit/>
          </a:bodyPr>
          <a:lstStyle/>
          <a:p>
            <a:r>
              <a:rPr lang="en-US" sz="1600" spc="300" dirty="0">
                <a:latin typeface="Futura PT Book" charset="0"/>
                <a:ea typeface="Futura PT Book" charset="0"/>
                <a:cs typeface="Futura PT Book" charset="0"/>
              </a:rPr>
              <a:t>MET CS 634</a:t>
            </a:r>
          </a:p>
        </p:txBody>
      </p:sp>
      <p:sp>
        <p:nvSpPr>
          <p:cNvPr id="9" name="TextBox 8"/>
          <p:cNvSpPr txBox="1"/>
          <p:nvPr/>
        </p:nvSpPr>
        <p:spPr>
          <a:xfrm>
            <a:off x="1294105" y="3590630"/>
            <a:ext cx="10468405" cy="1446550"/>
          </a:xfrm>
          <a:prstGeom prst="rect">
            <a:avLst/>
          </a:prstGeom>
          <a:noFill/>
        </p:spPr>
        <p:txBody>
          <a:bodyPr wrap="square" rtlCol="0">
            <a:spAutoFit/>
          </a:bodyPr>
          <a:lstStyle/>
          <a:p>
            <a:r>
              <a:rPr lang="en-US" sz="6000" dirty="0">
                <a:latin typeface="+mj-lt"/>
              </a:rPr>
              <a:t>Shaping the </a:t>
            </a:r>
            <a:r>
              <a:rPr lang="en-US" sz="6000" b="1" dirty="0">
                <a:solidFill>
                  <a:schemeClr val="accent2"/>
                </a:solidFill>
                <a:latin typeface="+mj-lt"/>
              </a:rPr>
              <a:t>Product Roadmap</a:t>
            </a:r>
          </a:p>
          <a:p>
            <a:r>
              <a:rPr lang="en-US" sz="2800" b="1" dirty="0">
                <a:latin typeface="+mj-lt"/>
              </a:rPr>
              <a:t>Assignment 3 Guidance</a:t>
            </a:r>
          </a:p>
        </p:txBody>
      </p:sp>
    </p:spTree>
    <p:extLst>
      <p:ext uri="{BB962C8B-B14F-4D97-AF65-F5344CB8AC3E}">
        <p14:creationId xmlns:p14="http://schemas.microsoft.com/office/powerpoint/2010/main" val="1191998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441593-397A-B641-A941-D9E4E606C416}"/>
              </a:ext>
            </a:extLst>
          </p:cNvPr>
          <p:cNvSpPr/>
          <p:nvPr/>
        </p:nvSpPr>
        <p:spPr>
          <a:xfrm>
            <a:off x="365760" y="2072103"/>
            <a:ext cx="3505200" cy="2913618"/>
          </a:xfrm>
          <a:prstGeom prst="rect">
            <a:avLst/>
          </a:prstGeom>
        </p:spPr>
        <p:txBody>
          <a:bodyPr wrap="square">
            <a:spAutoFit/>
          </a:bodyPr>
          <a:lstStyle/>
          <a:p>
            <a:pPr fontAlgn="base">
              <a:lnSpc>
                <a:spcPts val="2040"/>
              </a:lnSpc>
              <a:spcAft>
                <a:spcPts val="2025"/>
              </a:spcAft>
            </a:pPr>
            <a:r>
              <a:rPr lang="en-US"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In this assignment, you’ll identify the overall user flows for your site, set up an initial backlog and roadmap, and </a:t>
            </a:r>
            <a:r>
              <a:rPr lang="en-US" b="1"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optionally</a:t>
            </a:r>
            <a:r>
              <a:rPr lang="en-US"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 create a content map to highlight the assets you will want to gather in support of your design. </a:t>
            </a:r>
            <a:endParaRPr lang="en-US" sz="2000" dirty="0">
              <a:effectLst/>
              <a:latin typeface="Futura PT Book" panose="020B0502020204020303" pitchFamily="34" charset="77"/>
              <a:ea typeface="Calibri" panose="020F0502020204030204" pitchFamily="34" charset="0"/>
              <a:cs typeface="Times New Roman" panose="02020603050405020304" pitchFamily="18" charset="0"/>
            </a:endParaRPr>
          </a:p>
          <a:p>
            <a:pPr fontAlgn="base">
              <a:lnSpc>
                <a:spcPts val="2040"/>
              </a:lnSpc>
            </a:pPr>
            <a:r>
              <a:rPr lang="en-US"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Set up a </a:t>
            </a:r>
            <a:r>
              <a:rPr lang="en-US" b="1" dirty="0">
                <a:solidFill>
                  <a:srgbClr val="F68060"/>
                </a:solidFill>
                <a:latin typeface="Futura PT Book" panose="020B0502020204020303" pitchFamily="34" charset="77"/>
                <a:ea typeface="Times New Roman" panose="02020603050405020304" pitchFamily="18" charset="0"/>
                <a:cs typeface="Times New Roman" panose="02020603050405020304" pitchFamily="18" charset="0"/>
                <a:hlinkClick r:id="rId2"/>
              </a:rPr>
              <a:t>Trello</a:t>
            </a:r>
            <a:r>
              <a:rPr lang="en-US"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 board for your course project.</a:t>
            </a:r>
            <a:endParaRPr lang="en-US" sz="2000" dirty="0">
              <a:effectLst/>
              <a:latin typeface="Futura PT Book" panose="020B0502020204020303" pitchFamily="34" charset="77"/>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0ECD31AF-9B2F-F94A-81B1-2CDF00FFFAF0}"/>
              </a:ext>
            </a:extLst>
          </p:cNvPr>
          <p:cNvSpPr txBox="1"/>
          <p:nvPr/>
        </p:nvSpPr>
        <p:spPr>
          <a:xfrm>
            <a:off x="365760" y="459867"/>
            <a:ext cx="3078480" cy="1200329"/>
          </a:xfrm>
          <a:prstGeom prst="rect">
            <a:avLst/>
          </a:prstGeom>
          <a:noFill/>
        </p:spPr>
        <p:txBody>
          <a:bodyPr wrap="square" rtlCol="0">
            <a:spAutoFit/>
          </a:bodyPr>
          <a:lstStyle/>
          <a:p>
            <a:r>
              <a:rPr lang="en-US" sz="3600" dirty="0">
                <a:latin typeface="Futura PT Book" panose="020B0502020204020303" pitchFamily="34" charset="77"/>
              </a:rPr>
              <a:t>Assignment Overview</a:t>
            </a:r>
          </a:p>
        </p:txBody>
      </p:sp>
      <p:sp>
        <p:nvSpPr>
          <p:cNvPr id="7" name="Rectangle 6">
            <a:extLst>
              <a:ext uri="{FF2B5EF4-FFF2-40B4-BE49-F238E27FC236}">
                <a16:creationId xmlns:a16="http://schemas.microsoft.com/office/drawing/2014/main" id="{9DEFB272-2CB7-844F-AE8A-5954F6904930}"/>
              </a:ext>
            </a:extLst>
          </p:cNvPr>
          <p:cNvSpPr/>
          <p:nvPr/>
        </p:nvSpPr>
        <p:spPr>
          <a:xfrm>
            <a:off x="4831079" y="361977"/>
            <a:ext cx="5558773" cy="6401753"/>
          </a:xfrm>
          <a:prstGeom prst="rect">
            <a:avLst/>
          </a:prstGeom>
        </p:spPr>
        <p:txBody>
          <a:bodyPr wrap="square">
            <a:spAutoFit/>
          </a:bodyPr>
          <a:lstStyle/>
          <a:p>
            <a:pPr fontAlgn="base">
              <a:lnSpc>
                <a:spcPts val="2040"/>
              </a:lnSpc>
              <a:spcAft>
                <a:spcPts val="1200"/>
              </a:spcAft>
            </a:pPr>
            <a:r>
              <a:rPr lang="en-US" sz="1600" b="1" cap="all" spc="75"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ASSIGNMENT COMPONENTS</a:t>
            </a:r>
            <a:endParaRPr lang="en-US" dirty="0">
              <a:effectLst/>
              <a:latin typeface="Futura PT Book" panose="020B0502020204020303" pitchFamily="34" charset="77"/>
              <a:ea typeface="Calibri" panose="020F0502020204030204" pitchFamily="34" charset="0"/>
              <a:cs typeface="Times New Roman" panose="02020603050405020304" pitchFamily="18" charset="0"/>
            </a:endParaRPr>
          </a:p>
          <a:p>
            <a:pPr fontAlgn="base">
              <a:lnSpc>
                <a:spcPts val="2040"/>
              </a:lnSpc>
              <a:spcAft>
                <a:spcPts val="1200"/>
              </a:spcAft>
            </a:pPr>
            <a:r>
              <a:rPr lang="en-US" sz="1600" u="sng" cap="all" spc="75" dirty="0">
                <a:solidFill>
                  <a:srgbClr val="333333"/>
                </a:solidFill>
                <a:effectLst/>
                <a:latin typeface="Futura PT Book" panose="020B0502020204020303" pitchFamily="34" charset="77"/>
                <a:ea typeface="Times New Roman" panose="02020603050405020304" pitchFamily="18" charset="0"/>
                <a:cs typeface="Times New Roman" panose="02020603050405020304" pitchFamily="18" charset="0"/>
              </a:rPr>
              <a:t>SITE FLOWS (50 POINTS)</a:t>
            </a:r>
            <a:endParaRPr lang="en-US" sz="3200" u="sng" dirty="0">
              <a:effectLst/>
              <a:latin typeface="Futura PT Book" panose="020B0502020204020303" pitchFamily="34" charset="77"/>
              <a:ea typeface="Calibri" panose="020F0502020204030204" pitchFamily="34" charset="0"/>
              <a:cs typeface="Times New Roman" panose="02020603050405020304" pitchFamily="18" charset="0"/>
            </a:endParaRPr>
          </a:p>
          <a:p>
            <a:pPr fontAlgn="base">
              <a:lnSpc>
                <a:spcPts val="2040"/>
              </a:lnSpc>
              <a:spcAft>
                <a:spcPts val="2025"/>
              </a:spcAft>
            </a:pPr>
            <a:r>
              <a:rPr lang="en-US" sz="1600"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Start with your personas and refer to your vision statement. Consider the following:</a:t>
            </a:r>
            <a:endParaRPr lang="en-US" dirty="0">
              <a:effectLst/>
              <a:latin typeface="Futura PT Book" panose="020B0502020204020303" pitchFamily="34" charset="77"/>
              <a:ea typeface="Calibri" panose="020F0502020204030204" pitchFamily="34" charset="0"/>
              <a:cs typeface="Times New Roman" panose="02020603050405020304" pitchFamily="18" charset="0"/>
            </a:endParaRPr>
          </a:p>
          <a:p>
            <a:pPr marL="342900" marR="0" lvl="0" indent="-342900" fontAlgn="base">
              <a:lnSpc>
                <a:spcPts val="2040"/>
              </a:lnSpc>
              <a:spcBef>
                <a:spcPts val="0"/>
              </a:spcBef>
              <a:spcAft>
                <a:spcPts val="0"/>
              </a:spcAft>
              <a:buSzPts val="1000"/>
              <a:buFont typeface="Symbol" pitchFamily="2" charset="2"/>
              <a:buChar char=""/>
              <a:tabLst>
                <a:tab pos="457200" algn="l"/>
              </a:tabLst>
            </a:pPr>
            <a:r>
              <a:rPr lang="en-US" sz="1600"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What are the primary activities (capabilities) your users are performing on the site?  </a:t>
            </a:r>
            <a:endParaRPr lang="en-US" dirty="0">
              <a:effectLst/>
              <a:latin typeface="Futura PT Book" panose="020B0502020204020303" pitchFamily="34" charset="77"/>
              <a:ea typeface="Calibri" panose="020F0502020204030204" pitchFamily="34" charset="0"/>
              <a:cs typeface="Times New Roman" panose="02020603050405020304" pitchFamily="18" charset="0"/>
            </a:endParaRPr>
          </a:p>
          <a:p>
            <a:pPr marL="342900" marR="0" lvl="0" indent="-342900" fontAlgn="base">
              <a:lnSpc>
                <a:spcPts val="2040"/>
              </a:lnSpc>
              <a:spcBef>
                <a:spcPts val="0"/>
              </a:spcBef>
              <a:spcAft>
                <a:spcPts val="0"/>
              </a:spcAft>
              <a:buSzPts val="1000"/>
              <a:buFont typeface="Symbol" pitchFamily="2" charset="2"/>
              <a:buChar char=""/>
              <a:tabLst>
                <a:tab pos="457200" algn="l"/>
              </a:tabLst>
            </a:pPr>
            <a:r>
              <a:rPr lang="en-US" sz="1600"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What are the steps your users are taking to complete those actions?</a:t>
            </a:r>
          </a:p>
          <a:p>
            <a:pPr marR="0" lvl="0" fontAlgn="base">
              <a:lnSpc>
                <a:spcPts val="2040"/>
              </a:lnSpc>
              <a:spcBef>
                <a:spcPts val="0"/>
              </a:spcBef>
              <a:spcAft>
                <a:spcPts val="0"/>
              </a:spcAft>
              <a:buSzPts val="1000"/>
              <a:tabLst>
                <a:tab pos="457200" algn="l"/>
              </a:tabLst>
            </a:pPr>
            <a:r>
              <a:rPr lang="en-US" sz="1600" dirty="0">
                <a:solidFill>
                  <a:srgbClr val="333333"/>
                </a:solidFill>
                <a:effectLst/>
                <a:latin typeface="Futura PT Book" panose="020B0502020204020303" pitchFamily="34" charset="77"/>
                <a:ea typeface="Calibri" panose="020F0502020204030204" pitchFamily="34" charset="0"/>
                <a:cs typeface="Times New Roman" panose="02020603050405020304" pitchFamily="18" charset="0"/>
              </a:rPr>
              <a:t>Create user flo</a:t>
            </a:r>
            <a:r>
              <a:rPr lang="en-US" sz="1600" dirty="0">
                <a:solidFill>
                  <a:srgbClr val="333333"/>
                </a:solidFill>
                <a:latin typeface="Futura PT Book" panose="020B0502020204020303" pitchFamily="34" charset="77"/>
                <a:ea typeface="Calibri" panose="020F0502020204030204" pitchFamily="34" charset="0"/>
                <a:cs typeface="Times New Roman" panose="02020603050405020304" pitchFamily="18" charset="0"/>
              </a:rPr>
              <a:t>ws (template provided)</a:t>
            </a:r>
            <a:endParaRPr lang="en-US" dirty="0">
              <a:effectLst/>
              <a:latin typeface="Futura PT Book" panose="020B0502020204020303" pitchFamily="34" charset="77"/>
              <a:ea typeface="Calibri" panose="020F0502020204030204" pitchFamily="34" charset="0"/>
              <a:cs typeface="Times New Roman" panose="02020603050405020304" pitchFamily="18" charset="0"/>
            </a:endParaRPr>
          </a:p>
          <a:p>
            <a:pPr fontAlgn="base">
              <a:lnSpc>
                <a:spcPts val="2040"/>
              </a:lnSpc>
              <a:spcBef>
                <a:spcPts val="1200"/>
              </a:spcBef>
              <a:spcAft>
                <a:spcPts val="1200"/>
              </a:spcAft>
            </a:pPr>
            <a:r>
              <a:rPr lang="en-US" sz="1600" u="sng" cap="all" spc="75" dirty="0">
                <a:solidFill>
                  <a:srgbClr val="333333"/>
                </a:solidFill>
                <a:effectLst/>
                <a:latin typeface="Futura PT Book" panose="020B0502020204020303" pitchFamily="34" charset="77"/>
                <a:ea typeface="Times New Roman" panose="02020603050405020304" pitchFamily="18" charset="0"/>
                <a:cs typeface="Times New Roman" panose="02020603050405020304" pitchFamily="18" charset="0"/>
              </a:rPr>
              <a:t>BACKLOG &amp; ROADMAP (50 POINTS)</a:t>
            </a:r>
            <a:endParaRPr lang="en-US" sz="3200" u="sng" dirty="0">
              <a:effectLst/>
              <a:latin typeface="Futura PT Book" panose="020B0502020204020303" pitchFamily="34" charset="77"/>
              <a:ea typeface="Calibri" panose="020F0502020204030204" pitchFamily="34" charset="0"/>
              <a:cs typeface="Times New Roman" panose="02020603050405020304" pitchFamily="18" charset="0"/>
            </a:endParaRPr>
          </a:p>
          <a:p>
            <a:pPr marL="342900" marR="0" lvl="0" indent="-342900" fontAlgn="base">
              <a:lnSpc>
                <a:spcPts val="2040"/>
              </a:lnSpc>
              <a:spcBef>
                <a:spcPts val="0"/>
              </a:spcBef>
              <a:spcAft>
                <a:spcPts val="0"/>
              </a:spcAft>
              <a:buSzPts val="1000"/>
              <a:buFont typeface="Symbol" pitchFamily="2" charset="2"/>
              <a:buChar char=""/>
              <a:tabLst>
                <a:tab pos="457200" algn="l"/>
              </a:tabLst>
            </a:pPr>
            <a:r>
              <a:rPr lang="en-US" sz="1600"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From your user flows, create a backlog of capabilities.</a:t>
            </a:r>
          </a:p>
          <a:p>
            <a:pPr marL="342900" marR="0" lvl="0" indent="-342900" fontAlgn="base">
              <a:lnSpc>
                <a:spcPts val="2040"/>
              </a:lnSpc>
              <a:spcBef>
                <a:spcPts val="0"/>
              </a:spcBef>
              <a:spcAft>
                <a:spcPts val="0"/>
              </a:spcAft>
              <a:buSzPts val="1000"/>
              <a:buFont typeface="Symbol" pitchFamily="2" charset="2"/>
              <a:buChar char=""/>
              <a:tabLst>
                <a:tab pos="457200" algn="l"/>
              </a:tabLst>
            </a:pPr>
            <a:r>
              <a:rPr lang="en-US" sz="1600"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Frame your capabilities in active voice.</a:t>
            </a:r>
            <a:endParaRPr lang="en-US" dirty="0">
              <a:effectLst/>
              <a:latin typeface="Futura PT Book" panose="020B0502020204020303" pitchFamily="34" charset="77"/>
              <a:ea typeface="Calibri" panose="020F0502020204030204" pitchFamily="34" charset="0"/>
              <a:cs typeface="Times New Roman" panose="02020603050405020304" pitchFamily="18" charset="0"/>
            </a:endParaRPr>
          </a:p>
          <a:p>
            <a:pPr marL="342900" marR="0" lvl="0" indent="-342900" fontAlgn="base">
              <a:lnSpc>
                <a:spcPts val="2040"/>
              </a:lnSpc>
              <a:spcBef>
                <a:spcPts val="0"/>
              </a:spcBef>
              <a:spcAft>
                <a:spcPts val="0"/>
              </a:spcAft>
              <a:buSzPts val="1000"/>
              <a:buFont typeface="Symbol" pitchFamily="2" charset="2"/>
              <a:buChar char=""/>
              <a:tabLst>
                <a:tab pos="457200" algn="l"/>
              </a:tabLst>
            </a:pPr>
            <a:r>
              <a:rPr lang="en-US" sz="1600"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Prioritize your backlog and organize into a product roadmap, showing items in the first 2-3 releases. </a:t>
            </a:r>
          </a:p>
          <a:p>
            <a:pPr marR="0" lvl="0" fontAlgn="base">
              <a:lnSpc>
                <a:spcPts val="2040"/>
              </a:lnSpc>
              <a:spcBef>
                <a:spcPts val="0"/>
              </a:spcBef>
              <a:spcAft>
                <a:spcPts val="0"/>
              </a:spcAft>
              <a:buSzPts val="1000"/>
              <a:tabLst>
                <a:tab pos="457200" algn="l"/>
              </a:tabLst>
            </a:pPr>
            <a:endParaRPr lang="en-US" sz="1600"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endParaRPr>
          </a:p>
          <a:p>
            <a:pPr fontAlgn="base">
              <a:lnSpc>
                <a:spcPts val="2040"/>
              </a:lnSpc>
              <a:spcBef>
                <a:spcPts val="1200"/>
              </a:spcBef>
              <a:spcAft>
                <a:spcPts val="1200"/>
              </a:spcAft>
            </a:pPr>
            <a:r>
              <a:rPr lang="en-US" sz="1600" u="sng" cap="all" spc="75" dirty="0">
                <a:solidFill>
                  <a:srgbClr val="333333"/>
                </a:solidFill>
                <a:effectLst/>
                <a:latin typeface="Futura PT Book" panose="020B0502020204020303" pitchFamily="34" charset="77"/>
                <a:ea typeface="Times New Roman" panose="02020603050405020304" pitchFamily="18" charset="0"/>
                <a:cs typeface="Times New Roman" panose="02020603050405020304" pitchFamily="18" charset="0"/>
              </a:rPr>
              <a:t>CONTENT MAP (extra credit: 5% of course grade)</a:t>
            </a:r>
            <a:endParaRPr lang="en-US" sz="1600" u="sng" dirty="0">
              <a:effectLst/>
              <a:latin typeface="Futura PT Book" panose="020B0502020204020303" pitchFamily="34" charset="77"/>
              <a:ea typeface="Calibri" panose="020F0502020204030204" pitchFamily="34" charset="0"/>
              <a:cs typeface="Times New Roman" panose="02020603050405020304" pitchFamily="18" charset="0"/>
            </a:endParaRPr>
          </a:p>
          <a:p>
            <a:pPr fontAlgn="base">
              <a:lnSpc>
                <a:spcPts val="2040"/>
              </a:lnSpc>
              <a:spcAft>
                <a:spcPts val="1200"/>
              </a:spcAft>
            </a:pPr>
            <a:r>
              <a:rPr lang="en-US" sz="1800"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Use a mind mapping tool to determine the type of content and assets needed to support your backlog (text, images, video, audio, graphics, etc.)</a:t>
            </a:r>
            <a:endParaRPr lang="en-US" sz="1800" dirty="0">
              <a:effectLst/>
              <a:latin typeface="Futura PT Book" panose="020B0502020204020303" pitchFamily="34" charset="77"/>
              <a:ea typeface="Calibri" panose="020F0502020204030204" pitchFamily="34"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0F787600-ACFD-B64B-8CE3-49806EFFD767}"/>
              </a:ext>
            </a:extLst>
          </p:cNvPr>
          <p:cNvCxnSpPr/>
          <p:nvPr/>
        </p:nvCxnSpPr>
        <p:spPr>
          <a:xfrm>
            <a:off x="4671060" y="520570"/>
            <a:ext cx="0" cy="6078093"/>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E69769E-5450-AF49-864B-2C4B72D1A403}"/>
              </a:ext>
            </a:extLst>
          </p:cNvPr>
          <p:cNvSpPr txBox="1"/>
          <p:nvPr/>
        </p:nvSpPr>
        <p:spPr>
          <a:xfrm>
            <a:off x="10146030" y="1407872"/>
            <a:ext cx="1680210" cy="584775"/>
          </a:xfrm>
          <a:prstGeom prst="rect">
            <a:avLst/>
          </a:prstGeom>
          <a:solidFill>
            <a:schemeClr val="accent2">
              <a:lumMod val="20000"/>
              <a:lumOff val="80000"/>
            </a:schemeClr>
          </a:solidFill>
          <a:ln w="28575">
            <a:solidFill>
              <a:schemeClr val="accent2"/>
            </a:solidFill>
          </a:ln>
        </p:spPr>
        <p:txBody>
          <a:bodyPr wrap="square" rtlCol="0">
            <a:spAutoFit/>
          </a:bodyPr>
          <a:lstStyle/>
          <a:p>
            <a:r>
              <a:rPr lang="en-US" sz="1600" dirty="0">
                <a:latin typeface="Futura PT Book" panose="020B0502020204020303" pitchFamily="34" charset="77"/>
              </a:rPr>
              <a:t>Create at least FIVE flows</a:t>
            </a:r>
          </a:p>
        </p:txBody>
      </p:sp>
      <p:sp>
        <p:nvSpPr>
          <p:cNvPr id="12" name="Oval 11">
            <a:extLst>
              <a:ext uri="{FF2B5EF4-FFF2-40B4-BE49-F238E27FC236}">
                <a16:creationId xmlns:a16="http://schemas.microsoft.com/office/drawing/2014/main" id="{F8B3B286-F355-ED46-A883-0887DC1E573A}"/>
              </a:ext>
            </a:extLst>
          </p:cNvPr>
          <p:cNvSpPr/>
          <p:nvPr/>
        </p:nvSpPr>
        <p:spPr>
          <a:xfrm>
            <a:off x="4206240" y="783032"/>
            <a:ext cx="624840" cy="624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Futura PT Book" panose="020B0502020204020303" pitchFamily="34" charset="77"/>
              </a:rPr>
              <a:t>1</a:t>
            </a:r>
          </a:p>
        </p:txBody>
      </p:sp>
      <p:sp>
        <p:nvSpPr>
          <p:cNvPr id="13" name="Oval 12">
            <a:extLst>
              <a:ext uri="{FF2B5EF4-FFF2-40B4-BE49-F238E27FC236}">
                <a16:creationId xmlns:a16="http://schemas.microsoft.com/office/drawing/2014/main" id="{74C54B29-C28F-DE4D-ABB6-3D2F9A7C1DE5}"/>
              </a:ext>
            </a:extLst>
          </p:cNvPr>
          <p:cNvSpPr/>
          <p:nvPr/>
        </p:nvSpPr>
        <p:spPr>
          <a:xfrm>
            <a:off x="4206240" y="3247196"/>
            <a:ext cx="624840" cy="624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Futura PT Book" panose="020B0502020204020303" pitchFamily="34" charset="77"/>
              </a:rPr>
              <a:t>2</a:t>
            </a:r>
          </a:p>
        </p:txBody>
      </p:sp>
      <p:sp>
        <p:nvSpPr>
          <p:cNvPr id="14" name="Oval 13">
            <a:extLst>
              <a:ext uri="{FF2B5EF4-FFF2-40B4-BE49-F238E27FC236}">
                <a16:creationId xmlns:a16="http://schemas.microsoft.com/office/drawing/2014/main" id="{B3439E7F-B928-BF43-BAD6-E3F2407A3C03}"/>
              </a:ext>
            </a:extLst>
          </p:cNvPr>
          <p:cNvSpPr/>
          <p:nvPr/>
        </p:nvSpPr>
        <p:spPr>
          <a:xfrm>
            <a:off x="4206240" y="5288021"/>
            <a:ext cx="624840" cy="624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Futura PT Book" panose="020B0502020204020303" pitchFamily="34" charset="77"/>
              </a:rPr>
              <a:t>3</a:t>
            </a:r>
          </a:p>
        </p:txBody>
      </p:sp>
    </p:spTree>
    <p:extLst>
      <p:ext uri="{BB962C8B-B14F-4D97-AF65-F5344CB8AC3E}">
        <p14:creationId xmlns:p14="http://schemas.microsoft.com/office/powerpoint/2010/main" val="3140903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5CDF60-E9BB-8F4A-9A74-224059C1A45F}"/>
              </a:ext>
            </a:extLst>
          </p:cNvPr>
          <p:cNvSpPr/>
          <p:nvPr/>
        </p:nvSpPr>
        <p:spPr>
          <a:xfrm>
            <a:off x="4124200" y="247178"/>
            <a:ext cx="1487114" cy="6473752"/>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844935" y="287173"/>
            <a:ext cx="2030160" cy="871842"/>
          </a:xfrm>
          <a:prstGeom prst="rect">
            <a:avLst/>
          </a:prstGeom>
          <a:noFill/>
        </p:spPr>
        <p:txBody>
          <a:bodyPr wrap="square" rtlCol="0">
            <a:spAutoFit/>
          </a:bodyPr>
          <a:lstStyle/>
          <a:p>
            <a:pPr>
              <a:lnSpc>
                <a:spcPct val="90000"/>
              </a:lnSpc>
            </a:pPr>
            <a:r>
              <a:rPr lang="en-US" sz="2800" b="1" spc="100" dirty="0">
                <a:solidFill>
                  <a:srgbClr val="138B91"/>
                </a:solidFill>
                <a:latin typeface="Futura PT Book" charset="0"/>
                <a:ea typeface="Futura PT Book" charset="0"/>
                <a:cs typeface="Futura PT Book" charset="0"/>
              </a:rPr>
              <a:t>Create User Flows</a:t>
            </a:r>
            <a:endParaRPr lang="en-US" sz="2000" b="1" spc="100" dirty="0">
              <a:solidFill>
                <a:srgbClr val="138B91"/>
              </a:solidFill>
              <a:latin typeface="Futura PT Book" charset="0"/>
              <a:ea typeface="Futura PT Book" charset="0"/>
              <a:cs typeface="Futura PT Book" charset="0"/>
            </a:endParaRPr>
          </a:p>
        </p:txBody>
      </p:sp>
      <p:sp>
        <p:nvSpPr>
          <p:cNvPr id="25" name="Rectangle 24"/>
          <p:cNvSpPr/>
          <p:nvPr/>
        </p:nvSpPr>
        <p:spPr>
          <a:xfrm>
            <a:off x="6246694" y="247178"/>
            <a:ext cx="1775202" cy="723135"/>
          </a:xfrm>
          <a:prstGeom prst="rect">
            <a:avLst/>
          </a:prstGeom>
          <a:solidFill>
            <a:srgbClr val="000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Futura PT Book" charset="0"/>
                <a:ea typeface="Futura PT Book" charset="0"/>
                <a:cs typeface="Futura PT Book" charset="0"/>
              </a:rPr>
              <a:t>Purchase tickets</a:t>
            </a:r>
          </a:p>
        </p:txBody>
      </p:sp>
      <p:sp>
        <p:nvSpPr>
          <p:cNvPr id="32" name="Rectangle 31"/>
          <p:cNvSpPr/>
          <p:nvPr/>
        </p:nvSpPr>
        <p:spPr>
          <a:xfrm>
            <a:off x="10069896" y="1134173"/>
            <a:ext cx="1775202" cy="656527"/>
          </a:xfrm>
          <a:prstGeom prst="rect">
            <a:avLst/>
          </a:prstGeom>
          <a:solidFill>
            <a:srgbClr val="138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Futura PT Book" charset="0"/>
                <a:ea typeface="Futura PT Book" charset="0"/>
                <a:cs typeface="Futura PT Book" charset="0"/>
              </a:rPr>
              <a:t>Complete purchase</a:t>
            </a:r>
          </a:p>
        </p:txBody>
      </p:sp>
      <p:sp>
        <p:nvSpPr>
          <p:cNvPr id="33" name="Rectangle 32"/>
          <p:cNvSpPr/>
          <p:nvPr/>
        </p:nvSpPr>
        <p:spPr>
          <a:xfrm>
            <a:off x="6246694" y="1134173"/>
            <a:ext cx="1775202" cy="656527"/>
          </a:xfrm>
          <a:prstGeom prst="rect">
            <a:avLst/>
          </a:prstGeom>
          <a:solidFill>
            <a:srgbClr val="138B91"/>
          </a:solidFill>
          <a:ln>
            <a:no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Futura PT Book" charset="0"/>
                <a:ea typeface="Futura PT Book" charset="0"/>
                <a:cs typeface="Futura PT Book" charset="0"/>
              </a:rPr>
              <a:t>Select event</a:t>
            </a:r>
          </a:p>
        </p:txBody>
      </p:sp>
      <p:sp>
        <p:nvSpPr>
          <p:cNvPr id="34" name="Rectangle 33"/>
          <p:cNvSpPr/>
          <p:nvPr/>
        </p:nvSpPr>
        <p:spPr>
          <a:xfrm>
            <a:off x="8158139" y="1134173"/>
            <a:ext cx="1775202" cy="656527"/>
          </a:xfrm>
          <a:prstGeom prst="rect">
            <a:avLst/>
          </a:prstGeom>
          <a:solidFill>
            <a:srgbClr val="138B91"/>
          </a:solidFill>
          <a:ln>
            <a:no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Futura PT Book" charset="0"/>
                <a:ea typeface="Futura PT Book" charset="0"/>
                <a:cs typeface="Futura PT Book" charset="0"/>
              </a:rPr>
              <a:t>Create user profile</a:t>
            </a:r>
          </a:p>
        </p:txBody>
      </p:sp>
      <p:sp>
        <p:nvSpPr>
          <p:cNvPr id="35" name="Rectangle 34"/>
          <p:cNvSpPr/>
          <p:nvPr/>
        </p:nvSpPr>
        <p:spPr>
          <a:xfrm>
            <a:off x="8171485" y="2103644"/>
            <a:ext cx="1775202" cy="478720"/>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Provide name</a:t>
            </a:r>
          </a:p>
        </p:txBody>
      </p:sp>
      <p:cxnSp>
        <p:nvCxnSpPr>
          <p:cNvPr id="37" name="Straight Arrow Connector 36"/>
          <p:cNvCxnSpPr>
            <a:cxnSpLocks/>
          </p:cNvCxnSpPr>
          <p:nvPr/>
        </p:nvCxnSpPr>
        <p:spPr>
          <a:xfrm>
            <a:off x="6172199" y="1937900"/>
            <a:ext cx="5672899" cy="0"/>
          </a:xfrm>
          <a:prstGeom prst="straightConnector1">
            <a:avLst/>
          </a:prstGeom>
          <a:ln w="38100" cmpd="sng">
            <a:solidFill>
              <a:srgbClr val="000090"/>
            </a:solidFill>
            <a:tailEnd type="arrow"/>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8171485" y="2644656"/>
            <a:ext cx="1775202" cy="462694"/>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Provide email</a:t>
            </a:r>
          </a:p>
        </p:txBody>
      </p:sp>
      <p:sp>
        <p:nvSpPr>
          <p:cNvPr id="41" name="TextBox 40"/>
          <p:cNvSpPr txBox="1"/>
          <p:nvPr/>
        </p:nvSpPr>
        <p:spPr>
          <a:xfrm>
            <a:off x="7758920" y="275520"/>
            <a:ext cx="4288113" cy="584775"/>
          </a:xfrm>
          <a:prstGeom prst="rect">
            <a:avLst/>
          </a:prstGeom>
          <a:noFill/>
          <a:ln>
            <a:noFill/>
          </a:ln>
        </p:spPr>
        <p:txBody>
          <a:bodyPr wrap="square" rtlCol="0">
            <a:spAutoFit/>
          </a:bodyPr>
          <a:lstStyle/>
          <a:p>
            <a:pPr algn="r"/>
            <a:r>
              <a:rPr lang="en-US" sz="1600" b="1" dirty="0">
                <a:latin typeface="Futura PT Book" charset="0"/>
                <a:ea typeface="Futura PT Book" charset="0"/>
                <a:cs typeface="Futura PT Book" charset="0"/>
              </a:rPr>
              <a:t>Tip: </a:t>
            </a:r>
            <a:r>
              <a:rPr lang="en-US" sz="1600" dirty="0">
                <a:latin typeface="Futura PT Book" charset="0"/>
                <a:ea typeface="Futura PT Book" charset="0"/>
                <a:cs typeface="Futura PT Book" charset="0"/>
              </a:rPr>
              <a:t>Keep your capability &amp; feature information </a:t>
            </a:r>
            <a:r>
              <a:rPr lang="en-US" sz="1600" b="1" dirty="0">
                <a:latin typeface="Futura PT Book" charset="0"/>
                <a:ea typeface="Futura PT Book" charset="0"/>
                <a:cs typeface="Futura PT Book" charset="0"/>
              </a:rPr>
              <a:t>action-oriented</a:t>
            </a:r>
          </a:p>
        </p:txBody>
      </p:sp>
      <p:sp>
        <p:nvSpPr>
          <p:cNvPr id="42" name="Rectangle 41"/>
          <p:cNvSpPr/>
          <p:nvPr/>
        </p:nvSpPr>
        <p:spPr>
          <a:xfrm>
            <a:off x="8171485" y="3681913"/>
            <a:ext cx="1775202" cy="448310"/>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Provide payment method</a:t>
            </a:r>
          </a:p>
        </p:txBody>
      </p:sp>
      <p:sp>
        <p:nvSpPr>
          <p:cNvPr id="43" name="TextBox 42"/>
          <p:cNvSpPr txBox="1"/>
          <p:nvPr/>
        </p:nvSpPr>
        <p:spPr>
          <a:xfrm>
            <a:off x="4234875" y="444450"/>
            <a:ext cx="1445645" cy="369332"/>
          </a:xfrm>
          <a:prstGeom prst="rect">
            <a:avLst/>
          </a:prstGeom>
          <a:noFill/>
        </p:spPr>
        <p:txBody>
          <a:bodyPr wrap="square" rtlCol="0">
            <a:spAutoFit/>
          </a:bodyPr>
          <a:lstStyle/>
          <a:p>
            <a:r>
              <a:rPr lang="en-US" b="1" dirty="0">
                <a:solidFill>
                  <a:schemeClr val="bg1"/>
                </a:solidFill>
                <a:latin typeface="Futura PT Book" charset="0"/>
                <a:ea typeface="Futura PT Book" charset="0"/>
                <a:cs typeface="Futura PT Book" charset="0"/>
              </a:rPr>
              <a:t>Capability</a:t>
            </a:r>
          </a:p>
        </p:txBody>
      </p:sp>
      <p:sp>
        <p:nvSpPr>
          <p:cNvPr id="44" name="TextBox 43"/>
          <p:cNvSpPr txBox="1"/>
          <p:nvPr/>
        </p:nvSpPr>
        <p:spPr>
          <a:xfrm>
            <a:off x="4317856" y="2482246"/>
            <a:ext cx="1336226" cy="369332"/>
          </a:xfrm>
          <a:prstGeom prst="rect">
            <a:avLst/>
          </a:prstGeom>
          <a:noFill/>
        </p:spPr>
        <p:txBody>
          <a:bodyPr wrap="square" rtlCol="0">
            <a:spAutoFit/>
          </a:bodyPr>
          <a:lstStyle/>
          <a:p>
            <a:r>
              <a:rPr lang="en-US" b="1" dirty="0">
                <a:solidFill>
                  <a:schemeClr val="bg1"/>
                </a:solidFill>
                <a:latin typeface="Futura PT Book" charset="0"/>
                <a:ea typeface="Futura PT Book" charset="0"/>
                <a:cs typeface="Futura PT Book" charset="0"/>
              </a:rPr>
              <a:t>Features</a:t>
            </a:r>
          </a:p>
        </p:txBody>
      </p:sp>
      <p:sp>
        <p:nvSpPr>
          <p:cNvPr id="48" name="Rectangle 47"/>
          <p:cNvSpPr/>
          <p:nvPr/>
        </p:nvSpPr>
        <p:spPr>
          <a:xfrm>
            <a:off x="10069896" y="2090613"/>
            <a:ext cx="1775202" cy="498108"/>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Agree to terms &amp; conditions</a:t>
            </a:r>
          </a:p>
        </p:txBody>
      </p:sp>
      <p:sp>
        <p:nvSpPr>
          <p:cNvPr id="52" name="Rectangle 51"/>
          <p:cNvSpPr/>
          <p:nvPr/>
        </p:nvSpPr>
        <p:spPr>
          <a:xfrm>
            <a:off x="8171485" y="3179940"/>
            <a:ext cx="1775202" cy="429383"/>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Provide address</a:t>
            </a:r>
          </a:p>
        </p:txBody>
      </p:sp>
      <p:sp>
        <p:nvSpPr>
          <p:cNvPr id="22" name="Rectangle 21">
            <a:extLst>
              <a:ext uri="{FF2B5EF4-FFF2-40B4-BE49-F238E27FC236}">
                <a16:creationId xmlns:a16="http://schemas.microsoft.com/office/drawing/2014/main" id="{A0608C0E-99C4-5241-A98B-309110387A32}"/>
              </a:ext>
            </a:extLst>
          </p:cNvPr>
          <p:cNvSpPr/>
          <p:nvPr/>
        </p:nvSpPr>
        <p:spPr>
          <a:xfrm>
            <a:off x="10069896" y="2644656"/>
            <a:ext cx="1775202" cy="462694"/>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Complete transaction</a:t>
            </a:r>
          </a:p>
        </p:txBody>
      </p:sp>
      <p:sp>
        <p:nvSpPr>
          <p:cNvPr id="23" name="Rectangle 22">
            <a:extLst>
              <a:ext uri="{FF2B5EF4-FFF2-40B4-BE49-F238E27FC236}">
                <a16:creationId xmlns:a16="http://schemas.microsoft.com/office/drawing/2014/main" id="{1AEF2C84-55E6-DE42-BDE3-274EC9E9CF51}"/>
              </a:ext>
            </a:extLst>
          </p:cNvPr>
          <p:cNvSpPr/>
          <p:nvPr/>
        </p:nvSpPr>
        <p:spPr>
          <a:xfrm>
            <a:off x="10069896" y="3163285"/>
            <a:ext cx="1775202" cy="462694"/>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Receive tickets</a:t>
            </a:r>
          </a:p>
        </p:txBody>
      </p:sp>
      <p:sp>
        <p:nvSpPr>
          <p:cNvPr id="26" name="Rectangle 25">
            <a:extLst>
              <a:ext uri="{FF2B5EF4-FFF2-40B4-BE49-F238E27FC236}">
                <a16:creationId xmlns:a16="http://schemas.microsoft.com/office/drawing/2014/main" id="{411DBEFC-F76E-4E48-A6A3-A3B905A5C287}"/>
              </a:ext>
            </a:extLst>
          </p:cNvPr>
          <p:cNvSpPr/>
          <p:nvPr/>
        </p:nvSpPr>
        <p:spPr>
          <a:xfrm>
            <a:off x="6246694" y="2103644"/>
            <a:ext cx="1775202" cy="478720"/>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Search for event</a:t>
            </a:r>
          </a:p>
        </p:txBody>
      </p:sp>
      <p:sp>
        <p:nvSpPr>
          <p:cNvPr id="27" name="Rectangle 26">
            <a:extLst>
              <a:ext uri="{FF2B5EF4-FFF2-40B4-BE49-F238E27FC236}">
                <a16:creationId xmlns:a16="http://schemas.microsoft.com/office/drawing/2014/main" id="{0EACF597-F2BD-4548-964D-2072A15948AA}"/>
              </a:ext>
            </a:extLst>
          </p:cNvPr>
          <p:cNvSpPr/>
          <p:nvPr/>
        </p:nvSpPr>
        <p:spPr>
          <a:xfrm>
            <a:off x="6246694" y="2644656"/>
            <a:ext cx="1775202" cy="478720"/>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Select event</a:t>
            </a:r>
          </a:p>
        </p:txBody>
      </p:sp>
      <p:sp>
        <p:nvSpPr>
          <p:cNvPr id="28" name="TextBox 27">
            <a:extLst>
              <a:ext uri="{FF2B5EF4-FFF2-40B4-BE49-F238E27FC236}">
                <a16:creationId xmlns:a16="http://schemas.microsoft.com/office/drawing/2014/main" id="{AF55A2B1-EA2F-6F47-9C0E-401493CD27AB}"/>
              </a:ext>
            </a:extLst>
          </p:cNvPr>
          <p:cNvSpPr txBox="1"/>
          <p:nvPr/>
        </p:nvSpPr>
        <p:spPr>
          <a:xfrm rot="16200000">
            <a:off x="4781239" y="1388029"/>
            <a:ext cx="1028053" cy="369332"/>
          </a:xfrm>
          <a:prstGeom prst="rect">
            <a:avLst/>
          </a:prstGeom>
          <a:noFill/>
        </p:spPr>
        <p:txBody>
          <a:bodyPr wrap="square" rtlCol="0">
            <a:spAutoFit/>
          </a:bodyPr>
          <a:lstStyle/>
          <a:p>
            <a:pPr algn="ctr"/>
            <a:r>
              <a:rPr lang="en-US" dirty="0">
                <a:solidFill>
                  <a:schemeClr val="bg1"/>
                </a:solidFill>
                <a:latin typeface="Futura PT Book" charset="0"/>
                <a:ea typeface="Futura PT Book" charset="0"/>
                <a:cs typeface="Futura PT Book" charset="0"/>
              </a:rPr>
              <a:t>Steps</a:t>
            </a:r>
          </a:p>
        </p:txBody>
      </p:sp>
      <p:sp>
        <p:nvSpPr>
          <p:cNvPr id="29" name="TextBox 28">
            <a:extLst>
              <a:ext uri="{FF2B5EF4-FFF2-40B4-BE49-F238E27FC236}">
                <a16:creationId xmlns:a16="http://schemas.microsoft.com/office/drawing/2014/main" id="{C379A817-D123-0D44-9F99-D3885D1B8216}"/>
              </a:ext>
            </a:extLst>
          </p:cNvPr>
          <p:cNvSpPr txBox="1"/>
          <p:nvPr/>
        </p:nvSpPr>
        <p:spPr>
          <a:xfrm rot="16200000">
            <a:off x="4709456" y="3250712"/>
            <a:ext cx="1167600" cy="369332"/>
          </a:xfrm>
          <a:prstGeom prst="rect">
            <a:avLst/>
          </a:prstGeom>
          <a:noFill/>
        </p:spPr>
        <p:txBody>
          <a:bodyPr wrap="square" rtlCol="0">
            <a:spAutoFit/>
          </a:bodyPr>
          <a:lstStyle/>
          <a:p>
            <a:pPr algn="ctr"/>
            <a:r>
              <a:rPr lang="en-US" dirty="0">
                <a:solidFill>
                  <a:schemeClr val="bg1"/>
                </a:solidFill>
                <a:latin typeface="Futura PT Book" charset="0"/>
                <a:ea typeface="Futura PT Book" charset="0"/>
                <a:cs typeface="Futura PT Book" charset="0"/>
              </a:rPr>
              <a:t>Activities</a:t>
            </a:r>
          </a:p>
        </p:txBody>
      </p:sp>
      <p:sp>
        <p:nvSpPr>
          <p:cNvPr id="31" name="TextBox 30">
            <a:extLst>
              <a:ext uri="{FF2B5EF4-FFF2-40B4-BE49-F238E27FC236}">
                <a16:creationId xmlns:a16="http://schemas.microsoft.com/office/drawing/2014/main" id="{AB6EB774-F699-9D4C-9A94-B38EED8483A3}"/>
              </a:ext>
            </a:extLst>
          </p:cNvPr>
          <p:cNvSpPr txBox="1"/>
          <p:nvPr/>
        </p:nvSpPr>
        <p:spPr>
          <a:xfrm>
            <a:off x="4317856" y="4510408"/>
            <a:ext cx="1336226" cy="369332"/>
          </a:xfrm>
          <a:prstGeom prst="rect">
            <a:avLst/>
          </a:prstGeom>
          <a:noFill/>
        </p:spPr>
        <p:txBody>
          <a:bodyPr wrap="square" rtlCol="0">
            <a:spAutoFit/>
          </a:bodyPr>
          <a:lstStyle/>
          <a:p>
            <a:r>
              <a:rPr lang="en-US" b="1" dirty="0">
                <a:solidFill>
                  <a:schemeClr val="bg1"/>
                </a:solidFill>
                <a:latin typeface="Futura PT Book" charset="0"/>
                <a:ea typeface="Futura PT Book" charset="0"/>
                <a:cs typeface="Futura PT Book" charset="0"/>
              </a:rPr>
              <a:t>Enablers</a:t>
            </a:r>
          </a:p>
        </p:txBody>
      </p:sp>
      <p:sp>
        <p:nvSpPr>
          <p:cNvPr id="3" name="Rectangle 2">
            <a:extLst>
              <a:ext uri="{FF2B5EF4-FFF2-40B4-BE49-F238E27FC236}">
                <a16:creationId xmlns:a16="http://schemas.microsoft.com/office/drawing/2014/main" id="{D6A130C0-8348-2E4B-A14F-364D098E5BFD}"/>
              </a:ext>
            </a:extLst>
          </p:cNvPr>
          <p:cNvSpPr/>
          <p:nvPr/>
        </p:nvSpPr>
        <p:spPr>
          <a:xfrm>
            <a:off x="6172199" y="4297850"/>
            <a:ext cx="5771280" cy="7806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3C14C73E-C9E8-5341-B99F-6FF5A8708216}"/>
              </a:ext>
            </a:extLst>
          </p:cNvPr>
          <p:cNvSpPr txBox="1"/>
          <p:nvPr/>
        </p:nvSpPr>
        <p:spPr>
          <a:xfrm>
            <a:off x="4317856" y="5334556"/>
            <a:ext cx="1336226" cy="369332"/>
          </a:xfrm>
          <a:prstGeom prst="rect">
            <a:avLst/>
          </a:prstGeom>
          <a:noFill/>
        </p:spPr>
        <p:txBody>
          <a:bodyPr wrap="square" rtlCol="0">
            <a:spAutoFit/>
          </a:bodyPr>
          <a:lstStyle/>
          <a:p>
            <a:r>
              <a:rPr lang="en-US" b="1" dirty="0">
                <a:solidFill>
                  <a:schemeClr val="bg1"/>
                </a:solidFill>
                <a:latin typeface="Futura PT Book" charset="0"/>
                <a:ea typeface="Futura PT Book" charset="0"/>
                <a:cs typeface="Futura PT Book" charset="0"/>
              </a:rPr>
              <a:t>NFRs</a:t>
            </a:r>
          </a:p>
        </p:txBody>
      </p:sp>
      <p:sp>
        <p:nvSpPr>
          <p:cNvPr id="39" name="Rectangle 38">
            <a:extLst>
              <a:ext uri="{FF2B5EF4-FFF2-40B4-BE49-F238E27FC236}">
                <a16:creationId xmlns:a16="http://schemas.microsoft.com/office/drawing/2014/main" id="{897ECD8D-95D4-8B4A-9D21-D998FD27A81E}"/>
              </a:ext>
            </a:extLst>
          </p:cNvPr>
          <p:cNvSpPr/>
          <p:nvPr/>
        </p:nvSpPr>
        <p:spPr>
          <a:xfrm>
            <a:off x="6172199" y="5140382"/>
            <a:ext cx="5771279" cy="7576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B47507E9-23D9-2148-AB3D-E7DAF7855A02}"/>
              </a:ext>
            </a:extLst>
          </p:cNvPr>
          <p:cNvSpPr txBox="1"/>
          <p:nvPr/>
        </p:nvSpPr>
        <p:spPr>
          <a:xfrm>
            <a:off x="408491" y="1617717"/>
            <a:ext cx="3307290" cy="4985980"/>
          </a:xfrm>
          <a:prstGeom prst="rect">
            <a:avLst/>
          </a:prstGeom>
          <a:noFill/>
          <a:ln>
            <a:noFill/>
          </a:ln>
        </p:spPr>
        <p:txBody>
          <a:bodyPr wrap="square" rtlCol="0">
            <a:spAutoFit/>
          </a:bodyPr>
          <a:lstStyle/>
          <a:p>
            <a:pPr marL="288925" indent="-288925">
              <a:spcAft>
                <a:spcPts val="600"/>
              </a:spcAft>
              <a:buFont typeface="+mj-lt"/>
              <a:buAutoNum type="arabicPeriod"/>
            </a:pPr>
            <a:r>
              <a:rPr lang="en-US" dirty="0">
                <a:latin typeface="Futura PT Book" charset="0"/>
                <a:ea typeface="Futura PT Book" charset="0"/>
                <a:cs typeface="Futura PT Book" charset="0"/>
              </a:rPr>
              <a:t>Align capabilities to our personas</a:t>
            </a:r>
          </a:p>
          <a:p>
            <a:pPr marL="288925" indent="-288925">
              <a:spcAft>
                <a:spcPts val="600"/>
              </a:spcAft>
              <a:buFont typeface="+mj-lt"/>
              <a:buAutoNum type="arabicPeriod"/>
            </a:pPr>
            <a:r>
              <a:rPr lang="en-US" dirty="0">
                <a:latin typeface="Futura PT Book" charset="0"/>
                <a:ea typeface="Futura PT Book" charset="0"/>
                <a:cs typeface="Futura PT Book" charset="0"/>
              </a:rPr>
              <a:t>List the </a:t>
            </a:r>
            <a:r>
              <a:rPr lang="en-US" b="1" dirty="0">
                <a:solidFill>
                  <a:schemeClr val="accent2"/>
                </a:solidFill>
                <a:latin typeface="Futura PT Book" charset="0"/>
                <a:ea typeface="Futura PT Book" charset="0"/>
                <a:cs typeface="Futura PT Book" charset="0"/>
              </a:rPr>
              <a:t>Capability</a:t>
            </a:r>
            <a:endParaRPr lang="en-US" dirty="0">
              <a:latin typeface="Futura PT Book" charset="0"/>
              <a:ea typeface="Futura PT Book" charset="0"/>
              <a:cs typeface="Futura PT Book" charset="0"/>
            </a:endParaRPr>
          </a:p>
          <a:p>
            <a:pPr marL="288925" indent="-288925">
              <a:spcAft>
                <a:spcPts val="600"/>
              </a:spcAft>
              <a:buFont typeface="+mj-lt"/>
              <a:buAutoNum type="arabicPeriod"/>
            </a:pPr>
            <a:r>
              <a:rPr lang="en-US" dirty="0">
                <a:latin typeface="Futura PT Book" charset="0"/>
                <a:ea typeface="Futura PT Book" charset="0"/>
                <a:cs typeface="Futura PT Book" charset="0"/>
              </a:rPr>
              <a:t>Identify the </a:t>
            </a:r>
            <a:r>
              <a:rPr lang="en-US" b="1" dirty="0">
                <a:solidFill>
                  <a:schemeClr val="accent2"/>
                </a:solidFill>
                <a:latin typeface="Futura PT Book" charset="0"/>
                <a:ea typeface="Futura PT Book" charset="0"/>
                <a:cs typeface="Futura PT Book" charset="0"/>
              </a:rPr>
              <a:t>Steps</a:t>
            </a:r>
            <a:r>
              <a:rPr lang="en-US" dirty="0">
                <a:latin typeface="Futura PT Book" charset="0"/>
                <a:ea typeface="Futura PT Book" charset="0"/>
                <a:cs typeface="Futura PT Book" charset="0"/>
              </a:rPr>
              <a:t> a user takes to complete the capability</a:t>
            </a:r>
          </a:p>
          <a:p>
            <a:pPr marL="288925" indent="-288925">
              <a:spcAft>
                <a:spcPts val="600"/>
              </a:spcAft>
              <a:buFont typeface="+mj-lt"/>
              <a:buAutoNum type="arabicPeriod"/>
            </a:pPr>
            <a:r>
              <a:rPr lang="en-US" dirty="0">
                <a:latin typeface="Futura PT Book" charset="0"/>
                <a:ea typeface="Futura PT Book" charset="0"/>
                <a:cs typeface="Futura PT Book" charset="0"/>
              </a:rPr>
              <a:t>Identify </a:t>
            </a:r>
            <a:r>
              <a:rPr lang="en-US" b="1" dirty="0">
                <a:solidFill>
                  <a:schemeClr val="accent2"/>
                </a:solidFill>
                <a:latin typeface="Futura PT Book" charset="0"/>
                <a:ea typeface="Futura PT Book" charset="0"/>
                <a:cs typeface="Futura PT Book" charset="0"/>
              </a:rPr>
              <a:t>Activities</a:t>
            </a:r>
            <a:r>
              <a:rPr lang="en-US" dirty="0">
                <a:latin typeface="Futura PT Book" charset="0"/>
                <a:ea typeface="Futura PT Book" charset="0"/>
                <a:cs typeface="Futura PT Book" charset="0"/>
              </a:rPr>
              <a:t> for each step (if applicable)</a:t>
            </a:r>
          </a:p>
          <a:p>
            <a:pPr marL="288925" indent="-288925">
              <a:spcAft>
                <a:spcPts val="600"/>
              </a:spcAft>
              <a:buFont typeface="+mj-lt"/>
              <a:buAutoNum type="arabicPeriod"/>
            </a:pPr>
            <a:r>
              <a:rPr lang="en-US" dirty="0">
                <a:latin typeface="Futura PT Book" charset="0"/>
                <a:ea typeface="Futura PT Book" charset="0"/>
                <a:cs typeface="Futura PT Book" charset="0"/>
              </a:rPr>
              <a:t>Identify </a:t>
            </a:r>
            <a:r>
              <a:rPr lang="en-US" b="1" dirty="0">
                <a:solidFill>
                  <a:schemeClr val="accent2"/>
                </a:solidFill>
                <a:latin typeface="Futura PT Book" charset="0"/>
                <a:ea typeface="Futura PT Book" charset="0"/>
                <a:cs typeface="Futura PT Book" charset="0"/>
              </a:rPr>
              <a:t>Enablers</a:t>
            </a:r>
            <a:r>
              <a:rPr lang="en-US" dirty="0">
                <a:latin typeface="Futura PT Book" charset="0"/>
                <a:ea typeface="Futura PT Book" charset="0"/>
                <a:cs typeface="Futura PT Book" charset="0"/>
              </a:rPr>
              <a:t> (technical “must-haves”)</a:t>
            </a:r>
          </a:p>
          <a:p>
            <a:pPr marL="288925" indent="-288925">
              <a:spcAft>
                <a:spcPts val="600"/>
              </a:spcAft>
              <a:buFont typeface="+mj-lt"/>
              <a:buAutoNum type="arabicPeriod"/>
            </a:pPr>
            <a:r>
              <a:rPr lang="en-US" dirty="0">
                <a:latin typeface="Futura PT Book" charset="0"/>
                <a:ea typeface="Futura PT Book" charset="0"/>
                <a:cs typeface="Futura PT Book" charset="0"/>
              </a:rPr>
              <a:t>Identify </a:t>
            </a:r>
            <a:r>
              <a:rPr lang="en-US" b="1" dirty="0">
                <a:solidFill>
                  <a:schemeClr val="accent2"/>
                </a:solidFill>
                <a:latin typeface="Futura PT Book" charset="0"/>
                <a:ea typeface="Futura PT Book" charset="0"/>
                <a:cs typeface="Futura PT Book" charset="0"/>
              </a:rPr>
              <a:t>NFRs</a:t>
            </a:r>
            <a:r>
              <a:rPr lang="en-US" dirty="0">
                <a:latin typeface="Futura PT Book" charset="0"/>
                <a:ea typeface="Futura PT Book" charset="0"/>
                <a:cs typeface="Futura PT Book" charset="0"/>
              </a:rPr>
              <a:t> – non-functional requirements (the “</a:t>
            </a:r>
            <a:r>
              <a:rPr lang="en-US" dirty="0" err="1">
                <a:latin typeface="Futura PT Book" charset="0"/>
                <a:ea typeface="Futura PT Book" charset="0"/>
                <a:cs typeface="Futura PT Book" charset="0"/>
              </a:rPr>
              <a:t>ilities</a:t>
            </a:r>
            <a:r>
              <a:rPr lang="en-US" dirty="0">
                <a:latin typeface="Futura PT Book" charset="0"/>
                <a:ea typeface="Futura PT Book" charset="0"/>
                <a:cs typeface="Futura PT Book" charset="0"/>
              </a:rPr>
              <a:t>”)</a:t>
            </a:r>
          </a:p>
          <a:p>
            <a:pPr marL="288925" indent="-288925">
              <a:spcAft>
                <a:spcPts val="600"/>
              </a:spcAft>
              <a:buFont typeface="+mj-lt"/>
              <a:buAutoNum type="arabicPeriod"/>
            </a:pPr>
            <a:r>
              <a:rPr lang="en-US" dirty="0">
                <a:latin typeface="Futura PT Book" charset="0"/>
                <a:ea typeface="Futura PT Book" charset="0"/>
                <a:cs typeface="Futura PT Book" charset="0"/>
              </a:rPr>
              <a:t>Provide high-level </a:t>
            </a:r>
            <a:r>
              <a:rPr lang="en-US" b="1" dirty="0">
                <a:solidFill>
                  <a:schemeClr val="accent2"/>
                </a:solidFill>
                <a:latin typeface="Futura PT Book" charset="0"/>
                <a:ea typeface="Futura PT Book" charset="0"/>
                <a:cs typeface="Futura PT Book" charset="0"/>
              </a:rPr>
              <a:t>Data</a:t>
            </a:r>
            <a:r>
              <a:rPr lang="en-US" dirty="0">
                <a:latin typeface="Futura PT Book" charset="0"/>
                <a:ea typeface="Futura PT Book" charset="0"/>
                <a:cs typeface="Futura PT Book" charset="0"/>
              </a:rPr>
              <a:t> needs for each step (as appropriate)</a:t>
            </a:r>
          </a:p>
        </p:txBody>
      </p:sp>
      <p:sp>
        <p:nvSpPr>
          <p:cNvPr id="50" name="TextBox 49">
            <a:extLst>
              <a:ext uri="{FF2B5EF4-FFF2-40B4-BE49-F238E27FC236}">
                <a16:creationId xmlns:a16="http://schemas.microsoft.com/office/drawing/2014/main" id="{149B541E-D6C4-3545-8745-6BD6E366FA61}"/>
              </a:ext>
            </a:extLst>
          </p:cNvPr>
          <p:cNvSpPr txBox="1"/>
          <p:nvPr/>
        </p:nvSpPr>
        <p:spPr>
          <a:xfrm>
            <a:off x="8158139" y="4294965"/>
            <a:ext cx="1344634" cy="584775"/>
          </a:xfrm>
          <a:prstGeom prst="rect">
            <a:avLst/>
          </a:prstGeom>
          <a:noFill/>
        </p:spPr>
        <p:txBody>
          <a:bodyPr wrap="square" rtlCol="0">
            <a:spAutoFit/>
          </a:bodyPr>
          <a:lstStyle/>
          <a:p>
            <a:r>
              <a:rPr lang="en-US" sz="1600" dirty="0">
                <a:latin typeface="Futura PT Book" panose="020B0502020204020303" pitchFamily="34" charset="77"/>
              </a:rPr>
              <a:t>Database for Transactions</a:t>
            </a:r>
          </a:p>
        </p:txBody>
      </p:sp>
      <p:sp>
        <p:nvSpPr>
          <p:cNvPr id="51" name="TextBox 50">
            <a:extLst>
              <a:ext uri="{FF2B5EF4-FFF2-40B4-BE49-F238E27FC236}">
                <a16:creationId xmlns:a16="http://schemas.microsoft.com/office/drawing/2014/main" id="{DF5C3131-3C2B-8446-9117-1EF22598A79E}"/>
              </a:ext>
            </a:extLst>
          </p:cNvPr>
          <p:cNvSpPr txBox="1"/>
          <p:nvPr/>
        </p:nvSpPr>
        <p:spPr>
          <a:xfrm>
            <a:off x="10041072" y="4323727"/>
            <a:ext cx="1625600" cy="338554"/>
          </a:xfrm>
          <a:prstGeom prst="rect">
            <a:avLst/>
          </a:prstGeom>
          <a:noFill/>
        </p:spPr>
        <p:txBody>
          <a:bodyPr wrap="square" rtlCol="0">
            <a:spAutoFit/>
          </a:bodyPr>
          <a:lstStyle/>
          <a:p>
            <a:r>
              <a:rPr lang="en-US" sz="1600" dirty="0">
                <a:latin typeface="Futura PT Book" panose="020B0502020204020303" pitchFamily="34" charset="77"/>
              </a:rPr>
              <a:t>Authentication</a:t>
            </a:r>
          </a:p>
        </p:txBody>
      </p:sp>
      <p:sp>
        <p:nvSpPr>
          <p:cNvPr id="56" name="TextBox 55">
            <a:extLst>
              <a:ext uri="{FF2B5EF4-FFF2-40B4-BE49-F238E27FC236}">
                <a16:creationId xmlns:a16="http://schemas.microsoft.com/office/drawing/2014/main" id="{298CB3B4-7E78-CE42-B582-3A0A700298AF}"/>
              </a:ext>
            </a:extLst>
          </p:cNvPr>
          <p:cNvSpPr txBox="1"/>
          <p:nvPr/>
        </p:nvSpPr>
        <p:spPr>
          <a:xfrm>
            <a:off x="8196692" y="5349945"/>
            <a:ext cx="1515096" cy="338554"/>
          </a:xfrm>
          <a:prstGeom prst="rect">
            <a:avLst/>
          </a:prstGeom>
          <a:noFill/>
        </p:spPr>
        <p:txBody>
          <a:bodyPr wrap="square" rtlCol="0">
            <a:spAutoFit/>
          </a:bodyPr>
          <a:lstStyle/>
          <a:p>
            <a:r>
              <a:rPr lang="en-US" sz="1600" dirty="0">
                <a:latin typeface="Futura PT Book" panose="020B0502020204020303" pitchFamily="34" charset="77"/>
              </a:rPr>
              <a:t>Security</a:t>
            </a:r>
          </a:p>
        </p:txBody>
      </p:sp>
      <p:sp>
        <p:nvSpPr>
          <p:cNvPr id="57" name="TextBox 56">
            <a:extLst>
              <a:ext uri="{FF2B5EF4-FFF2-40B4-BE49-F238E27FC236}">
                <a16:creationId xmlns:a16="http://schemas.microsoft.com/office/drawing/2014/main" id="{7E4C7591-394B-E547-9782-FCE6D606BC8F}"/>
              </a:ext>
            </a:extLst>
          </p:cNvPr>
          <p:cNvSpPr txBox="1"/>
          <p:nvPr/>
        </p:nvSpPr>
        <p:spPr>
          <a:xfrm>
            <a:off x="10019806" y="4659597"/>
            <a:ext cx="2108396" cy="338554"/>
          </a:xfrm>
          <a:prstGeom prst="rect">
            <a:avLst/>
          </a:prstGeom>
          <a:noFill/>
        </p:spPr>
        <p:txBody>
          <a:bodyPr wrap="square" rtlCol="0">
            <a:spAutoFit/>
          </a:bodyPr>
          <a:lstStyle/>
          <a:p>
            <a:r>
              <a:rPr lang="en-US" sz="1600" dirty="0">
                <a:latin typeface="Futura PT Book" panose="020B0502020204020303" pitchFamily="34" charset="77"/>
              </a:rPr>
              <a:t>Payment Processing</a:t>
            </a:r>
          </a:p>
        </p:txBody>
      </p:sp>
      <p:sp>
        <p:nvSpPr>
          <p:cNvPr id="4" name="Rectangle 3">
            <a:extLst>
              <a:ext uri="{FF2B5EF4-FFF2-40B4-BE49-F238E27FC236}">
                <a16:creationId xmlns:a16="http://schemas.microsoft.com/office/drawing/2014/main" id="{079F5711-B3F3-8B4A-857A-A3E1A174EB3E}"/>
              </a:ext>
            </a:extLst>
          </p:cNvPr>
          <p:cNvSpPr/>
          <p:nvPr/>
        </p:nvSpPr>
        <p:spPr>
          <a:xfrm>
            <a:off x="6172200" y="1067520"/>
            <a:ext cx="5746073" cy="3157740"/>
          </a:xfrm>
          <a:prstGeom prst="rect">
            <a:avLst/>
          </a:prstGeom>
          <a:noFill/>
          <a:ln>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eft Brace 6">
            <a:extLst>
              <a:ext uri="{FF2B5EF4-FFF2-40B4-BE49-F238E27FC236}">
                <a16:creationId xmlns:a16="http://schemas.microsoft.com/office/drawing/2014/main" id="{42C9BAFF-37E7-B44A-AC05-60612127B267}"/>
              </a:ext>
            </a:extLst>
          </p:cNvPr>
          <p:cNvSpPr/>
          <p:nvPr/>
        </p:nvSpPr>
        <p:spPr>
          <a:xfrm>
            <a:off x="5907828" y="1070768"/>
            <a:ext cx="209873" cy="3147775"/>
          </a:xfrm>
          <a:prstGeom prst="leftBrace">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Box 46">
            <a:extLst>
              <a:ext uri="{FF2B5EF4-FFF2-40B4-BE49-F238E27FC236}">
                <a16:creationId xmlns:a16="http://schemas.microsoft.com/office/drawing/2014/main" id="{ABE757EF-8489-C248-A66D-1FE4B8F41EB5}"/>
              </a:ext>
            </a:extLst>
          </p:cNvPr>
          <p:cNvSpPr txBox="1"/>
          <p:nvPr/>
        </p:nvSpPr>
        <p:spPr>
          <a:xfrm>
            <a:off x="4317856" y="6157421"/>
            <a:ext cx="1336226" cy="369332"/>
          </a:xfrm>
          <a:prstGeom prst="rect">
            <a:avLst/>
          </a:prstGeom>
          <a:noFill/>
        </p:spPr>
        <p:txBody>
          <a:bodyPr wrap="square" rtlCol="0">
            <a:spAutoFit/>
          </a:bodyPr>
          <a:lstStyle/>
          <a:p>
            <a:r>
              <a:rPr lang="en-US" b="1" dirty="0">
                <a:solidFill>
                  <a:schemeClr val="bg1"/>
                </a:solidFill>
                <a:latin typeface="Futura PT Book" charset="0"/>
                <a:ea typeface="Futura PT Book" charset="0"/>
                <a:cs typeface="Futura PT Book" charset="0"/>
              </a:rPr>
              <a:t>Data</a:t>
            </a:r>
          </a:p>
        </p:txBody>
      </p:sp>
      <p:sp>
        <p:nvSpPr>
          <p:cNvPr id="54" name="Rectangle 53">
            <a:extLst>
              <a:ext uri="{FF2B5EF4-FFF2-40B4-BE49-F238E27FC236}">
                <a16:creationId xmlns:a16="http://schemas.microsoft.com/office/drawing/2014/main" id="{CDE5790D-172E-ED4F-8936-9C171798B879}"/>
              </a:ext>
            </a:extLst>
          </p:cNvPr>
          <p:cNvSpPr/>
          <p:nvPr/>
        </p:nvSpPr>
        <p:spPr>
          <a:xfrm>
            <a:off x="6172199" y="5963247"/>
            <a:ext cx="5771279" cy="7576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76399DF0-8FC0-934D-830C-04B304974FBE}"/>
              </a:ext>
            </a:extLst>
          </p:cNvPr>
          <p:cNvSpPr txBox="1"/>
          <p:nvPr/>
        </p:nvSpPr>
        <p:spPr>
          <a:xfrm>
            <a:off x="6414286" y="6049700"/>
            <a:ext cx="1344634" cy="584775"/>
          </a:xfrm>
          <a:prstGeom prst="rect">
            <a:avLst/>
          </a:prstGeom>
          <a:noFill/>
        </p:spPr>
        <p:txBody>
          <a:bodyPr wrap="square" rtlCol="0">
            <a:spAutoFit/>
          </a:bodyPr>
          <a:lstStyle/>
          <a:p>
            <a:r>
              <a:rPr lang="en-US" sz="1600" dirty="0">
                <a:latin typeface="Futura PT Book" panose="020B0502020204020303" pitchFamily="34" charset="77"/>
              </a:rPr>
              <a:t>Event Information</a:t>
            </a:r>
          </a:p>
        </p:txBody>
      </p:sp>
      <p:sp>
        <p:nvSpPr>
          <p:cNvPr id="59" name="TextBox 58">
            <a:extLst>
              <a:ext uri="{FF2B5EF4-FFF2-40B4-BE49-F238E27FC236}">
                <a16:creationId xmlns:a16="http://schemas.microsoft.com/office/drawing/2014/main" id="{658185E9-C3EE-1E40-942B-6DE0D169018B}"/>
              </a:ext>
            </a:extLst>
          </p:cNvPr>
          <p:cNvSpPr txBox="1"/>
          <p:nvPr/>
        </p:nvSpPr>
        <p:spPr>
          <a:xfrm>
            <a:off x="8171485" y="6052423"/>
            <a:ext cx="1344634" cy="338554"/>
          </a:xfrm>
          <a:prstGeom prst="rect">
            <a:avLst/>
          </a:prstGeom>
          <a:noFill/>
        </p:spPr>
        <p:txBody>
          <a:bodyPr wrap="square" rtlCol="0">
            <a:spAutoFit/>
          </a:bodyPr>
          <a:lstStyle/>
          <a:p>
            <a:r>
              <a:rPr lang="en-US" sz="1600" dirty="0">
                <a:latin typeface="Futura PT Book" panose="020B0502020204020303" pitchFamily="34" charset="77"/>
              </a:rPr>
              <a:t>User Data</a:t>
            </a:r>
          </a:p>
        </p:txBody>
      </p:sp>
      <p:sp>
        <p:nvSpPr>
          <p:cNvPr id="60" name="TextBox 59">
            <a:extLst>
              <a:ext uri="{FF2B5EF4-FFF2-40B4-BE49-F238E27FC236}">
                <a16:creationId xmlns:a16="http://schemas.microsoft.com/office/drawing/2014/main" id="{B5DEC60B-C488-F346-A141-F061C77AF5C8}"/>
              </a:ext>
            </a:extLst>
          </p:cNvPr>
          <p:cNvSpPr txBox="1"/>
          <p:nvPr/>
        </p:nvSpPr>
        <p:spPr>
          <a:xfrm>
            <a:off x="10083604" y="6012160"/>
            <a:ext cx="1344634" cy="584775"/>
          </a:xfrm>
          <a:prstGeom prst="rect">
            <a:avLst/>
          </a:prstGeom>
          <a:noFill/>
        </p:spPr>
        <p:txBody>
          <a:bodyPr wrap="square" rtlCol="0">
            <a:spAutoFit/>
          </a:bodyPr>
          <a:lstStyle/>
          <a:p>
            <a:r>
              <a:rPr lang="en-US" sz="1600" dirty="0">
                <a:latin typeface="Futura PT Book" panose="020B0502020204020303" pitchFamily="34" charset="77"/>
              </a:rPr>
              <a:t>Transaction Data</a:t>
            </a:r>
          </a:p>
        </p:txBody>
      </p:sp>
      <p:sp>
        <p:nvSpPr>
          <p:cNvPr id="61" name="Oval 60">
            <a:extLst>
              <a:ext uri="{FF2B5EF4-FFF2-40B4-BE49-F238E27FC236}">
                <a16:creationId xmlns:a16="http://schemas.microsoft.com/office/drawing/2014/main" id="{627D8E26-E555-C14D-8A70-9B251AE9E662}"/>
              </a:ext>
            </a:extLst>
          </p:cNvPr>
          <p:cNvSpPr/>
          <p:nvPr/>
        </p:nvSpPr>
        <p:spPr>
          <a:xfrm>
            <a:off x="215134" y="368354"/>
            <a:ext cx="624840" cy="624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Futura PT Book" panose="020B0502020204020303" pitchFamily="34" charset="77"/>
              </a:rPr>
              <a:t>1</a:t>
            </a:r>
          </a:p>
        </p:txBody>
      </p:sp>
      <p:sp>
        <p:nvSpPr>
          <p:cNvPr id="62" name="Oval 61">
            <a:extLst>
              <a:ext uri="{FF2B5EF4-FFF2-40B4-BE49-F238E27FC236}">
                <a16:creationId xmlns:a16="http://schemas.microsoft.com/office/drawing/2014/main" id="{C01F69C5-4DAF-7A4A-B1AF-D7C8206FF350}"/>
              </a:ext>
            </a:extLst>
          </p:cNvPr>
          <p:cNvSpPr/>
          <p:nvPr/>
        </p:nvSpPr>
        <p:spPr>
          <a:xfrm>
            <a:off x="3208296" y="368354"/>
            <a:ext cx="391199" cy="391199"/>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latin typeface="Futura PT Book" panose="020B0502020204020303" pitchFamily="34" charset="77"/>
              </a:rPr>
              <a:t>1</a:t>
            </a:r>
          </a:p>
        </p:txBody>
      </p:sp>
      <p:sp>
        <p:nvSpPr>
          <p:cNvPr id="63" name="Oval 62">
            <a:extLst>
              <a:ext uri="{FF2B5EF4-FFF2-40B4-BE49-F238E27FC236}">
                <a16:creationId xmlns:a16="http://schemas.microsoft.com/office/drawing/2014/main" id="{E3D44636-B3F0-BD4F-A565-65C04FA282BD}"/>
              </a:ext>
            </a:extLst>
          </p:cNvPr>
          <p:cNvSpPr/>
          <p:nvPr/>
        </p:nvSpPr>
        <p:spPr>
          <a:xfrm>
            <a:off x="5698800" y="470207"/>
            <a:ext cx="391199" cy="391199"/>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latin typeface="Futura PT Book" panose="020B0502020204020303" pitchFamily="34" charset="77"/>
              </a:rPr>
              <a:t>2</a:t>
            </a:r>
          </a:p>
        </p:txBody>
      </p:sp>
      <p:sp>
        <p:nvSpPr>
          <p:cNvPr id="64" name="Oval 63">
            <a:extLst>
              <a:ext uri="{FF2B5EF4-FFF2-40B4-BE49-F238E27FC236}">
                <a16:creationId xmlns:a16="http://schemas.microsoft.com/office/drawing/2014/main" id="{0A6BC111-B4FA-D44C-A9F3-7E7DA5EE4E99}"/>
              </a:ext>
            </a:extLst>
          </p:cNvPr>
          <p:cNvSpPr/>
          <p:nvPr/>
        </p:nvSpPr>
        <p:spPr>
          <a:xfrm>
            <a:off x="5698800" y="1299621"/>
            <a:ext cx="391199" cy="391199"/>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latin typeface="Futura PT Book" panose="020B0502020204020303" pitchFamily="34" charset="77"/>
              </a:rPr>
              <a:t>3</a:t>
            </a:r>
          </a:p>
        </p:txBody>
      </p:sp>
      <p:sp>
        <p:nvSpPr>
          <p:cNvPr id="65" name="Oval 64">
            <a:extLst>
              <a:ext uri="{FF2B5EF4-FFF2-40B4-BE49-F238E27FC236}">
                <a16:creationId xmlns:a16="http://schemas.microsoft.com/office/drawing/2014/main" id="{0082C551-AD28-6C4B-8029-DA8FC4CE1BB5}"/>
              </a:ext>
            </a:extLst>
          </p:cNvPr>
          <p:cNvSpPr/>
          <p:nvPr/>
        </p:nvSpPr>
        <p:spPr>
          <a:xfrm>
            <a:off x="5698800" y="2165429"/>
            <a:ext cx="391199" cy="391199"/>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latin typeface="Futura PT Book" panose="020B0502020204020303" pitchFamily="34" charset="77"/>
              </a:rPr>
              <a:t>4</a:t>
            </a:r>
          </a:p>
        </p:txBody>
      </p:sp>
      <p:sp>
        <p:nvSpPr>
          <p:cNvPr id="66" name="Oval 65">
            <a:extLst>
              <a:ext uri="{FF2B5EF4-FFF2-40B4-BE49-F238E27FC236}">
                <a16:creationId xmlns:a16="http://schemas.microsoft.com/office/drawing/2014/main" id="{AEE17027-21C3-EB4F-A840-A2690734C394}"/>
              </a:ext>
            </a:extLst>
          </p:cNvPr>
          <p:cNvSpPr/>
          <p:nvPr/>
        </p:nvSpPr>
        <p:spPr>
          <a:xfrm>
            <a:off x="5698800" y="4536547"/>
            <a:ext cx="391199" cy="391199"/>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latin typeface="Futura PT Book" panose="020B0502020204020303" pitchFamily="34" charset="77"/>
              </a:rPr>
              <a:t>5</a:t>
            </a:r>
          </a:p>
        </p:txBody>
      </p:sp>
      <p:sp>
        <p:nvSpPr>
          <p:cNvPr id="67" name="Oval 66">
            <a:extLst>
              <a:ext uri="{FF2B5EF4-FFF2-40B4-BE49-F238E27FC236}">
                <a16:creationId xmlns:a16="http://schemas.microsoft.com/office/drawing/2014/main" id="{A573A0BB-6169-7C44-9515-5383B93ABB9A}"/>
              </a:ext>
            </a:extLst>
          </p:cNvPr>
          <p:cNvSpPr/>
          <p:nvPr/>
        </p:nvSpPr>
        <p:spPr>
          <a:xfrm>
            <a:off x="5698800" y="5359268"/>
            <a:ext cx="391199" cy="391199"/>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latin typeface="Futura PT Book" panose="020B0502020204020303" pitchFamily="34" charset="77"/>
              </a:rPr>
              <a:t>6</a:t>
            </a:r>
          </a:p>
        </p:txBody>
      </p:sp>
      <p:sp>
        <p:nvSpPr>
          <p:cNvPr id="68" name="Oval 67">
            <a:extLst>
              <a:ext uri="{FF2B5EF4-FFF2-40B4-BE49-F238E27FC236}">
                <a16:creationId xmlns:a16="http://schemas.microsoft.com/office/drawing/2014/main" id="{BE80530C-EAF6-3540-A5EE-C23EDD88E493}"/>
              </a:ext>
            </a:extLst>
          </p:cNvPr>
          <p:cNvSpPr/>
          <p:nvPr/>
        </p:nvSpPr>
        <p:spPr>
          <a:xfrm>
            <a:off x="5698800" y="6195377"/>
            <a:ext cx="391199" cy="391199"/>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00" dirty="0">
                <a:latin typeface="Futura PT Book" panose="020B0502020204020303" pitchFamily="34" charset="77"/>
              </a:rPr>
              <a:t>7</a:t>
            </a:r>
          </a:p>
        </p:txBody>
      </p:sp>
      <p:sp>
        <p:nvSpPr>
          <p:cNvPr id="69" name="TextBox 68">
            <a:extLst>
              <a:ext uri="{FF2B5EF4-FFF2-40B4-BE49-F238E27FC236}">
                <a16:creationId xmlns:a16="http://schemas.microsoft.com/office/drawing/2014/main" id="{608EB69E-B7D2-CF4C-81F3-D91F687DA1DF}"/>
              </a:ext>
            </a:extLst>
          </p:cNvPr>
          <p:cNvSpPr txBox="1"/>
          <p:nvPr/>
        </p:nvSpPr>
        <p:spPr>
          <a:xfrm>
            <a:off x="10083604" y="5355680"/>
            <a:ext cx="1344634" cy="338554"/>
          </a:xfrm>
          <a:prstGeom prst="rect">
            <a:avLst/>
          </a:prstGeom>
          <a:noFill/>
        </p:spPr>
        <p:txBody>
          <a:bodyPr wrap="square" rtlCol="0">
            <a:spAutoFit/>
          </a:bodyPr>
          <a:lstStyle/>
          <a:p>
            <a:r>
              <a:rPr lang="en-US" sz="1600" dirty="0">
                <a:latin typeface="Futura PT Book" panose="020B0502020204020303" pitchFamily="34" charset="77"/>
              </a:rPr>
              <a:t>Scalability</a:t>
            </a:r>
          </a:p>
        </p:txBody>
      </p:sp>
    </p:spTree>
    <p:extLst>
      <p:ext uri="{BB962C8B-B14F-4D97-AF65-F5344CB8AC3E}">
        <p14:creationId xmlns:p14="http://schemas.microsoft.com/office/powerpoint/2010/main" val="422309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F077221-FCCD-F147-95E5-12E09A2125EF}"/>
              </a:ext>
            </a:extLst>
          </p:cNvPr>
          <p:cNvSpPr txBox="1"/>
          <p:nvPr/>
        </p:nvSpPr>
        <p:spPr>
          <a:xfrm>
            <a:off x="913586" y="235515"/>
            <a:ext cx="3360702" cy="871842"/>
          </a:xfrm>
          <a:prstGeom prst="rect">
            <a:avLst/>
          </a:prstGeom>
          <a:noFill/>
        </p:spPr>
        <p:txBody>
          <a:bodyPr wrap="square" rtlCol="0">
            <a:spAutoFit/>
          </a:bodyPr>
          <a:lstStyle/>
          <a:p>
            <a:pPr>
              <a:lnSpc>
                <a:spcPct val="90000"/>
              </a:lnSpc>
            </a:pPr>
            <a:r>
              <a:rPr lang="en-US" sz="2800" b="1" spc="100" dirty="0">
                <a:solidFill>
                  <a:srgbClr val="138B91"/>
                </a:solidFill>
                <a:latin typeface="Futura PT Book" charset="0"/>
                <a:ea typeface="Futura PT Book" charset="0"/>
                <a:cs typeface="Futura PT Book" charset="0"/>
              </a:rPr>
              <a:t>Establish &amp; Order Backlog</a:t>
            </a:r>
            <a:endParaRPr lang="en-US" sz="2000" b="1" spc="100" dirty="0">
              <a:solidFill>
                <a:srgbClr val="138B91"/>
              </a:solidFill>
              <a:latin typeface="Futura PT Book" charset="0"/>
              <a:ea typeface="Futura PT Book" charset="0"/>
              <a:cs typeface="Futura PT Book" charset="0"/>
            </a:endParaRPr>
          </a:p>
        </p:txBody>
      </p:sp>
      <p:sp>
        <p:nvSpPr>
          <p:cNvPr id="7" name="Oval 6">
            <a:extLst>
              <a:ext uri="{FF2B5EF4-FFF2-40B4-BE49-F238E27FC236}">
                <a16:creationId xmlns:a16="http://schemas.microsoft.com/office/drawing/2014/main" id="{BBB70A81-0F73-4046-9647-719502E5DC66}"/>
              </a:ext>
            </a:extLst>
          </p:cNvPr>
          <p:cNvSpPr/>
          <p:nvPr/>
        </p:nvSpPr>
        <p:spPr>
          <a:xfrm>
            <a:off x="283786" y="316696"/>
            <a:ext cx="624840" cy="624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Futura PT Book" panose="020B0502020204020303" pitchFamily="34" charset="77"/>
              </a:rPr>
              <a:t>2</a:t>
            </a:r>
          </a:p>
        </p:txBody>
      </p:sp>
      <p:sp>
        <p:nvSpPr>
          <p:cNvPr id="8" name="TextBox 7">
            <a:extLst>
              <a:ext uri="{FF2B5EF4-FFF2-40B4-BE49-F238E27FC236}">
                <a16:creationId xmlns:a16="http://schemas.microsoft.com/office/drawing/2014/main" id="{A8836CB4-CDEF-C244-8466-8664E4FB7976}"/>
              </a:ext>
            </a:extLst>
          </p:cNvPr>
          <p:cNvSpPr txBox="1"/>
          <p:nvPr/>
        </p:nvSpPr>
        <p:spPr>
          <a:xfrm>
            <a:off x="638904" y="1684214"/>
            <a:ext cx="5117028" cy="3093154"/>
          </a:xfrm>
          <a:prstGeom prst="rect">
            <a:avLst/>
          </a:prstGeom>
          <a:noFill/>
          <a:ln w="19050">
            <a:solidFill>
              <a:schemeClr val="accent2"/>
            </a:solidFill>
          </a:ln>
        </p:spPr>
        <p:txBody>
          <a:bodyPr wrap="square" rtlCol="0">
            <a:spAutoFit/>
          </a:bodyPr>
          <a:lstStyle/>
          <a:p>
            <a:pPr marL="288925" indent="-288925">
              <a:spcAft>
                <a:spcPts val="600"/>
              </a:spcAft>
              <a:buFont typeface="+mj-lt"/>
              <a:buAutoNum type="arabicPeriod"/>
            </a:pPr>
            <a:r>
              <a:rPr lang="en-US" dirty="0">
                <a:latin typeface="Futura PT Book" charset="0"/>
                <a:ea typeface="Futura PT Book" charset="0"/>
                <a:cs typeface="Futura PT Book" charset="0"/>
              </a:rPr>
              <a:t>Create a free </a:t>
            </a:r>
            <a:r>
              <a:rPr lang="en-US" b="1" dirty="0">
                <a:latin typeface="Futura PT Book" charset="0"/>
                <a:ea typeface="Futura PT Book" charset="0"/>
                <a:cs typeface="Futura PT Book" charset="0"/>
                <a:hlinkClick r:id="rId2"/>
              </a:rPr>
              <a:t>Trello</a:t>
            </a:r>
            <a:r>
              <a:rPr lang="en-US" b="1" dirty="0">
                <a:latin typeface="Futura PT Book" charset="0"/>
                <a:ea typeface="Futura PT Book" charset="0"/>
                <a:cs typeface="Futura PT Book" charset="0"/>
              </a:rPr>
              <a:t> </a:t>
            </a:r>
            <a:r>
              <a:rPr lang="en-US" dirty="0">
                <a:latin typeface="Futura PT Book" charset="0"/>
                <a:ea typeface="Futura PT Book" charset="0"/>
                <a:cs typeface="Futura PT Book" charset="0"/>
              </a:rPr>
              <a:t>account</a:t>
            </a:r>
          </a:p>
          <a:p>
            <a:pPr marL="288925" indent="-288925">
              <a:spcAft>
                <a:spcPts val="600"/>
              </a:spcAft>
              <a:buFont typeface="+mj-lt"/>
              <a:buAutoNum type="arabicPeriod"/>
            </a:pPr>
            <a:r>
              <a:rPr lang="en-US" dirty="0">
                <a:latin typeface="Futura PT Book" charset="0"/>
                <a:ea typeface="Futura PT Book" charset="0"/>
                <a:cs typeface="Futura PT Book" charset="0"/>
              </a:rPr>
              <a:t>In Trello, create a new board for your backlog (call it CS634_UserName) (SET IT TO PUBLIC)</a:t>
            </a:r>
          </a:p>
          <a:p>
            <a:pPr marL="288925" indent="-288925">
              <a:spcAft>
                <a:spcPts val="600"/>
              </a:spcAft>
              <a:buFont typeface="+mj-lt"/>
              <a:buAutoNum type="arabicPeriod"/>
            </a:pPr>
            <a:r>
              <a:rPr lang="en-US" dirty="0">
                <a:latin typeface="Futura PT Book" charset="0"/>
                <a:ea typeface="Futura PT Book" charset="0"/>
                <a:cs typeface="Futura PT Book" charset="0"/>
              </a:rPr>
              <a:t>Create lists for </a:t>
            </a:r>
            <a:r>
              <a:rPr lang="en-US" b="1" u="sng" dirty="0">
                <a:latin typeface="Futura PT Book" charset="0"/>
                <a:ea typeface="Futura PT Book" charset="0"/>
                <a:cs typeface="Futura PT Book" charset="0"/>
              </a:rPr>
              <a:t>Backlog</a:t>
            </a:r>
            <a:r>
              <a:rPr lang="en-US" b="1" dirty="0">
                <a:latin typeface="Futura PT Book" charset="0"/>
                <a:ea typeface="Futura PT Book" charset="0"/>
                <a:cs typeface="Futura PT Book" charset="0"/>
              </a:rPr>
              <a:t> </a:t>
            </a:r>
            <a:r>
              <a:rPr lang="en-US" dirty="0">
                <a:latin typeface="Futura PT Book" charset="0"/>
                <a:ea typeface="Futura PT Book" charset="0"/>
                <a:cs typeface="Futura PT Book" charset="0"/>
              </a:rPr>
              <a:t>and </a:t>
            </a:r>
            <a:r>
              <a:rPr lang="en-US" b="1" u="sng" dirty="0">
                <a:latin typeface="Futura PT Book" charset="0"/>
                <a:ea typeface="Futura PT Book" charset="0"/>
                <a:cs typeface="Futura PT Book" charset="0"/>
              </a:rPr>
              <a:t>2-3 Releases </a:t>
            </a:r>
            <a:r>
              <a:rPr lang="en-US" dirty="0">
                <a:latin typeface="Futura PT Book" charset="0"/>
                <a:ea typeface="Futura PT Book" charset="0"/>
                <a:cs typeface="Futura PT Book" charset="0"/>
              </a:rPr>
              <a:t>(Add items to Backlog and then move those to a slated release to show Roadmap)</a:t>
            </a:r>
          </a:p>
          <a:p>
            <a:pPr marL="288925" indent="-288925">
              <a:spcAft>
                <a:spcPts val="600"/>
              </a:spcAft>
              <a:buFont typeface="+mj-lt"/>
              <a:buAutoNum type="arabicPeriod"/>
            </a:pPr>
            <a:r>
              <a:rPr lang="en-US" dirty="0">
                <a:latin typeface="Futura PT Book" charset="0"/>
                <a:ea typeface="Futura PT Book" charset="0"/>
                <a:cs typeface="Futura PT Book" charset="0"/>
              </a:rPr>
              <a:t>Add your </a:t>
            </a:r>
            <a:r>
              <a:rPr lang="en-US" b="1" u="sng" dirty="0">
                <a:latin typeface="Futura PT Book" charset="0"/>
                <a:ea typeface="Futura PT Book" charset="0"/>
                <a:cs typeface="Futura PT Book" charset="0"/>
              </a:rPr>
              <a:t>Features,</a:t>
            </a:r>
            <a:r>
              <a:rPr lang="en-US" dirty="0">
                <a:latin typeface="Futura PT Book" charset="0"/>
                <a:ea typeface="Futura PT Book" charset="0"/>
                <a:cs typeface="Futura PT Book" charset="0"/>
              </a:rPr>
              <a:t> </a:t>
            </a:r>
            <a:r>
              <a:rPr lang="en-US" b="1" u="sng" dirty="0">
                <a:latin typeface="Futura PT Book" charset="0"/>
                <a:ea typeface="Futura PT Book" charset="0"/>
                <a:cs typeface="Futura PT Book" charset="0"/>
              </a:rPr>
              <a:t>Enablers,</a:t>
            </a:r>
            <a:r>
              <a:rPr lang="en-US" b="1" dirty="0">
                <a:latin typeface="Futura PT Book" charset="0"/>
                <a:ea typeface="Futura PT Book" charset="0"/>
                <a:cs typeface="Futura PT Book" charset="0"/>
              </a:rPr>
              <a:t> and </a:t>
            </a:r>
            <a:r>
              <a:rPr lang="en-US" b="1" u="sng" dirty="0">
                <a:latin typeface="Futura PT Book" charset="0"/>
                <a:ea typeface="Futura PT Book" charset="0"/>
                <a:cs typeface="Futura PT Book" charset="0"/>
              </a:rPr>
              <a:t>Data</a:t>
            </a:r>
            <a:r>
              <a:rPr lang="en-US" dirty="0">
                <a:latin typeface="Futura PT Book" charset="0"/>
                <a:ea typeface="Futura PT Book" charset="0"/>
                <a:cs typeface="Futura PT Book" charset="0"/>
              </a:rPr>
              <a:t> into the Backlog (</a:t>
            </a:r>
            <a:r>
              <a:rPr lang="en-US" b="1" dirty="0">
                <a:solidFill>
                  <a:schemeClr val="accent2"/>
                </a:solidFill>
                <a:latin typeface="Futura PT Book" charset="0"/>
                <a:ea typeface="Futura PT Book" charset="0"/>
                <a:cs typeface="Futura PT Book" charset="0"/>
              </a:rPr>
              <a:t>Note: You won’t need to enter your NFRs in Trello</a:t>
            </a:r>
            <a:r>
              <a:rPr lang="en-US" dirty="0">
                <a:latin typeface="Futura PT Book" charset="0"/>
                <a:ea typeface="Futura PT Book" charset="0"/>
                <a:cs typeface="Futura PT Book" charset="0"/>
              </a:rPr>
              <a:t>)</a:t>
            </a:r>
          </a:p>
        </p:txBody>
      </p:sp>
      <p:pic>
        <p:nvPicPr>
          <p:cNvPr id="10" name="Picture 9">
            <a:extLst>
              <a:ext uri="{FF2B5EF4-FFF2-40B4-BE49-F238E27FC236}">
                <a16:creationId xmlns:a16="http://schemas.microsoft.com/office/drawing/2014/main" id="{446AE5E9-E8B5-694E-94CF-8D24A00D3BCD}"/>
              </a:ext>
            </a:extLst>
          </p:cNvPr>
          <p:cNvPicPr>
            <a:picLocks noChangeAspect="1"/>
          </p:cNvPicPr>
          <p:nvPr/>
        </p:nvPicPr>
        <p:blipFill rotWithShape="1">
          <a:blip r:embed="rId3"/>
          <a:srcRect l="3040" t="11032" r="3287" b="42492"/>
          <a:stretch/>
        </p:blipFill>
        <p:spPr>
          <a:xfrm>
            <a:off x="5958840" y="235516"/>
            <a:ext cx="5433060" cy="1927880"/>
          </a:xfrm>
          <a:prstGeom prst="rect">
            <a:avLst/>
          </a:prstGeom>
          <a:ln>
            <a:noFill/>
          </a:ln>
          <a:effectLst>
            <a:outerShdw blurRad="292100" dist="139700" dir="2700000" algn="tl" rotWithShape="0">
              <a:srgbClr val="333333">
                <a:alpha val="65000"/>
              </a:srgbClr>
            </a:outerShdw>
          </a:effectLst>
        </p:spPr>
      </p:pic>
      <p:sp>
        <p:nvSpPr>
          <p:cNvPr id="11" name="Rectangle 10">
            <a:extLst>
              <a:ext uri="{FF2B5EF4-FFF2-40B4-BE49-F238E27FC236}">
                <a16:creationId xmlns:a16="http://schemas.microsoft.com/office/drawing/2014/main" id="{C49925F6-F64B-684E-8038-251B042B7DDC}"/>
              </a:ext>
            </a:extLst>
          </p:cNvPr>
          <p:cNvSpPr/>
          <p:nvPr/>
        </p:nvSpPr>
        <p:spPr>
          <a:xfrm>
            <a:off x="10408920" y="187542"/>
            <a:ext cx="1074420" cy="1230267"/>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0999EB36-AB2E-5441-9C65-44DA84948A4B}"/>
              </a:ext>
            </a:extLst>
          </p:cNvPr>
          <p:cNvSpPr/>
          <p:nvPr/>
        </p:nvSpPr>
        <p:spPr>
          <a:xfrm rot="5400000">
            <a:off x="10272656" y="573129"/>
            <a:ext cx="272528" cy="12619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026F6A88-C5E6-584F-BC88-A3ACF2798042}"/>
              </a:ext>
            </a:extLst>
          </p:cNvPr>
          <p:cNvPicPr>
            <a:picLocks noChangeAspect="1"/>
          </p:cNvPicPr>
          <p:nvPr/>
        </p:nvPicPr>
        <p:blipFill rotWithShape="1">
          <a:blip r:embed="rId4"/>
          <a:srcRect l="3035" t="11264" r="21144" b="35889"/>
          <a:stretch/>
        </p:blipFill>
        <p:spPr>
          <a:xfrm>
            <a:off x="5974531" y="2309898"/>
            <a:ext cx="5417369" cy="2700504"/>
          </a:xfrm>
          <a:prstGeom prst="rect">
            <a:avLst/>
          </a:prstGeom>
          <a:ln>
            <a:noFill/>
          </a:ln>
          <a:effectLst>
            <a:outerShdw blurRad="292100" dist="139700" dir="2700000" algn="tl" rotWithShape="0">
              <a:srgbClr val="333333">
                <a:alpha val="65000"/>
              </a:srgbClr>
            </a:outerShdw>
          </a:effectLst>
        </p:spPr>
      </p:pic>
      <p:pic>
        <p:nvPicPr>
          <p:cNvPr id="26" name="Picture 25">
            <a:extLst>
              <a:ext uri="{FF2B5EF4-FFF2-40B4-BE49-F238E27FC236}">
                <a16:creationId xmlns:a16="http://schemas.microsoft.com/office/drawing/2014/main" id="{E29F121F-2393-4B41-BDB7-4F7CA9D87B1D}"/>
              </a:ext>
            </a:extLst>
          </p:cNvPr>
          <p:cNvPicPr>
            <a:picLocks noChangeAspect="1"/>
          </p:cNvPicPr>
          <p:nvPr/>
        </p:nvPicPr>
        <p:blipFill rotWithShape="1">
          <a:blip r:embed="rId5"/>
          <a:srcRect l="30372" t="15120" r="29975" b="30555"/>
          <a:stretch/>
        </p:blipFill>
        <p:spPr>
          <a:xfrm>
            <a:off x="8676075" y="3513324"/>
            <a:ext cx="3055893" cy="2994156"/>
          </a:xfrm>
          <a:prstGeom prst="rect">
            <a:avLst/>
          </a:prstGeom>
        </p:spPr>
      </p:pic>
      <p:sp>
        <p:nvSpPr>
          <p:cNvPr id="20" name="TextBox 19">
            <a:extLst>
              <a:ext uri="{FF2B5EF4-FFF2-40B4-BE49-F238E27FC236}">
                <a16:creationId xmlns:a16="http://schemas.microsoft.com/office/drawing/2014/main" id="{5E6AC2EB-0F0C-0149-B0DC-F03BA50DF519}"/>
              </a:ext>
            </a:extLst>
          </p:cNvPr>
          <p:cNvSpPr txBox="1"/>
          <p:nvPr/>
        </p:nvSpPr>
        <p:spPr>
          <a:xfrm>
            <a:off x="6165756" y="3545131"/>
            <a:ext cx="2361476" cy="2489912"/>
          </a:xfrm>
          <a:prstGeom prst="rect">
            <a:avLst/>
          </a:prstGeom>
          <a:solidFill>
            <a:schemeClr val="bg1"/>
          </a:solidFill>
          <a:ln w="19050">
            <a:solidFill>
              <a:schemeClr val="accent2"/>
            </a:solidFill>
          </a:ln>
        </p:spPr>
        <p:txBody>
          <a:bodyPr wrap="square" rtlCol="0">
            <a:spAutoFit/>
          </a:bodyPr>
          <a:lstStyle/>
          <a:p>
            <a:pPr>
              <a:lnSpc>
                <a:spcPct val="90000"/>
              </a:lnSpc>
              <a:spcAft>
                <a:spcPts val="300"/>
              </a:spcAft>
            </a:pPr>
            <a:r>
              <a:rPr lang="en-US" b="1" dirty="0">
                <a:latin typeface="Futura PT Book" panose="020B0502020204020303" pitchFamily="34" charset="77"/>
              </a:rPr>
              <a:t>+Add a card</a:t>
            </a:r>
          </a:p>
          <a:p>
            <a:pPr>
              <a:lnSpc>
                <a:spcPct val="90000"/>
              </a:lnSpc>
              <a:spcAft>
                <a:spcPts val="300"/>
              </a:spcAft>
            </a:pPr>
            <a:r>
              <a:rPr lang="en-US" dirty="0">
                <a:latin typeface="Futura PT Book" panose="020B0502020204020303" pitchFamily="34" charset="77"/>
              </a:rPr>
              <a:t>Give it a name (</a:t>
            </a:r>
            <a:r>
              <a:rPr lang="en-US" dirty="0" err="1">
                <a:latin typeface="Futura PT Book" panose="020B0502020204020303" pitchFamily="34" charset="77"/>
              </a:rPr>
              <a:t>Capability:Feature</a:t>
            </a:r>
            <a:r>
              <a:rPr lang="en-US" dirty="0">
                <a:latin typeface="Futura PT Book" panose="020B0502020204020303" pitchFamily="34" charset="77"/>
              </a:rPr>
              <a:t>, Enabler or Data)</a:t>
            </a:r>
          </a:p>
          <a:p>
            <a:pPr>
              <a:lnSpc>
                <a:spcPct val="90000"/>
              </a:lnSpc>
              <a:spcAft>
                <a:spcPts val="300"/>
              </a:spcAft>
            </a:pPr>
            <a:r>
              <a:rPr lang="en-US" dirty="0">
                <a:latin typeface="Futura PT Book" panose="020B0502020204020303" pitchFamily="34" charset="77"/>
              </a:rPr>
              <a:t>Add a description</a:t>
            </a:r>
          </a:p>
          <a:p>
            <a:pPr>
              <a:lnSpc>
                <a:spcPct val="90000"/>
              </a:lnSpc>
              <a:spcAft>
                <a:spcPts val="300"/>
              </a:spcAft>
            </a:pPr>
            <a:r>
              <a:rPr lang="en-US" dirty="0">
                <a:latin typeface="Futura PT Book" panose="020B0502020204020303" pitchFamily="34" charset="77"/>
              </a:rPr>
              <a:t>Note: In Assignment 4, you will add additional details</a:t>
            </a:r>
          </a:p>
          <a:p>
            <a:pPr>
              <a:lnSpc>
                <a:spcPct val="90000"/>
              </a:lnSpc>
              <a:spcAft>
                <a:spcPts val="300"/>
              </a:spcAft>
            </a:pPr>
            <a:endParaRPr lang="en-US" dirty="0">
              <a:latin typeface="Futura PT Book" panose="020B0502020204020303" pitchFamily="34" charset="77"/>
            </a:endParaRPr>
          </a:p>
        </p:txBody>
      </p:sp>
      <p:cxnSp>
        <p:nvCxnSpPr>
          <p:cNvPr id="28" name="Elbow Connector 27">
            <a:extLst>
              <a:ext uri="{FF2B5EF4-FFF2-40B4-BE49-F238E27FC236}">
                <a16:creationId xmlns:a16="http://schemas.microsoft.com/office/drawing/2014/main" id="{896AE35E-8C52-5041-AAF8-DDAEEBE54F28}"/>
              </a:ext>
            </a:extLst>
          </p:cNvPr>
          <p:cNvCxnSpPr>
            <a:cxnSpLocks/>
            <a:stCxn id="8" idx="2"/>
          </p:cNvCxnSpPr>
          <p:nvPr/>
        </p:nvCxnSpPr>
        <p:spPr>
          <a:xfrm rot="16200000" flipH="1">
            <a:off x="4542956" y="3431830"/>
            <a:ext cx="277263" cy="2968338"/>
          </a:xfrm>
          <a:prstGeom prst="bentConnector2">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F1A8C8E-E690-565F-D520-18A9D5B0CFEE}"/>
              </a:ext>
            </a:extLst>
          </p:cNvPr>
          <p:cNvSpPr txBox="1"/>
          <p:nvPr/>
        </p:nvSpPr>
        <p:spPr>
          <a:xfrm>
            <a:off x="460032" y="6171972"/>
            <a:ext cx="4773102" cy="369332"/>
          </a:xfrm>
          <a:prstGeom prst="rect">
            <a:avLst/>
          </a:prstGeom>
          <a:noFill/>
        </p:spPr>
        <p:txBody>
          <a:bodyPr wrap="none" rtlCol="0">
            <a:spAutoFit/>
          </a:bodyPr>
          <a:lstStyle/>
          <a:p>
            <a:r>
              <a:rPr lang="en-US" dirty="0">
                <a:hlinkClick r:id="rId6"/>
              </a:rPr>
              <a:t>https://trello.com/b/Fg1OBULU/cs-634-example</a:t>
            </a:r>
            <a:r>
              <a:rPr lang="en-US" dirty="0"/>
              <a:t> </a:t>
            </a:r>
          </a:p>
        </p:txBody>
      </p:sp>
    </p:spTree>
    <p:extLst>
      <p:ext uri="{BB962C8B-B14F-4D97-AF65-F5344CB8AC3E}">
        <p14:creationId xmlns:p14="http://schemas.microsoft.com/office/powerpoint/2010/main" val="2651197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0F8155E-ED19-94AE-7CE1-2010912199AB}"/>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rPr>
              <a:t>Trello Guidance for Assignment 3</a:t>
            </a:r>
          </a:p>
        </p:txBody>
      </p:sp>
      <p:sp>
        <p:nvSpPr>
          <p:cNvPr id="3" name="Content Placeholder 2">
            <a:extLst>
              <a:ext uri="{FF2B5EF4-FFF2-40B4-BE49-F238E27FC236}">
                <a16:creationId xmlns:a16="http://schemas.microsoft.com/office/drawing/2014/main" id="{8C631016-8F96-B5AD-26ED-763E9DC80451}"/>
              </a:ext>
            </a:extLst>
          </p:cNvPr>
          <p:cNvSpPr>
            <a:spLocks noGrp="1"/>
          </p:cNvSpPr>
          <p:nvPr>
            <p:ph sz="half" idx="1"/>
          </p:nvPr>
        </p:nvSpPr>
        <p:spPr>
          <a:xfrm>
            <a:off x="4380855" y="1412489"/>
            <a:ext cx="3427283" cy="4363844"/>
          </a:xfrm>
        </p:spPr>
        <p:txBody>
          <a:bodyPr>
            <a:normAutofit/>
          </a:bodyPr>
          <a:lstStyle/>
          <a:p>
            <a:r>
              <a:rPr lang="en-US" sz="1700" dirty="0"/>
              <a:t>Create Board (it’s easier to not use a template)</a:t>
            </a:r>
          </a:p>
          <a:p>
            <a:pPr lvl="1"/>
            <a:r>
              <a:rPr lang="en-US" sz="1700" dirty="0"/>
              <a:t>Name the Board </a:t>
            </a:r>
            <a:r>
              <a:rPr lang="en-US" sz="1700" i="1" dirty="0"/>
              <a:t>CS634_UserName</a:t>
            </a:r>
          </a:p>
          <a:p>
            <a:pPr lvl="1"/>
            <a:r>
              <a:rPr lang="en-US" sz="1700" dirty="0"/>
              <a:t>Set ‘Visibility’ to Public</a:t>
            </a:r>
          </a:p>
          <a:p>
            <a:r>
              <a:rPr lang="en-US" sz="1700" dirty="0"/>
              <a:t>Edit Lists to: Product Backlog, Release 1, Release 2, Release 3</a:t>
            </a:r>
          </a:p>
          <a:p>
            <a:endParaRPr lang="en-US" sz="1700" dirty="0"/>
          </a:p>
          <a:p>
            <a:r>
              <a:rPr lang="en-US" sz="1700" dirty="0"/>
              <a:t>Select ‘+ Add a Card’ to create a new item.  Name it </a:t>
            </a:r>
            <a:r>
              <a:rPr lang="en-US" sz="1700" i="1" dirty="0"/>
              <a:t>Template</a:t>
            </a:r>
            <a:r>
              <a:rPr lang="en-US" sz="1700" dirty="0"/>
              <a:t> </a:t>
            </a:r>
          </a:p>
          <a:p>
            <a:r>
              <a:rPr lang="en-US" sz="1700" dirty="0"/>
              <a:t>Select ‘Checklist’ button and name it </a:t>
            </a:r>
            <a:r>
              <a:rPr lang="en-US" sz="1700" i="1" dirty="0"/>
              <a:t>Activities</a:t>
            </a:r>
          </a:p>
          <a:p>
            <a:r>
              <a:rPr lang="en-US" sz="1700" dirty="0"/>
              <a:t>Select ‘Make template’ button</a:t>
            </a:r>
          </a:p>
          <a:p>
            <a:endParaRPr lang="en-US" sz="1700" dirty="0"/>
          </a:p>
        </p:txBody>
      </p:sp>
      <p:cxnSp>
        <p:nvCxnSpPr>
          <p:cNvPr id="11" name="Straight Connector 10">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D1349DDF-9232-9E95-8311-3558FF156014}"/>
              </a:ext>
            </a:extLst>
          </p:cNvPr>
          <p:cNvSpPr>
            <a:spLocks noGrp="1"/>
          </p:cNvSpPr>
          <p:nvPr>
            <p:ph sz="half" idx="2"/>
          </p:nvPr>
        </p:nvSpPr>
        <p:spPr>
          <a:xfrm>
            <a:off x="8451604" y="1412489"/>
            <a:ext cx="3197701" cy="4363844"/>
          </a:xfrm>
        </p:spPr>
        <p:txBody>
          <a:bodyPr>
            <a:normAutofit/>
          </a:bodyPr>
          <a:lstStyle/>
          <a:p>
            <a:r>
              <a:rPr lang="en-US" sz="1600"/>
              <a:t>To use template for new items, select ‘Create card from template’</a:t>
            </a:r>
          </a:p>
          <a:p>
            <a:r>
              <a:rPr lang="en-US" sz="1600"/>
              <a:t>Add Capabilities and Steps (from your User Flows) to Product Backlog (Capability: Step) </a:t>
            </a:r>
          </a:p>
          <a:p>
            <a:pPr lvl="1"/>
            <a:r>
              <a:rPr lang="en-US" sz="1600"/>
              <a:t>Add brief description if needed</a:t>
            </a:r>
          </a:p>
          <a:p>
            <a:pPr lvl="1"/>
            <a:r>
              <a:rPr lang="en-US" sz="1600"/>
              <a:t>Add Activities from User Flows as checkboxes under Activities</a:t>
            </a:r>
          </a:p>
          <a:p>
            <a:r>
              <a:rPr lang="en-US" sz="1600"/>
              <a:t>Add Enablers and Data to Product Backlog</a:t>
            </a:r>
          </a:p>
          <a:p>
            <a:r>
              <a:rPr lang="en-US" sz="1600"/>
              <a:t>Decide which items will be in Release 1, 2, 3, or stay in Product Backlog (and move them accordingly)</a:t>
            </a:r>
          </a:p>
          <a:p>
            <a:endParaRPr lang="en-US" sz="1600"/>
          </a:p>
        </p:txBody>
      </p:sp>
    </p:spTree>
    <p:extLst>
      <p:ext uri="{BB962C8B-B14F-4D97-AF65-F5344CB8AC3E}">
        <p14:creationId xmlns:p14="http://schemas.microsoft.com/office/powerpoint/2010/main" val="3535333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5E9BF1-4F14-383D-8AE5-2F09C6DE2AD5}"/>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39436F1-E154-7CF1-FAA6-CF69D814CC4E}"/>
              </a:ext>
            </a:extLst>
          </p:cNvPr>
          <p:cNvSpPr>
            <a:spLocks noGrp="1"/>
          </p:cNvSpPr>
          <p:nvPr>
            <p:ph type="title"/>
          </p:nvPr>
        </p:nvSpPr>
        <p:spPr>
          <a:xfrm>
            <a:off x="838200" y="1412488"/>
            <a:ext cx="2899189" cy="4363844"/>
          </a:xfrm>
        </p:spPr>
        <p:txBody>
          <a:bodyPr anchor="t">
            <a:normAutofit/>
          </a:bodyPr>
          <a:lstStyle/>
          <a:p>
            <a:r>
              <a:rPr lang="en-US" sz="4000" dirty="0">
                <a:solidFill>
                  <a:srgbClr val="FFFFFF"/>
                </a:solidFill>
              </a:rPr>
              <a:t>Trello Guidance for Assignment 4</a:t>
            </a:r>
          </a:p>
        </p:txBody>
      </p:sp>
      <p:sp>
        <p:nvSpPr>
          <p:cNvPr id="3" name="Content Placeholder 2">
            <a:extLst>
              <a:ext uri="{FF2B5EF4-FFF2-40B4-BE49-F238E27FC236}">
                <a16:creationId xmlns:a16="http://schemas.microsoft.com/office/drawing/2014/main" id="{A3E8383E-67C7-1AF6-6DA2-9786D261611D}"/>
              </a:ext>
            </a:extLst>
          </p:cNvPr>
          <p:cNvSpPr>
            <a:spLocks noGrp="1"/>
          </p:cNvSpPr>
          <p:nvPr>
            <p:ph sz="half" idx="1"/>
          </p:nvPr>
        </p:nvSpPr>
        <p:spPr>
          <a:xfrm>
            <a:off x="4380855" y="1412489"/>
            <a:ext cx="3427283" cy="4363844"/>
          </a:xfrm>
        </p:spPr>
        <p:txBody>
          <a:bodyPr>
            <a:normAutofit fontScale="92500" lnSpcReduction="10000"/>
          </a:bodyPr>
          <a:lstStyle/>
          <a:p>
            <a:pPr marL="342900" marR="0" lvl="0" indent="-342900" rtl="0">
              <a:buFont typeface="Symbol" pitchFamily="2" charset="2"/>
              <a:buChar char=""/>
            </a:pPr>
            <a:r>
              <a:rPr lang="en-US" sz="2000" kern="100" dirty="0">
                <a:effectLst/>
                <a:latin typeface="Aptos" panose="020B0004020202020204" pitchFamily="34" charset="0"/>
                <a:ea typeface="DengXian" panose="02010600030101010101" pitchFamily="2" charset="-122"/>
                <a:cs typeface="Arial" panose="020B0604020202020204" pitchFamily="34" charset="0"/>
              </a:rPr>
              <a:t>Create New List for Sprint 1</a:t>
            </a:r>
          </a:p>
          <a:p>
            <a:pPr marL="342900" marR="0" lvl="0" indent="-342900">
              <a:buFont typeface="Symbol" pitchFamily="2" charset="2"/>
              <a:buChar char=""/>
            </a:pPr>
            <a:r>
              <a:rPr lang="en-US" sz="2000" kern="100" dirty="0">
                <a:effectLst/>
                <a:latin typeface="Aptos" panose="020B0004020202020204" pitchFamily="34" charset="0"/>
                <a:ea typeface="DengXian" panose="02010600030101010101" pitchFamily="2" charset="-122"/>
                <a:cs typeface="Arial" panose="020B0604020202020204" pitchFamily="34" charset="0"/>
              </a:rPr>
              <a:t>Select ‘+ Add a Card’ to create a new item.  Name it </a:t>
            </a:r>
            <a:r>
              <a:rPr lang="en-US" sz="2000" i="1" kern="100" dirty="0">
                <a:effectLst/>
                <a:latin typeface="Aptos" panose="020B0004020202020204" pitchFamily="34" charset="0"/>
                <a:ea typeface="DengXian" panose="02010600030101010101" pitchFamily="2" charset="-122"/>
                <a:cs typeface="Arial" panose="020B0604020202020204" pitchFamily="34" charset="0"/>
              </a:rPr>
              <a:t>Template User Story</a:t>
            </a:r>
            <a:endParaRPr lang="en-US" sz="2000" kern="100" dirty="0">
              <a:effectLst/>
              <a:latin typeface="Aptos" panose="020B0004020202020204" pitchFamily="34" charset="0"/>
              <a:ea typeface="DengXian" panose="02010600030101010101" pitchFamily="2" charset="-122"/>
              <a:cs typeface="Arial" panose="020B0604020202020204" pitchFamily="34" charset="0"/>
            </a:endParaRPr>
          </a:p>
          <a:p>
            <a:pPr marL="342900" marR="0" lvl="0" indent="-342900">
              <a:buFont typeface="Symbol" pitchFamily="2" charset="2"/>
              <a:buChar char=""/>
            </a:pPr>
            <a:r>
              <a:rPr lang="en-US" sz="2000" kern="100" dirty="0">
                <a:effectLst/>
                <a:latin typeface="Aptos" panose="020B0004020202020204" pitchFamily="34" charset="0"/>
                <a:ea typeface="DengXian" panose="02010600030101010101" pitchFamily="2" charset="-122"/>
                <a:cs typeface="Arial" panose="020B0604020202020204" pitchFamily="34" charset="0"/>
              </a:rPr>
              <a:t>Select ‘Labels’ button and create labels for story sizes (e.g., Small, Medium, Large, XL, XXL)</a:t>
            </a:r>
          </a:p>
          <a:p>
            <a:pPr marL="342900" marR="0" lvl="0" indent="-342900">
              <a:buFont typeface="Symbol" pitchFamily="2" charset="2"/>
              <a:buChar char=""/>
            </a:pPr>
            <a:r>
              <a:rPr lang="en-US" sz="2000" kern="100" dirty="0">
                <a:effectLst/>
                <a:latin typeface="Aptos" panose="020B0004020202020204" pitchFamily="34" charset="0"/>
                <a:ea typeface="DengXian" panose="02010600030101010101" pitchFamily="2" charset="-122"/>
                <a:cs typeface="Arial" panose="020B0604020202020204" pitchFamily="34" charset="0"/>
              </a:rPr>
              <a:t>Select ‘Checklist’ button and name it </a:t>
            </a:r>
            <a:r>
              <a:rPr lang="en-US" sz="2000" i="1" kern="100" dirty="0">
                <a:effectLst/>
                <a:latin typeface="Aptos" panose="020B0004020202020204" pitchFamily="34" charset="0"/>
                <a:ea typeface="DengXian" panose="02010600030101010101" pitchFamily="2" charset="-122"/>
                <a:cs typeface="Arial" panose="020B0604020202020204" pitchFamily="34" charset="0"/>
              </a:rPr>
              <a:t>Tasks</a:t>
            </a:r>
            <a:r>
              <a:rPr lang="en-US" sz="2000" kern="100" dirty="0">
                <a:effectLst/>
                <a:latin typeface="Aptos" panose="020B0004020202020204" pitchFamily="34" charset="0"/>
                <a:ea typeface="DengXian" panose="02010600030101010101" pitchFamily="2" charset="-122"/>
                <a:cs typeface="Arial" panose="020B0604020202020204" pitchFamily="34" charset="0"/>
              </a:rPr>
              <a:t> </a:t>
            </a:r>
          </a:p>
          <a:p>
            <a:pPr marL="342900" marR="0" lvl="0" indent="-342900">
              <a:buFont typeface="Symbol" pitchFamily="2" charset="2"/>
              <a:buChar char=""/>
            </a:pPr>
            <a:r>
              <a:rPr lang="en-US" sz="2000" kern="100" dirty="0">
                <a:effectLst/>
                <a:latin typeface="Aptos" panose="020B0004020202020204" pitchFamily="34" charset="0"/>
                <a:ea typeface="DengXian" panose="02010600030101010101" pitchFamily="2" charset="-122"/>
                <a:cs typeface="Arial" panose="020B0604020202020204" pitchFamily="34" charset="0"/>
              </a:rPr>
              <a:t>Select ‘Checklist’ button and name it </a:t>
            </a:r>
            <a:r>
              <a:rPr lang="en-US" sz="2000" i="1" kern="100" dirty="0">
                <a:effectLst/>
                <a:latin typeface="Aptos" panose="020B0004020202020204" pitchFamily="34" charset="0"/>
                <a:ea typeface="DengXian" panose="02010600030101010101" pitchFamily="2" charset="-122"/>
                <a:cs typeface="Arial" panose="020B0604020202020204" pitchFamily="34" charset="0"/>
              </a:rPr>
              <a:t>User Acceptance Tests</a:t>
            </a:r>
            <a:r>
              <a:rPr lang="en-US" sz="2000" kern="100" dirty="0">
                <a:effectLst/>
                <a:latin typeface="Aptos" panose="020B0004020202020204" pitchFamily="34" charset="0"/>
                <a:ea typeface="DengXian" panose="02010600030101010101" pitchFamily="2" charset="-122"/>
                <a:cs typeface="Arial" panose="020B0604020202020204" pitchFamily="34" charset="0"/>
              </a:rPr>
              <a:t> </a:t>
            </a:r>
          </a:p>
          <a:p>
            <a:pPr marL="342900" marR="0" lvl="0" indent="-342900">
              <a:spcAft>
                <a:spcPts val="800"/>
              </a:spcAft>
              <a:buFont typeface="Symbol" pitchFamily="2" charset="2"/>
              <a:buChar char=""/>
            </a:pPr>
            <a:r>
              <a:rPr lang="en-US" sz="2000" kern="100" dirty="0">
                <a:effectLst/>
                <a:latin typeface="Aptos" panose="020B0004020202020204" pitchFamily="34" charset="0"/>
                <a:ea typeface="DengXian" panose="02010600030101010101" pitchFamily="2" charset="-122"/>
                <a:cs typeface="Arial" panose="020B0604020202020204" pitchFamily="34" charset="0"/>
              </a:rPr>
              <a:t>Select ‘Make template’ button</a:t>
            </a:r>
          </a:p>
          <a:p>
            <a:endParaRPr lang="en-US" sz="1700" dirty="0"/>
          </a:p>
        </p:txBody>
      </p:sp>
      <p:cxnSp>
        <p:nvCxnSpPr>
          <p:cNvPr id="18" name="Straight Connector 17">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73D81F0C-51DD-57C3-F110-091C6737E0F9}"/>
              </a:ext>
            </a:extLst>
          </p:cNvPr>
          <p:cNvSpPr>
            <a:spLocks noGrp="1"/>
          </p:cNvSpPr>
          <p:nvPr>
            <p:ph sz="half" idx="2"/>
          </p:nvPr>
        </p:nvSpPr>
        <p:spPr>
          <a:xfrm>
            <a:off x="8451604" y="1412489"/>
            <a:ext cx="3197701" cy="4363844"/>
          </a:xfrm>
        </p:spPr>
        <p:txBody>
          <a:bodyPr>
            <a:normAutofit fontScale="92500" lnSpcReduction="10000"/>
          </a:bodyPr>
          <a:lstStyle/>
          <a:p>
            <a:pPr marL="342900" marR="0" lvl="0" indent="-342900" rtl="0">
              <a:buFont typeface="Symbol" pitchFamily="2" charset="2"/>
              <a:buChar char=""/>
            </a:pPr>
            <a:r>
              <a:rPr lang="en-US" sz="2000" kern="100" dirty="0">
                <a:effectLst/>
                <a:latin typeface="Aptos" panose="020B0004020202020204" pitchFamily="34" charset="0"/>
                <a:ea typeface="DengXian" panose="02010600030101010101" pitchFamily="2" charset="-122"/>
                <a:cs typeface="Arial" panose="020B0604020202020204" pitchFamily="34" charset="0"/>
              </a:rPr>
              <a:t>Decide which Product Backlog items in Release 1 will be in Sprint 1 </a:t>
            </a:r>
          </a:p>
          <a:p>
            <a:pPr marL="342900" marR="0" lvl="0" indent="-342900">
              <a:buFont typeface="Symbol" pitchFamily="2" charset="2"/>
              <a:buChar char=""/>
            </a:pPr>
            <a:r>
              <a:rPr lang="nb-NO" sz="2000" kern="100" dirty="0">
                <a:effectLst/>
                <a:latin typeface="Aptos" panose="020B0004020202020204" pitchFamily="34" charset="0"/>
                <a:ea typeface="DengXian" panose="02010600030101010101" pitchFamily="2" charset="-122"/>
                <a:cs typeface="Arial" panose="020B0604020202020204" pitchFamily="34" charset="0"/>
              </a:rPr>
              <a:t>Write User </a:t>
            </a:r>
            <a:r>
              <a:rPr lang="nb-NO" sz="2000" kern="100" dirty="0" err="1">
                <a:effectLst/>
                <a:latin typeface="Aptos" panose="020B0004020202020204" pitchFamily="34" charset="0"/>
                <a:ea typeface="DengXian" panose="02010600030101010101" pitchFamily="2" charset="-122"/>
                <a:cs typeface="Arial" panose="020B0604020202020204" pitchFamily="34" charset="0"/>
              </a:rPr>
              <a:t>Stories</a:t>
            </a:r>
            <a:r>
              <a:rPr lang="nb-NO" sz="2000" kern="100" dirty="0">
                <a:effectLst/>
                <a:latin typeface="Aptos" panose="020B0004020202020204" pitchFamily="34" charset="0"/>
                <a:ea typeface="DengXian" panose="02010600030101010101" pitchFamily="2" charset="-122"/>
                <a:cs typeface="Arial" panose="020B0604020202020204" pitchFamily="34" charset="0"/>
              </a:rPr>
              <a:t> for Sprint 1</a:t>
            </a:r>
            <a:endParaRPr lang="en-US" sz="2000" kern="100" dirty="0">
              <a:effectLst/>
              <a:latin typeface="Aptos" panose="020B0004020202020204" pitchFamily="34" charset="0"/>
              <a:ea typeface="DengXian" panose="02010600030101010101" pitchFamily="2" charset="-122"/>
              <a:cs typeface="Arial" panose="020B0604020202020204" pitchFamily="34" charset="0"/>
            </a:endParaRPr>
          </a:p>
          <a:p>
            <a:pPr marL="742950" marR="0" lvl="1" indent="-285750">
              <a:spcAft>
                <a:spcPts val="800"/>
              </a:spcAft>
              <a:buFont typeface="Courier New" panose="02070309020205020404" pitchFamily="49" charset="0"/>
              <a:buChar char="o"/>
            </a:pPr>
            <a:r>
              <a:rPr lang="en-US" sz="2000" kern="100" dirty="0">
                <a:effectLst/>
                <a:latin typeface="Aptos" panose="020B0004020202020204" pitchFamily="34" charset="0"/>
                <a:ea typeface="DengXian" panose="02010600030101010101" pitchFamily="2" charset="-122"/>
                <a:cs typeface="Times New Roman" panose="02020603050405020304" pitchFamily="18" charset="0"/>
              </a:rPr>
              <a:t>For each User Story, select size and add needed tasks and user acceptance tests</a:t>
            </a:r>
          </a:p>
          <a:p>
            <a:endParaRPr lang="en-US" sz="2000" dirty="0"/>
          </a:p>
        </p:txBody>
      </p:sp>
      <p:sp>
        <p:nvSpPr>
          <p:cNvPr id="5" name="TextBox 4">
            <a:extLst>
              <a:ext uri="{FF2B5EF4-FFF2-40B4-BE49-F238E27FC236}">
                <a16:creationId xmlns:a16="http://schemas.microsoft.com/office/drawing/2014/main" id="{5E9C2D91-DD76-B64E-0E5E-B8EBF4D7CF16}"/>
              </a:ext>
            </a:extLst>
          </p:cNvPr>
          <p:cNvSpPr txBox="1"/>
          <p:nvPr/>
        </p:nvSpPr>
        <p:spPr>
          <a:xfrm>
            <a:off x="4471269" y="5928360"/>
            <a:ext cx="7178036" cy="523220"/>
          </a:xfrm>
          <a:prstGeom prst="rect">
            <a:avLst/>
          </a:prstGeom>
          <a:noFill/>
        </p:spPr>
        <p:txBody>
          <a:bodyPr wrap="square" rtlCol="0">
            <a:spAutoFit/>
          </a:bodyPr>
          <a:lstStyle/>
          <a:p>
            <a:r>
              <a:rPr lang="en-US" sz="2800" b="1" dirty="0">
                <a:solidFill>
                  <a:srgbClr val="FF0000"/>
                </a:solidFill>
              </a:rPr>
              <a:t>NOTE: This is not needed until Assignment 4!</a:t>
            </a:r>
          </a:p>
        </p:txBody>
      </p:sp>
    </p:spTree>
    <p:extLst>
      <p:ext uri="{BB962C8B-B14F-4D97-AF65-F5344CB8AC3E}">
        <p14:creationId xmlns:p14="http://schemas.microsoft.com/office/powerpoint/2010/main" val="3239071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5715A3C-9D83-B944-86A8-BBDC927ED298}"/>
              </a:ext>
            </a:extLst>
          </p:cNvPr>
          <p:cNvSpPr txBox="1"/>
          <p:nvPr/>
        </p:nvSpPr>
        <p:spPr>
          <a:xfrm>
            <a:off x="913586" y="235515"/>
            <a:ext cx="2599233" cy="2031325"/>
          </a:xfrm>
          <a:prstGeom prst="rect">
            <a:avLst/>
          </a:prstGeom>
          <a:noFill/>
        </p:spPr>
        <p:txBody>
          <a:bodyPr wrap="square" rtlCol="0">
            <a:spAutoFit/>
          </a:bodyPr>
          <a:lstStyle/>
          <a:p>
            <a:pPr>
              <a:lnSpc>
                <a:spcPct val="90000"/>
              </a:lnSpc>
            </a:pPr>
            <a:r>
              <a:rPr lang="en-US" sz="2800" b="1" spc="100" dirty="0">
                <a:solidFill>
                  <a:srgbClr val="138B91"/>
                </a:solidFill>
                <a:latin typeface="Futura PT Book" charset="0"/>
                <a:ea typeface="Futura PT Book" charset="0"/>
                <a:cs typeface="Futura PT Book" charset="0"/>
              </a:rPr>
              <a:t>Optional: Create a Content Map for Your Site</a:t>
            </a:r>
            <a:endParaRPr lang="en-US" sz="2000" b="1" spc="100" dirty="0">
              <a:solidFill>
                <a:srgbClr val="138B91"/>
              </a:solidFill>
              <a:latin typeface="Futura PT Book" charset="0"/>
              <a:ea typeface="Futura PT Book" charset="0"/>
              <a:cs typeface="Futura PT Book" charset="0"/>
            </a:endParaRPr>
          </a:p>
        </p:txBody>
      </p:sp>
      <p:sp>
        <p:nvSpPr>
          <p:cNvPr id="7" name="Oval 6">
            <a:extLst>
              <a:ext uri="{FF2B5EF4-FFF2-40B4-BE49-F238E27FC236}">
                <a16:creationId xmlns:a16="http://schemas.microsoft.com/office/drawing/2014/main" id="{E366C0E4-2394-5C48-B8F2-6BDBA10B2CC2}"/>
              </a:ext>
            </a:extLst>
          </p:cNvPr>
          <p:cNvSpPr/>
          <p:nvPr/>
        </p:nvSpPr>
        <p:spPr>
          <a:xfrm>
            <a:off x="288746" y="552915"/>
            <a:ext cx="624840" cy="624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Futura PT Book" panose="020B0502020204020303" pitchFamily="34" charset="77"/>
              </a:rPr>
              <a:t>3</a:t>
            </a:r>
          </a:p>
        </p:txBody>
      </p:sp>
      <p:sp>
        <p:nvSpPr>
          <p:cNvPr id="8" name="Rectangle 7">
            <a:extLst>
              <a:ext uri="{FF2B5EF4-FFF2-40B4-BE49-F238E27FC236}">
                <a16:creationId xmlns:a16="http://schemas.microsoft.com/office/drawing/2014/main" id="{C1A995F0-2891-8D40-9BAD-8E18B9516667}"/>
              </a:ext>
            </a:extLst>
          </p:cNvPr>
          <p:cNvSpPr/>
          <p:nvPr/>
        </p:nvSpPr>
        <p:spPr>
          <a:xfrm>
            <a:off x="365760" y="2376903"/>
            <a:ext cx="3505200" cy="2657843"/>
          </a:xfrm>
          <a:prstGeom prst="rect">
            <a:avLst/>
          </a:prstGeom>
        </p:spPr>
        <p:txBody>
          <a:bodyPr wrap="square">
            <a:spAutoFit/>
          </a:bodyPr>
          <a:lstStyle/>
          <a:p>
            <a:pPr fontAlgn="base">
              <a:lnSpc>
                <a:spcPts val="2040"/>
              </a:lnSpc>
              <a:spcAft>
                <a:spcPts val="2025"/>
              </a:spcAft>
            </a:pPr>
            <a:r>
              <a:rPr lang="en-US"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Content maps are useful for exploring the content (data and information) that you will need for your site</a:t>
            </a:r>
          </a:p>
          <a:p>
            <a:pPr fontAlgn="base">
              <a:lnSpc>
                <a:spcPts val="2040"/>
              </a:lnSpc>
            </a:pPr>
            <a:r>
              <a:rPr lang="en-US"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It’s recommended that you use a mind-mapping tool for this portion of the assignment (</a:t>
            </a:r>
            <a:r>
              <a:rPr lang="en-US"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hlinkClick r:id="rId2"/>
              </a:rPr>
              <a:t>FreeMind</a:t>
            </a:r>
            <a:r>
              <a:rPr lang="en-US"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 </a:t>
            </a:r>
            <a:r>
              <a:rPr lang="en-US"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hlinkClick r:id="rId3"/>
              </a:rPr>
              <a:t>SimpleMind</a:t>
            </a:r>
            <a:r>
              <a:rPr lang="en-US"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 but you can also use PowerPoint or Visio</a:t>
            </a:r>
            <a:endParaRPr lang="en-US" sz="2000" dirty="0">
              <a:effectLst/>
              <a:latin typeface="Futura PT Book" panose="020B0502020204020303" pitchFamily="34" charset="77"/>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3AD1CC68-225C-FE46-A844-6EEC990FF878}"/>
              </a:ext>
            </a:extLst>
          </p:cNvPr>
          <p:cNvPicPr>
            <a:picLocks noChangeAspect="1"/>
          </p:cNvPicPr>
          <p:nvPr/>
        </p:nvPicPr>
        <p:blipFill rotWithShape="1">
          <a:blip r:embed="rId4"/>
          <a:srcRect l="27129" t="26430" r="18422" b="19333"/>
          <a:stretch/>
        </p:blipFill>
        <p:spPr>
          <a:xfrm>
            <a:off x="4343399" y="1495155"/>
            <a:ext cx="7179032" cy="4556976"/>
          </a:xfrm>
          <a:prstGeom prst="rect">
            <a:avLst/>
          </a:prstGeom>
        </p:spPr>
      </p:pic>
      <p:sp>
        <p:nvSpPr>
          <p:cNvPr id="11" name="Rectangle 10">
            <a:extLst>
              <a:ext uri="{FF2B5EF4-FFF2-40B4-BE49-F238E27FC236}">
                <a16:creationId xmlns:a16="http://schemas.microsoft.com/office/drawing/2014/main" id="{052A8B13-0AE6-204B-85DD-22CE8148329A}"/>
              </a:ext>
            </a:extLst>
          </p:cNvPr>
          <p:cNvSpPr/>
          <p:nvPr/>
        </p:nvSpPr>
        <p:spPr>
          <a:xfrm>
            <a:off x="3870960" y="999404"/>
            <a:ext cx="7095212" cy="356701"/>
          </a:xfrm>
          <a:prstGeom prst="rect">
            <a:avLst/>
          </a:prstGeom>
        </p:spPr>
        <p:txBody>
          <a:bodyPr wrap="none">
            <a:spAutoFit/>
          </a:bodyPr>
          <a:lstStyle/>
          <a:p>
            <a:pPr fontAlgn="base">
              <a:lnSpc>
                <a:spcPts val="2040"/>
              </a:lnSpc>
              <a:spcAft>
                <a:spcPts val="2025"/>
              </a:spcAft>
            </a:pPr>
            <a:r>
              <a:rPr lang="en-US" sz="2000" dirty="0">
                <a:solidFill>
                  <a:srgbClr val="333333"/>
                </a:solidFill>
                <a:latin typeface="Futura PT Book" panose="020B0502020204020303" pitchFamily="34" charset="77"/>
                <a:ea typeface="Calibri" panose="020F0502020204030204" pitchFamily="34" charset="0"/>
                <a:cs typeface="Times New Roman" panose="02020603050405020304" pitchFamily="18" charset="0"/>
              </a:rPr>
              <a:t>Break down the data categories you identified in your five capabilities</a:t>
            </a:r>
            <a:endParaRPr lang="en-US" sz="2000" dirty="0">
              <a:latin typeface="Futura PT Book" panose="020B0502020204020303" pitchFamily="34" charset="77"/>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96877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9AAFC0-D983-8146-AD9A-D0A4EB44D67C}"/>
              </a:ext>
            </a:extLst>
          </p:cNvPr>
          <p:cNvSpPr txBox="1"/>
          <p:nvPr/>
        </p:nvSpPr>
        <p:spPr>
          <a:xfrm>
            <a:off x="334466" y="374968"/>
            <a:ext cx="3886660" cy="590931"/>
          </a:xfrm>
          <a:prstGeom prst="rect">
            <a:avLst/>
          </a:prstGeom>
          <a:noFill/>
        </p:spPr>
        <p:txBody>
          <a:bodyPr wrap="square" rtlCol="0">
            <a:spAutoFit/>
          </a:bodyPr>
          <a:lstStyle/>
          <a:p>
            <a:pPr>
              <a:lnSpc>
                <a:spcPct val="90000"/>
              </a:lnSpc>
            </a:pPr>
            <a:r>
              <a:rPr lang="en-US" sz="3600" b="1" spc="100" dirty="0">
                <a:solidFill>
                  <a:srgbClr val="138B91"/>
                </a:solidFill>
                <a:latin typeface="Futura PT Book" charset="0"/>
                <a:ea typeface="Futura PT Book" charset="0"/>
                <a:cs typeface="Futura PT Book" charset="0"/>
              </a:rPr>
              <a:t>Handing It In</a:t>
            </a:r>
            <a:endParaRPr lang="en-US" sz="2800" b="1" spc="100" dirty="0">
              <a:solidFill>
                <a:srgbClr val="138B91"/>
              </a:solidFill>
              <a:latin typeface="Futura PT Book" charset="0"/>
              <a:ea typeface="Futura PT Book" charset="0"/>
              <a:cs typeface="Futura PT Book" charset="0"/>
            </a:endParaRPr>
          </a:p>
        </p:txBody>
      </p:sp>
      <p:sp>
        <p:nvSpPr>
          <p:cNvPr id="5" name="Rectangle 4">
            <a:extLst>
              <a:ext uri="{FF2B5EF4-FFF2-40B4-BE49-F238E27FC236}">
                <a16:creationId xmlns:a16="http://schemas.microsoft.com/office/drawing/2014/main" id="{F13002FB-C306-B243-8631-B38EC9CBE927}"/>
              </a:ext>
            </a:extLst>
          </p:cNvPr>
          <p:cNvSpPr/>
          <p:nvPr/>
        </p:nvSpPr>
        <p:spPr>
          <a:xfrm>
            <a:off x="2022702" y="2110203"/>
            <a:ext cx="7844312" cy="3139321"/>
          </a:xfrm>
          <a:prstGeom prst="rect">
            <a:avLst/>
          </a:prstGeom>
        </p:spPr>
        <p:txBody>
          <a:bodyPr wrap="square">
            <a:spAutoFit/>
          </a:bodyPr>
          <a:lstStyle/>
          <a:p>
            <a:pPr marL="457200" indent="-457200" fontAlgn="base">
              <a:spcAft>
                <a:spcPts val="1200"/>
              </a:spcAft>
              <a:buFont typeface="Arial" panose="020B0604020202020204" pitchFamily="34" charset="0"/>
              <a:buChar char="•"/>
            </a:pPr>
            <a:r>
              <a:rPr lang="en-US" sz="2800" i="1"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For reference, please include your personas and vision from Assignment 2</a:t>
            </a:r>
          </a:p>
          <a:p>
            <a:pPr marL="457200" indent="-457200" fontAlgn="base">
              <a:spcAft>
                <a:spcPts val="1200"/>
              </a:spcAft>
              <a:buFont typeface="Arial" panose="020B0604020202020204" pitchFamily="34" charset="0"/>
              <a:buChar char="•"/>
            </a:pPr>
            <a:r>
              <a:rPr lang="en-US" sz="2800" dirty="0">
                <a:solidFill>
                  <a:srgbClr val="333333"/>
                </a:solidFill>
                <a:latin typeface="Futura PT Book" panose="020B0502020204020303" pitchFamily="34" charset="77"/>
                <a:ea typeface="Times New Roman" panose="02020603050405020304" pitchFamily="18" charset="0"/>
                <a:cs typeface="Times New Roman" panose="02020603050405020304" pitchFamily="18" charset="0"/>
              </a:rPr>
              <a:t>Five PowerPoint slides with your user flows</a:t>
            </a:r>
          </a:p>
          <a:p>
            <a:pPr marL="457200" indent="-457200" fontAlgn="base">
              <a:spcAft>
                <a:spcPts val="1200"/>
              </a:spcAft>
              <a:buFont typeface="Arial" panose="020B0604020202020204" pitchFamily="34" charset="0"/>
              <a:buChar char="•"/>
            </a:pPr>
            <a:r>
              <a:rPr lang="en-US" sz="2800" dirty="0">
                <a:solidFill>
                  <a:srgbClr val="333333"/>
                </a:solidFill>
                <a:effectLst/>
                <a:latin typeface="Futura PT Book" panose="020B0502020204020303" pitchFamily="34" charset="77"/>
                <a:ea typeface="Calibri" panose="020F0502020204030204" pitchFamily="34" charset="0"/>
                <a:cs typeface="Times New Roman" panose="02020603050405020304" pitchFamily="18" charset="0"/>
              </a:rPr>
              <a:t>Link to your Trello backlog / roadmap</a:t>
            </a:r>
          </a:p>
          <a:p>
            <a:pPr marL="457200" indent="-457200" fontAlgn="base">
              <a:spcAft>
                <a:spcPts val="1200"/>
              </a:spcAft>
              <a:buFont typeface="Arial" panose="020B0604020202020204" pitchFamily="34" charset="0"/>
              <a:buChar char="•"/>
            </a:pPr>
            <a:r>
              <a:rPr lang="en-US" sz="2800" dirty="0">
                <a:solidFill>
                  <a:srgbClr val="333333"/>
                </a:solidFill>
                <a:latin typeface="Futura PT Book" panose="020B0502020204020303" pitchFamily="34" charset="77"/>
                <a:ea typeface="Calibri" panose="020F0502020204030204" pitchFamily="34" charset="0"/>
                <a:cs typeface="Times New Roman" panose="02020603050405020304" pitchFamily="18" charset="0"/>
              </a:rPr>
              <a:t>One PowerPoint slide with your content map (optional for extra credit)</a:t>
            </a:r>
            <a:endParaRPr lang="en-US" sz="3200" dirty="0">
              <a:effectLst/>
              <a:latin typeface="Futura PT Book" panose="020B0502020204020303" pitchFamily="34" charset="77"/>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73719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64210" cy="6858000"/>
          </a:xfrm>
          <a:prstGeom prst="rect">
            <a:avLst/>
          </a:prstGeom>
          <a:solidFill>
            <a:srgbClr val="F57A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461719" y="0"/>
            <a:ext cx="269929" cy="6858000"/>
          </a:xfrm>
          <a:prstGeom prst="rect">
            <a:avLst/>
          </a:prstGeom>
          <a:solidFill>
            <a:srgbClr val="138B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29157" y="0"/>
            <a:ext cx="180814" cy="6858000"/>
          </a:xfrm>
          <a:prstGeom prst="rect">
            <a:avLst/>
          </a:prstGeom>
          <a:solidFill>
            <a:srgbClr val="28AC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107480" y="0"/>
            <a:ext cx="89116" cy="6858000"/>
          </a:xfrm>
          <a:prstGeom prst="rect">
            <a:avLst/>
          </a:prstGeom>
          <a:solidFill>
            <a:srgbClr val="8EC6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196596" y="5419768"/>
            <a:ext cx="3460775" cy="830997"/>
          </a:xfrm>
          <a:prstGeom prst="rect">
            <a:avLst/>
          </a:prstGeom>
          <a:noFill/>
        </p:spPr>
        <p:txBody>
          <a:bodyPr wrap="square" rtlCol="0">
            <a:spAutoFit/>
          </a:bodyPr>
          <a:lstStyle/>
          <a:p>
            <a:r>
              <a:rPr lang="en-US" sz="4800" dirty="0">
                <a:latin typeface="+mj-lt"/>
              </a:rPr>
              <a:t>Appendix</a:t>
            </a:r>
            <a:endParaRPr lang="en-US" sz="2000" b="1" dirty="0">
              <a:latin typeface="+mj-lt"/>
            </a:endParaRPr>
          </a:p>
        </p:txBody>
      </p:sp>
    </p:spTree>
    <p:extLst>
      <p:ext uri="{BB962C8B-B14F-4D97-AF65-F5344CB8AC3E}">
        <p14:creationId xmlns:p14="http://schemas.microsoft.com/office/powerpoint/2010/main" val="3382972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5CDF60-E9BB-8F4A-9A74-224059C1A45F}"/>
              </a:ext>
            </a:extLst>
          </p:cNvPr>
          <p:cNvSpPr/>
          <p:nvPr/>
        </p:nvSpPr>
        <p:spPr>
          <a:xfrm>
            <a:off x="333436" y="224318"/>
            <a:ext cx="1376437" cy="6473752"/>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2200926" y="224318"/>
            <a:ext cx="1775202" cy="723135"/>
          </a:xfrm>
          <a:prstGeom prst="rect">
            <a:avLst/>
          </a:prstGeom>
          <a:solidFill>
            <a:srgbClr val="000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Futura PT Book" charset="0"/>
                <a:ea typeface="Futura PT Book" charset="0"/>
                <a:cs typeface="Futura PT Book" charset="0"/>
              </a:rPr>
              <a:t>&lt;&gt;</a:t>
            </a:r>
          </a:p>
        </p:txBody>
      </p:sp>
      <p:sp>
        <p:nvSpPr>
          <p:cNvPr id="32" name="Rectangle 31"/>
          <p:cNvSpPr/>
          <p:nvPr/>
        </p:nvSpPr>
        <p:spPr>
          <a:xfrm>
            <a:off x="6024128" y="1111313"/>
            <a:ext cx="1775202" cy="656527"/>
          </a:xfrm>
          <a:prstGeom prst="rect">
            <a:avLst/>
          </a:prstGeom>
          <a:solidFill>
            <a:srgbClr val="138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Futura PT Book" charset="0"/>
                <a:ea typeface="Futura PT Book" charset="0"/>
                <a:cs typeface="Futura PT Book" charset="0"/>
              </a:rPr>
              <a:t>&lt;&gt;</a:t>
            </a:r>
          </a:p>
        </p:txBody>
      </p:sp>
      <p:sp>
        <p:nvSpPr>
          <p:cNvPr id="33" name="Rectangle 32"/>
          <p:cNvSpPr/>
          <p:nvPr/>
        </p:nvSpPr>
        <p:spPr>
          <a:xfrm>
            <a:off x="2200926" y="1111313"/>
            <a:ext cx="1775202" cy="656527"/>
          </a:xfrm>
          <a:prstGeom prst="rect">
            <a:avLst/>
          </a:prstGeom>
          <a:solidFill>
            <a:srgbClr val="138B91"/>
          </a:solidFill>
          <a:ln>
            <a:no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Futura PT Book" charset="0"/>
                <a:ea typeface="Futura PT Book" charset="0"/>
                <a:cs typeface="Futura PT Book" charset="0"/>
              </a:rPr>
              <a:t>&lt;&gt;</a:t>
            </a:r>
          </a:p>
        </p:txBody>
      </p:sp>
      <p:sp>
        <p:nvSpPr>
          <p:cNvPr id="34" name="Rectangle 33"/>
          <p:cNvSpPr/>
          <p:nvPr/>
        </p:nvSpPr>
        <p:spPr>
          <a:xfrm>
            <a:off x="4112371" y="1111313"/>
            <a:ext cx="1775202" cy="656527"/>
          </a:xfrm>
          <a:prstGeom prst="rect">
            <a:avLst/>
          </a:prstGeom>
          <a:solidFill>
            <a:srgbClr val="138B91"/>
          </a:solidFill>
          <a:ln>
            <a:no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Futura PT Book" charset="0"/>
                <a:ea typeface="Futura PT Book" charset="0"/>
                <a:cs typeface="Futura PT Book" charset="0"/>
              </a:rPr>
              <a:t>&lt;&gt;</a:t>
            </a:r>
          </a:p>
        </p:txBody>
      </p:sp>
      <p:sp>
        <p:nvSpPr>
          <p:cNvPr id="35" name="Rectangle 34"/>
          <p:cNvSpPr/>
          <p:nvPr/>
        </p:nvSpPr>
        <p:spPr>
          <a:xfrm>
            <a:off x="4125717" y="2080784"/>
            <a:ext cx="1775202" cy="478720"/>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&lt;&gt;</a:t>
            </a:r>
          </a:p>
        </p:txBody>
      </p:sp>
      <p:cxnSp>
        <p:nvCxnSpPr>
          <p:cNvPr id="37" name="Straight Arrow Connector 36"/>
          <p:cNvCxnSpPr>
            <a:cxnSpLocks/>
          </p:cNvCxnSpPr>
          <p:nvPr/>
        </p:nvCxnSpPr>
        <p:spPr>
          <a:xfrm>
            <a:off x="2126431" y="1915040"/>
            <a:ext cx="9791701" cy="0"/>
          </a:xfrm>
          <a:prstGeom prst="straightConnector1">
            <a:avLst/>
          </a:prstGeom>
          <a:ln w="38100" cmpd="sng">
            <a:solidFill>
              <a:srgbClr val="000090"/>
            </a:solidFill>
            <a:tailEnd type="arrow"/>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4125717" y="2621796"/>
            <a:ext cx="1775202" cy="462694"/>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&lt;&gt;</a:t>
            </a:r>
          </a:p>
        </p:txBody>
      </p:sp>
      <p:sp>
        <p:nvSpPr>
          <p:cNvPr id="43" name="TextBox 42"/>
          <p:cNvSpPr txBox="1"/>
          <p:nvPr/>
        </p:nvSpPr>
        <p:spPr>
          <a:xfrm>
            <a:off x="331352" y="421590"/>
            <a:ext cx="1445644" cy="369332"/>
          </a:xfrm>
          <a:prstGeom prst="rect">
            <a:avLst/>
          </a:prstGeom>
          <a:noFill/>
        </p:spPr>
        <p:txBody>
          <a:bodyPr wrap="square" rtlCol="0">
            <a:spAutoFit/>
          </a:bodyPr>
          <a:lstStyle/>
          <a:p>
            <a:r>
              <a:rPr lang="en-US" b="1" dirty="0">
                <a:solidFill>
                  <a:schemeClr val="bg1"/>
                </a:solidFill>
                <a:latin typeface="Futura PT Book" charset="0"/>
                <a:ea typeface="Futura PT Book" charset="0"/>
                <a:cs typeface="Futura PT Book" charset="0"/>
              </a:rPr>
              <a:t>Capability</a:t>
            </a:r>
          </a:p>
        </p:txBody>
      </p:sp>
      <p:sp>
        <p:nvSpPr>
          <p:cNvPr id="44" name="TextBox 43"/>
          <p:cNvSpPr txBox="1"/>
          <p:nvPr/>
        </p:nvSpPr>
        <p:spPr>
          <a:xfrm>
            <a:off x="416416" y="2459386"/>
            <a:ext cx="1336226" cy="369332"/>
          </a:xfrm>
          <a:prstGeom prst="rect">
            <a:avLst/>
          </a:prstGeom>
          <a:noFill/>
        </p:spPr>
        <p:txBody>
          <a:bodyPr wrap="square" rtlCol="0">
            <a:spAutoFit/>
          </a:bodyPr>
          <a:lstStyle/>
          <a:p>
            <a:r>
              <a:rPr lang="en-US" b="1" dirty="0">
                <a:solidFill>
                  <a:schemeClr val="bg1"/>
                </a:solidFill>
                <a:latin typeface="Futura PT Book" charset="0"/>
                <a:ea typeface="Futura PT Book" charset="0"/>
                <a:cs typeface="Futura PT Book" charset="0"/>
              </a:rPr>
              <a:t>Features</a:t>
            </a:r>
          </a:p>
        </p:txBody>
      </p:sp>
      <p:sp>
        <p:nvSpPr>
          <p:cNvPr id="48" name="Rectangle 47"/>
          <p:cNvSpPr/>
          <p:nvPr/>
        </p:nvSpPr>
        <p:spPr>
          <a:xfrm>
            <a:off x="6024128" y="2067753"/>
            <a:ext cx="1775202" cy="498108"/>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&lt;&gt;</a:t>
            </a:r>
          </a:p>
        </p:txBody>
      </p:sp>
      <p:sp>
        <p:nvSpPr>
          <p:cNvPr id="22" name="Rectangle 21">
            <a:extLst>
              <a:ext uri="{FF2B5EF4-FFF2-40B4-BE49-F238E27FC236}">
                <a16:creationId xmlns:a16="http://schemas.microsoft.com/office/drawing/2014/main" id="{A0608C0E-99C4-5241-A98B-309110387A32}"/>
              </a:ext>
            </a:extLst>
          </p:cNvPr>
          <p:cNvSpPr/>
          <p:nvPr/>
        </p:nvSpPr>
        <p:spPr>
          <a:xfrm>
            <a:off x="6024128" y="2621796"/>
            <a:ext cx="1775202" cy="462694"/>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&lt;&gt;</a:t>
            </a:r>
          </a:p>
        </p:txBody>
      </p:sp>
      <p:sp>
        <p:nvSpPr>
          <p:cNvPr id="26" name="Rectangle 25">
            <a:extLst>
              <a:ext uri="{FF2B5EF4-FFF2-40B4-BE49-F238E27FC236}">
                <a16:creationId xmlns:a16="http://schemas.microsoft.com/office/drawing/2014/main" id="{411DBEFC-F76E-4E48-A6A3-A3B905A5C287}"/>
              </a:ext>
            </a:extLst>
          </p:cNvPr>
          <p:cNvSpPr/>
          <p:nvPr/>
        </p:nvSpPr>
        <p:spPr>
          <a:xfrm>
            <a:off x="2200926" y="2080784"/>
            <a:ext cx="1775202" cy="478720"/>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&lt;&gt;</a:t>
            </a:r>
          </a:p>
        </p:txBody>
      </p:sp>
      <p:sp>
        <p:nvSpPr>
          <p:cNvPr id="27" name="Rectangle 26">
            <a:extLst>
              <a:ext uri="{FF2B5EF4-FFF2-40B4-BE49-F238E27FC236}">
                <a16:creationId xmlns:a16="http://schemas.microsoft.com/office/drawing/2014/main" id="{0EACF597-F2BD-4548-964D-2072A15948AA}"/>
              </a:ext>
            </a:extLst>
          </p:cNvPr>
          <p:cNvSpPr/>
          <p:nvPr/>
        </p:nvSpPr>
        <p:spPr>
          <a:xfrm>
            <a:off x="2200926" y="2621796"/>
            <a:ext cx="1775202" cy="478720"/>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&lt;&gt;</a:t>
            </a:r>
          </a:p>
        </p:txBody>
      </p:sp>
      <p:sp>
        <p:nvSpPr>
          <p:cNvPr id="28" name="TextBox 27">
            <a:extLst>
              <a:ext uri="{FF2B5EF4-FFF2-40B4-BE49-F238E27FC236}">
                <a16:creationId xmlns:a16="http://schemas.microsoft.com/office/drawing/2014/main" id="{AF55A2B1-EA2F-6F47-9C0E-401493CD27AB}"/>
              </a:ext>
            </a:extLst>
          </p:cNvPr>
          <p:cNvSpPr txBox="1"/>
          <p:nvPr/>
        </p:nvSpPr>
        <p:spPr>
          <a:xfrm rot="16200000">
            <a:off x="877788" y="1681044"/>
            <a:ext cx="1028053" cy="369332"/>
          </a:xfrm>
          <a:prstGeom prst="rect">
            <a:avLst/>
          </a:prstGeom>
          <a:noFill/>
        </p:spPr>
        <p:txBody>
          <a:bodyPr wrap="square" rtlCol="0">
            <a:spAutoFit/>
          </a:bodyPr>
          <a:lstStyle/>
          <a:p>
            <a:pPr algn="ctr"/>
            <a:r>
              <a:rPr lang="en-US" dirty="0">
                <a:solidFill>
                  <a:schemeClr val="bg1"/>
                </a:solidFill>
                <a:latin typeface="Futura PT Book" charset="0"/>
                <a:ea typeface="Futura PT Book" charset="0"/>
                <a:cs typeface="Futura PT Book" charset="0"/>
              </a:rPr>
              <a:t>Steps</a:t>
            </a:r>
          </a:p>
        </p:txBody>
      </p:sp>
      <p:sp>
        <p:nvSpPr>
          <p:cNvPr id="29" name="TextBox 28">
            <a:extLst>
              <a:ext uri="{FF2B5EF4-FFF2-40B4-BE49-F238E27FC236}">
                <a16:creationId xmlns:a16="http://schemas.microsoft.com/office/drawing/2014/main" id="{C379A817-D123-0D44-9F99-D3885D1B8216}"/>
              </a:ext>
            </a:extLst>
          </p:cNvPr>
          <p:cNvSpPr txBox="1"/>
          <p:nvPr/>
        </p:nvSpPr>
        <p:spPr>
          <a:xfrm rot="16200000">
            <a:off x="808017" y="3227853"/>
            <a:ext cx="1167598" cy="369332"/>
          </a:xfrm>
          <a:prstGeom prst="rect">
            <a:avLst/>
          </a:prstGeom>
          <a:noFill/>
        </p:spPr>
        <p:txBody>
          <a:bodyPr wrap="square" rtlCol="0">
            <a:spAutoFit/>
          </a:bodyPr>
          <a:lstStyle/>
          <a:p>
            <a:pPr algn="ctr"/>
            <a:r>
              <a:rPr lang="en-US" dirty="0">
                <a:solidFill>
                  <a:schemeClr val="bg1"/>
                </a:solidFill>
                <a:latin typeface="Futura PT Book" charset="0"/>
                <a:ea typeface="Futura PT Book" charset="0"/>
                <a:cs typeface="Futura PT Book" charset="0"/>
              </a:rPr>
              <a:t>Activities</a:t>
            </a:r>
          </a:p>
        </p:txBody>
      </p:sp>
      <p:sp>
        <p:nvSpPr>
          <p:cNvPr id="31" name="TextBox 30">
            <a:extLst>
              <a:ext uri="{FF2B5EF4-FFF2-40B4-BE49-F238E27FC236}">
                <a16:creationId xmlns:a16="http://schemas.microsoft.com/office/drawing/2014/main" id="{AB6EB774-F699-9D4C-9A94-B38EED8483A3}"/>
              </a:ext>
            </a:extLst>
          </p:cNvPr>
          <p:cNvSpPr txBox="1"/>
          <p:nvPr/>
        </p:nvSpPr>
        <p:spPr>
          <a:xfrm>
            <a:off x="416416" y="4487548"/>
            <a:ext cx="1336226" cy="369332"/>
          </a:xfrm>
          <a:prstGeom prst="rect">
            <a:avLst/>
          </a:prstGeom>
          <a:noFill/>
        </p:spPr>
        <p:txBody>
          <a:bodyPr wrap="square" rtlCol="0">
            <a:spAutoFit/>
          </a:bodyPr>
          <a:lstStyle/>
          <a:p>
            <a:r>
              <a:rPr lang="en-US" b="1" dirty="0">
                <a:solidFill>
                  <a:schemeClr val="bg1"/>
                </a:solidFill>
                <a:latin typeface="Futura PT Book" charset="0"/>
                <a:ea typeface="Futura PT Book" charset="0"/>
                <a:cs typeface="Futura PT Book" charset="0"/>
              </a:rPr>
              <a:t>Enablers</a:t>
            </a:r>
          </a:p>
        </p:txBody>
      </p:sp>
      <p:sp>
        <p:nvSpPr>
          <p:cNvPr id="3" name="Rectangle 2">
            <a:extLst>
              <a:ext uri="{FF2B5EF4-FFF2-40B4-BE49-F238E27FC236}">
                <a16:creationId xmlns:a16="http://schemas.microsoft.com/office/drawing/2014/main" id="{D6A130C0-8348-2E4B-A14F-364D098E5BFD}"/>
              </a:ext>
            </a:extLst>
          </p:cNvPr>
          <p:cNvSpPr/>
          <p:nvPr/>
        </p:nvSpPr>
        <p:spPr>
          <a:xfrm>
            <a:off x="2126430" y="4274990"/>
            <a:ext cx="9495789" cy="7806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3C14C73E-C9E8-5341-B99F-6FF5A8708216}"/>
              </a:ext>
            </a:extLst>
          </p:cNvPr>
          <p:cNvSpPr txBox="1"/>
          <p:nvPr/>
        </p:nvSpPr>
        <p:spPr>
          <a:xfrm>
            <a:off x="416416" y="5311696"/>
            <a:ext cx="1336226" cy="369332"/>
          </a:xfrm>
          <a:prstGeom prst="rect">
            <a:avLst/>
          </a:prstGeom>
          <a:noFill/>
        </p:spPr>
        <p:txBody>
          <a:bodyPr wrap="square" rtlCol="0">
            <a:spAutoFit/>
          </a:bodyPr>
          <a:lstStyle/>
          <a:p>
            <a:r>
              <a:rPr lang="en-US" b="1" dirty="0">
                <a:solidFill>
                  <a:schemeClr val="bg1"/>
                </a:solidFill>
                <a:latin typeface="Futura PT Book" charset="0"/>
                <a:ea typeface="Futura PT Book" charset="0"/>
                <a:cs typeface="Futura PT Book" charset="0"/>
              </a:rPr>
              <a:t>NFRs</a:t>
            </a:r>
          </a:p>
        </p:txBody>
      </p:sp>
      <p:sp>
        <p:nvSpPr>
          <p:cNvPr id="39" name="Rectangle 38">
            <a:extLst>
              <a:ext uri="{FF2B5EF4-FFF2-40B4-BE49-F238E27FC236}">
                <a16:creationId xmlns:a16="http://schemas.microsoft.com/office/drawing/2014/main" id="{897ECD8D-95D4-8B4A-9D21-D998FD27A81E}"/>
              </a:ext>
            </a:extLst>
          </p:cNvPr>
          <p:cNvSpPr/>
          <p:nvPr/>
        </p:nvSpPr>
        <p:spPr>
          <a:xfrm>
            <a:off x="2126431" y="5117522"/>
            <a:ext cx="9495787" cy="7576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79F5711-B3F3-8B4A-857A-A3E1A174EB3E}"/>
              </a:ext>
            </a:extLst>
          </p:cNvPr>
          <p:cNvSpPr/>
          <p:nvPr/>
        </p:nvSpPr>
        <p:spPr>
          <a:xfrm>
            <a:off x="2126432" y="1044660"/>
            <a:ext cx="9791700" cy="3157740"/>
          </a:xfrm>
          <a:prstGeom prst="rect">
            <a:avLst/>
          </a:prstGeom>
          <a:noFill/>
          <a:ln>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eft Brace 6">
            <a:extLst>
              <a:ext uri="{FF2B5EF4-FFF2-40B4-BE49-F238E27FC236}">
                <a16:creationId xmlns:a16="http://schemas.microsoft.com/office/drawing/2014/main" id="{42C9BAFF-37E7-B44A-AC05-60612127B267}"/>
              </a:ext>
            </a:extLst>
          </p:cNvPr>
          <p:cNvSpPr/>
          <p:nvPr/>
        </p:nvSpPr>
        <p:spPr>
          <a:xfrm>
            <a:off x="1862060" y="1047908"/>
            <a:ext cx="209873" cy="3147775"/>
          </a:xfrm>
          <a:prstGeom prst="leftBrace">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7" name="TextBox 46">
            <a:extLst>
              <a:ext uri="{FF2B5EF4-FFF2-40B4-BE49-F238E27FC236}">
                <a16:creationId xmlns:a16="http://schemas.microsoft.com/office/drawing/2014/main" id="{ABE757EF-8489-C248-A66D-1FE4B8F41EB5}"/>
              </a:ext>
            </a:extLst>
          </p:cNvPr>
          <p:cNvSpPr txBox="1"/>
          <p:nvPr/>
        </p:nvSpPr>
        <p:spPr>
          <a:xfrm>
            <a:off x="416416" y="6134561"/>
            <a:ext cx="1336226" cy="369332"/>
          </a:xfrm>
          <a:prstGeom prst="rect">
            <a:avLst/>
          </a:prstGeom>
          <a:noFill/>
        </p:spPr>
        <p:txBody>
          <a:bodyPr wrap="square" rtlCol="0">
            <a:spAutoFit/>
          </a:bodyPr>
          <a:lstStyle/>
          <a:p>
            <a:r>
              <a:rPr lang="en-US" b="1" dirty="0">
                <a:solidFill>
                  <a:schemeClr val="bg1"/>
                </a:solidFill>
                <a:latin typeface="Futura PT Book" charset="0"/>
                <a:ea typeface="Futura PT Book" charset="0"/>
                <a:cs typeface="Futura PT Book" charset="0"/>
              </a:rPr>
              <a:t>Data</a:t>
            </a:r>
          </a:p>
        </p:txBody>
      </p:sp>
      <p:sp>
        <p:nvSpPr>
          <p:cNvPr id="54" name="Rectangle 53">
            <a:extLst>
              <a:ext uri="{FF2B5EF4-FFF2-40B4-BE49-F238E27FC236}">
                <a16:creationId xmlns:a16="http://schemas.microsoft.com/office/drawing/2014/main" id="{CDE5790D-172E-ED4F-8936-9C171798B879}"/>
              </a:ext>
            </a:extLst>
          </p:cNvPr>
          <p:cNvSpPr/>
          <p:nvPr/>
        </p:nvSpPr>
        <p:spPr>
          <a:xfrm>
            <a:off x="2126431" y="5940387"/>
            <a:ext cx="9495787" cy="7576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E0EFD957-70B8-7D4C-BFC0-F93EFEB03D42}"/>
              </a:ext>
            </a:extLst>
          </p:cNvPr>
          <p:cNvSpPr/>
          <p:nvPr/>
        </p:nvSpPr>
        <p:spPr>
          <a:xfrm>
            <a:off x="7935573" y="1111313"/>
            <a:ext cx="1775202" cy="656527"/>
          </a:xfrm>
          <a:prstGeom prst="rect">
            <a:avLst/>
          </a:prstGeom>
          <a:solidFill>
            <a:srgbClr val="138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Futura PT Book" charset="0"/>
                <a:ea typeface="Futura PT Book" charset="0"/>
                <a:cs typeface="Futura PT Book" charset="0"/>
              </a:rPr>
              <a:t>&lt;&gt;</a:t>
            </a:r>
          </a:p>
        </p:txBody>
      </p:sp>
      <p:sp>
        <p:nvSpPr>
          <p:cNvPr id="71" name="Rectangle 70">
            <a:extLst>
              <a:ext uri="{FF2B5EF4-FFF2-40B4-BE49-F238E27FC236}">
                <a16:creationId xmlns:a16="http://schemas.microsoft.com/office/drawing/2014/main" id="{952298FE-024E-2942-B36F-27DF31C79881}"/>
              </a:ext>
            </a:extLst>
          </p:cNvPr>
          <p:cNvSpPr/>
          <p:nvPr/>
        </p:nvSpPr>
        <p:spPr>
          <a:xfrm>
            <a:off x="7935573" y="2067753"/>
            <a:ext cx="1775202" cy="498108"/>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&lt;&gt;</a:t>
            </a:r>
          </a:p>
        </p:txBody>
      </p:sp>
      <p:sp>
        <p:nvSpPr>
          <p:cNvPr id="72" name="Rectangle 71">
            <a:extLst>
              <a:ext uri="{FF2B5EF4-FFF2-40B4-BE49-F238E27FC236}">
                <a16:creationId xmlns:a16="http://schemas.microsoft.com/office/drawing/2014/main" id="{76A73FAB-72F1-C346-8211-AE30B30DC289}"/>
              </a:ext>
            </a:extLst>
          </p:cNvPr>
          <p:cNvSpPr/>
          <p:nvPr/>
        </p:nvSpPr>
        <p:spPr>
          <a:xfrm>
            <a:off x="7935573" y="2621796"/>
            <a:ext cx="1775202" cy="462694"/>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&lt;&gt;</a:t>
            </a:r>
          </a:p>
        </p:txBody>
      </p:sp>
      <p:sp>
        <p:nvSpPr>
          <p:cNvPr id="73" name="Rectangle 72">
            <a:extLst>
              <a:ext uri="{FF2B5EF4-FFF2-40B4-BE49-F238E27FC236}">
                <a16:creationId xmlns:a16="http://schemas.microsoft.com/office/drawing/2014/main" id="{F2E1C701-A0E8-6340-8EC0-028EAC9AA2E3}"/>
              </a:ext>
            </a:extLst>
          </p:cNvPr>
          <p:cNvSpPr/>
          <p:nvPr/>
        </p:nvSpPr>
        <p:spPr>
          <a:xfrm>
            <a:off x="9847018" y="1111313"/>
            <a:ext cx="1775202" cy="656527"/>
          </a:xfrm>
          <a:prstGeom prst="rect">
            <a:avLst/>
          </a:prstGeom>
          <a:solidFill>
            <a:srgbClr val="138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1"/>
                </a:solidFill>
                <a:latin typeface="Futura PT Book" charset="0"/>
                <a:ea typeface="Futura PT Book" charset="0"/>
                <a:cs typeface="Futura PT Book" charset="0"/>
              </a:rPr>
              <a:t>&lt;&gt;</a:t>
            </a:r>
          </a:p>
        </p:txBody>
      </p:sp>
      <p:sp>
        <p:nvSpPr>
          <p:cNvPr id="74" name="Rectangle 73">
            <a:extLst>
              <a:ext uri="{FF2B5EF4-FFF2-40B4-BE49-F238E27FC236}">
                <a16:creationId xmlns:a16="http://schemas.microsoft.com/office/drawing/2014/main" id="{43FC8C13-0C02-1E4A-BF16-756BD8678F2E}"/>
              </a:ext>
            </a:extLst>
          </p:cNvPr>
          <p:cNvSpPr/>
          <p:nvPr/>
        </p:nvSpPr>
        <p:spPr>
          <a:xfrm>
            <a:off x="9847018" y="2067753"/>
            <a:ext cx="1775202" cy="498108"/>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&lt;&gt;</a:t>
            </a:r>
          </a:p>
        </p:txBody>
      </p:sp>
      <p:sp>
        <p:nvSpPr>
          <p:cNvPr id="75" name="Rectangle 74">
            <a:extLst>
              <a:ext uri="{FF2B5EF4-FFF2-40B4-BE49-F238E27FC236}">
                <a16:creationId xmlns:a16="http://schemas.microsoft.com/office/drawing/2014/main" id="{CFE6A999-807F-724C-82EA-32EE0D531FE3}"/>
              </a:ext>
            </a:extLst>
          </p:cNvPr>
          <p:cNvSpPr/>
          <p:nvPr/>
        </p:nvSpPr>
        <p:spPr>
          <a:xfrm>
            <a:off x="9847018" y="2621796"/>
            <a:ext cx="1775202" cy="462694"/>
          </a:xfrm>
          <a:prstGeom prst="rect">
            <a:avLst/>
          </a:prstGeom>
          <a:solidFill>
            <a:srgbClr val="28A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bg1"/>
                </a:solidFill>
                <a:latin typeface="Futura PT Book" charset="0"/>
                <a:ea typeface="Futura PT Book" charset="0"/>
                <a:cs typeface="Futura PT Book" charset="0"/>
              </a:rPr>
              <a:t>&lt;&gt;</a:t>
            </a:r>
          </a:p>
        </p:txBody>
      </p:sp>
    </p:spTree>
    <p:extLst>
      <p:ext uri="{BB962C8B-B14F-4D97-AF65-F5344CB8AC3E}">
        <p14:creationId xmlns:p14="http://schemas.microsoft.com/office/powerpoint/2010/main" val="4097856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B905247-18F1-E34D-BE70-ACFC3EFDD3D0}"/>
              </a:ext>
            </a:extLst>
          </p:cNvPr>
          <p:cNvSpPr/>
          <p:nvPr/>
        </p:nvSpPr>
        <p:spPr>
          <a:xfrm>
            <a:off x="4203940" y="6337865"/>
            <a:ext cx="7809781" cy="369332"/>
          </a:xfrm>
          <a:prstGeom prst="rect">
            <a:avLst/>
          </a:prstGeom>
        </p:spPr>
        <p:txBody>
          <a:bodyPr wrap="square">
            <a:spAutoFit/>
          </a:bodyPr>
          <a:lstStyle/>
          <a:p>
            <a:pPr algn="r"/>
            <a:r>
              <a:rPr lang="en-US" dirty="0">
                <a:hlinkClick r:id="rId2"/>
              </a:rPr>
              <a:t>http://www.softwarearchitecturenotes.com/architectureRequirements.html</a:t>
            </a:r>
            <a:endParaRPr lang="en-US" dirty="0"/>
          </a:p>
        </p:txBody>
      </p:sp>
      <p:sp>
        <p:nvSpPr>
          <p:cNvPr id="7" name="Rectangle 6">
            <a:extLst>
              <a:ext uri="{FF2B5EF4-FFF2-40B4-BE49-F238E27FC236}">
                <a16:creationId xmlns:a16="http://schemas.microsoft.com/office/drawing/2014/main" id="{35A04F0E-6B1E-A44B-A5CD-68A926981186}"/>
              </a:ext>
            </a:extLst>
          </p:cNvPr>
          <p:cNvSpPr/>
          <p:nvPr/>
        </p:nvSpPr>
        <p:spPr>
          <a:xfrm>
            <a:off x="209973" y="795619"/>
            <a:ext cx="3793067" cy="5262979"/>
          </a:xfrm>
          <a:prstGeom prst="rect">
            <a:avLst/>
          </a:prstGeom>
        </p:spPr>
        <p:txBody>
          <a:bodyPr wrap="square">
            <a:spAutoFit/>
          </a:bodyPr>
          <a:lstStyle/>
          <a:p>
            <a:pPr>
              <a:buFont typeface="Arial" panose="020B0604020202020204" pitchFamily="34" charset="0"/>
              <a:buChar char="•"/>
            </a:pPr>
            <a:r>
              <a:rPr lang="en-US" sz="600" b="0" i="0" dirty="0">
                <a:solidFill>
                  <a:srgbClr val="000000"/>
                </a:solidFill>
                <a:effectLst/>
                <a:latin typeface="Verdana" panose="020B0604030504040204" pitchFamily="34" charset="0"/>
              </a:rPr>
              <a:t>Performance</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How quickly must the system respond to interactive operations of different kinds?</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Are there different classes of interactive operations that users have different tolerances / expectations for?</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Is there a batch window? What runs in it?</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Do the batches have their own performance constraints, e.g., to clear the batch window before it closes?</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Does the batch load influence any interactive users running at the same time?</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Is there data with a high read/write access ratio that can be cached in memory at different tiers in the architecture?</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are the expected performance bottlenecks?</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CPU?</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Memory on client, server or intermediate nodes?</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Hard drive space on each node?</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Communications links?</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DB</a:t>
            </a:r>
          </a:p>
          <a:p>
            <a:pPr marL="1600200" lvl="3" indent="-228600">
              <a:buFont typeface="Arial" panose="020B0604020202020204" pitchFamily="34" charset="0"/>
              <a:buChar char="•"/>
            </a:pPr>
            <a:r>
              <a:rPr lang="en-US" sz="600" b="0" i="0" dirty="0">
                <a:solidFill>
                  <a:srgbClr val="000000"/>
                </a:solidFill>
                <a:effectLst/>
                <a:latin typeface="Verdana" panose="020B0604030504040204" pitchFamily="34" charset="0"/>
              </a:rPr>
              <a:t>Access</a:t>
            </a:r>
          </a:p>
          <a:p>
            <a:pPr marL="1600200" lvl="3" indent="-228600">
              <a:buFont typeface="Arial" panose="020B0604020202020204" pitchFamily="34" charset="0"/>
              <a:buChar char="•"/>
            </a:pPr>
            <a:r>
              <a:rPr lang="en-US" sz="600" b="0" i="0" dirty="0">
                <a:solidFill>
                  <a:srgbClr val="000000"/>
                </a:solidFill>
                <a:effectLst/>
                <a:latin typeface="Verdana" panose="020B0604030504040204" pitchFamily="34" charset="0"/>
              </a:rPr>
              <a:t>Searching</a:t>
            </a:r>
          </a:p>
          <a:p>
            <a:pPr marL="1600200" lvl="3" indent="-228600">
              <a:buFont typeface="Arial" panose="020B0604020202020204" pitchFamily="34" charset="0"/>
              <a:buChar char="•"/>
            </a:pPr>
            <a:r>
              <a:rPr lang="en-US" sz="600" b="0" i="0" dirty="0">
                <a:solidFill>
                  <a:srgbClr val="000000"/>
                </a:solidFill>
                <a:effectLst/>
                <a:latin typeface="Verdana" panose="020B0604030504040204" pitchFamily="34" charset="0"/>
              </a:rPr>
              <a:t>Complex joins</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Interaction with other internal systems?</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Interaction with systems in other departments?</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Interaction with partner systems?</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Interactions with public systems?</a:t>
            </a:r>
          </a:p>
          <a:p>
            <a:pPr>
              <a:buFont typeface="Arial" panose="020B0604020202020204" pitchFamily="34" charset="0"/>
              <a:buChar char="•"/>
            </a:pPr>
            <a:r>
              <a:rPr lang="en-US" sz="600" b="0" i="0" dirty="0">
                <a:solidFill>
                  <a:srgbClr val="000000"/>
                </a:solidFill>
                <a:effectLst/>
                <a:latin typeface="Verdana" panose="020B0604030504040204" pitchFamily="34" charset="0"/>
              </a:rPr>
              <a:t>Scalability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Peak load of how many users doing what kinds of operations?</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Ability to grow to how many records in which critical database tables without slowing down related operations by more than X</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Avoiding saturating a communication link that cannot be upgraded to a higher speed?</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dimensions can be scaled, e.g., more CPUs, more memory, more servers, geographical distribution?</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Is the primary scaling strategy to "scale up" or to "scale out" -- that is, to upgrade the nodes in a fixed topology, or to add nodes?</a:t>
            </a:r>
          </a:p>
          <a:p>
            <a:pPr>
              <a:buFont typeface="Arial" panose="020B0604020202020204" pitchFamily="34" charset="0"/>
              <a:buChar char="•"/>
            </a:pPr>
            <a:r>
              <a:rPr lang="en-US" sz="600" b="0" i="0" dirty="0">
                <a:solidFill>
                  <a:srgbClr val="000000"/>
                </a:solidFill>
                <a:effectLst/>
                <a:latin typeface="Verdana" panose="020B0604030504040204" pitchFamily="34" charset="0"/>
              </a:rPr>
              <a:t>Availability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is the required uptime percentage?</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Does this vary by time of day or location?</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is the current schedule of controlled outages? Is this acceptable, or is there a goal to improve it?</a:t>
            </a:r>
          </a:p>
          <a:p>
            <a:pPr>
              <a:buFont typeface="Arial" panose="020B0604020202020204" pitchFamily="34" charset="0"/>
              <a:buChar char="•"/>
            </a:pPr>
            <a:r>
              <a:rPr lang="en-US" sz="600" b="0" i="0" dirty="0">
                <a:solidFill>
                  <a:srgbClr val="000000"/>
                </a:solidFill>
                <a:effectLst/>
                <a:latin typeface="Verdana" panose="020B0604030504040204" pitchFamily="34" charset="0"/>
              </a:rPr>
              <a:t>Reliability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Are there components with reliabilities that are known to be less than the required reliability of the system?</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strategies are currently in place to build more reliable capabilities out of less reliable capabilities?</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is the expected mean time to failure by failure severity by operation?</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How will reliability be assessed prior to deployment?</a:t>
            </a:r>
          </a:p>
          <a:p>
            <a:pPr>
              <a:buFont typeface="Arial" panose="020B0604020202020204" pitchFamily="34" charset="0"/>
              <a:buChar char="•"/>
            </a:pPr>
            <a:r>
              <a:rPr lang="en-US" sz="600" b="0" i="0" dirty="0">
                <a:solidFill>
                  <a:srgbClr val="000000"/>
                </a:solidFill>
                <a:effectLst/>
                <a:latin typeface="Verdana" panose="020B0604030504040204" pitchFamily="34" charset="0"/>
              </a:rPr>
              <a:t>Security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operations need to be secured?</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How will users be administered?</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How will users be given permissions to access secured operations?</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are the different levels of security and how do these map</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Security by operation</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Security by type of object</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Security by instance of object</a:t>
            </a:r>
          </a:p>
        </p:txBody>
      </p:sp>
      <p:sp>
        <p:nvSpPr>
          <p:cNvPr id="8" name="Rectangle 7">
            <a:extLst>
              <a:ext uri="{FF2B5EF4-FFF2-40B4-BE49-F238E27FC236}">
                <a16:creationId xmlns:a16="http://schemas.microsoft.com/office/drawing/2014/main" id="{4B7A0BF3-D588-6244-82F7-A03B4AE246C3}"/>
              </a:ext>
            </a:extLst>
          </p:cNvPr>
          <p:cNvSpPr/>
          <p:nvPr/>
        </p:nvSpPr>
        <p:spPr>
          <a:xfrm>
            <a:off x="4203940" y="874517"/>
            <a:ext cx="3951153" cy="4893647"/>
          </a:xfrm>
          <a:prstGeom prst="rect">
            <a:avLst/>
          </a:prstGeom>
        </p:spPr>
        <p:txBody>
          <a:bodyPr wrap="square">
            <a:spAutoFit/>
          </a:bodyPr>
          <a:lstStyle/>
          <a:p>
            <a:pPr>
              <a:buFont typeface="Arial" panose="020B0604020202020204" pitchFamily="34" charset="0"/>
              <a:buChar char="•"/>
            </a:pPr>
            <a:r>
              <a:rPr lang="en-US" sz="600" b="0" i="0" dirty="0">
                <a:solidFill>
                  <a:srgbClr val="000000"/>
                </a:solidFill>
                <a:effectLst/>
                <a:latin typeface="Verdana" panose="020B0604030504040204" pitchFamily="34" charset="0"/>
              </a:rPr>
              <a:t>Maintainability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Are there concerns about the ability to hire appropriate technology skills, attract them to the area at reasonable prices?</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kinds of changes are anticipated in the first rounds of maintenance? What are their relative priority?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sort of regression testing is required to ensure that maintenance changes do not degrade existing functionality?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sort of maintenance documentation is expected to be produced? When?</a:t>
            </a:r>
          </a:p>
          <a:p>
            <a:pPr>
              <a:buFont typeface="Arial" panose="020B0604020202020204" pitchFamily="34" charset="0"/>
              <a:buChar char="•"/>
            </a:pPr>
            <a:r>
              <a:rPr lang="en-US" sz="600" b="0" i="0" dirty="0">
                <a:solidFill>
                  <a:srgbClr val="000000"/>
                </a:solidFill>
                <a:effectLst/>
                <a:latin typeface="Verdana" panose="020B0604030504040204" pitchFamily="34" charset="0"/>
              </a:rPr>
              <a:t>Flexibility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Is there system behavior that needs to be changed regularly without program changes?</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Can this be encoded in the database?</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Are there run-time rules that can be handled using a rules interpretation engine?</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Are there functions that should be user scripted? If so, how will these be QA-</a:t>
            </a:r>
            <a:r>
              <a:rPr lang="en-US" sz="600" b="0" i="0" dirty="0" err="1">
                <a:solidFill>
                  <a:srgbClr val="000000"/>
                </a:solidFill>
                <a:effectLst/>
                <a:latin typeface="Verdana" panose="020B0604030504040204" pitchFamily="34" charset="0"/>
              </a:rPr>
              <a:t>ed</a:t>
            </a:r>
            <a:r>
              <a:rPr lang="en-US" sz="600" b="0" i="0" dirty="0">
                <a:solidFill>
                  <a:srgbClr val="000000"/>
                </a:solidFill>
                <a:effectLst/>
                <a:latin typeface="Verdana" panose="020B0604030504040204" pitchFamily="34" charset="0"/>
              </a:rPr>
              <a:t>?</a:t>
            </a:r>
          </a:p>
          <a:p>
            <a:pPr>
              <a:buFont typeface="Arial" panose="020B0604020202020204" pitchFamily="34" charset="0"/>
              <a:buChar char="•"/>
            </a:pPr>
            <a:r>
              <a:rPr lang="en-US" sz="600" b="0" i="0" dirty="0">
                <a:solidFill>
                  <a:srgbClr val="000000"/>
                </a:solidFill>
                <a:effectLst/>
                <a:latin typeface="Verdana" panose="020B0604030504040204" pitchFamily="34" charset="0"/>
              </a:rPr>
              <a:t>Configurability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parameters need to be set on a machine-by-machine basis?</a:t>
            </a:r>
          </a:p>
          <a:p>
            <a:pPr>
              <a:buFont typeface="Arial" panose="020B0604020202020204" pitchFamily="34" charset="0"/>
              <a:buChar char="•"/>
            </a:pPr>
            <a:r>
              <a:rPr lang="en-US" sz="600" b="0" i="0" dirty="0" err="1">
                <a:solidFill>
                  <a:srgbClr val="000000"/>
                </a:solidFill>
                <a:effectLst/>
                <a:latin typeface="Verdana" panose="020B0604030504040204" pitchFamily="34" charset="0"/>
              </a:rPr>
              <a:t>Personalizability</a:t>
            </a:r>
            <a:endParaRPr lang="en-US" sz="600" b="0" i="0" dirty="0">
              <a:solidFill>
                <a:srgbClr val="000000"/>
              </a:solidFill>
              <a:effectLst/>
              <a:latin typeface="Verdana" panose="020B0604030504040204" pitchFamily="34" charset="0"/>
            </a:endParaRP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aspects of the system can be customized on a per-user basis?</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How does the user change these settings?</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is the strategy for defaults?</a:t>
            </a:r>
          </a:p>
          <a:p>
            <a:pPr>
              <a:buFont typeface="Arial" panose="020B0604020202020204" pitchFamily="34" charset="0"/>
              <a:buChar char="•"/>
            </a:pPr>
            <a:r>
              <a:rPr lang="en-US" sz="600" b="0" i="0" dirty="0">
                <a:solidFill>
                  <a:srgbClr val="000000"/>
                </a:solidFill>
                <a:effectLst/>
                <a:latin typeface="Verdana" panose="020B0604030504040204" pitchFamily="34" charset="0"/>
              </a:rPr>
              <a:t>Usability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Are there operations that need to be done as quickly as possible, so that user gestures should be minimized?&gt;</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Are there difficult or occasional-user operations that require non-standard presentations to help the user perform correctly?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is the balance between data integrity and the ability to stop in a "work in progress" state?</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styles of validation are used in what situations?</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metaphors from existing or parallel systems should be used?</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sort of training deliverables are expected?</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sort of on-board help system is expected?</a:t>
            </a:r>
          </a:p>
          <a:p>
            <a:pPr>
              <a:buFont typeface="Arial" panose="020B0604020202020204" pitchFamily="34" charset="0"/>
              <a:buChar char="•"/>
            </a:pPr>
            <a:r>
              <a:rPr lang="en-US" sz="600" b="0" i="0" dirty="0">
                <a:solidFill>
                  <a:srgbClr val="000000"/>
                </a:solidFill>
                <a:effectLst/>
                <a:latin typeface="Verdana" panose="020B0604030504040204" pitchFamily="34" charset="0"/>
              </a:rPr>
              <a:t>Portability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Data portability between this system and other systems?</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Portability across different versions of a single vendor's DB?</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Ability to port to a different vendor's DB? Which one(s)? When?</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Browser portability? What browser versions? Historical and future?</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Operating system portability?</a:t>
            </a:r>
          </a:p>
          <a:p>
            <a:pPr>
              <a:buFont typeface="Arial" panose="020B0604020202020204" pitchFamily="34" charset="0"/>
              <a:buChar char="•"/>
            </a:pPr>
            <a:r>
              <a:rPr lang="en-US" sz="600" b="0" i="0" dirty="0">
                <a:solidFill>
                  <a:srgbClr val="000000"/>
                </a:solidFill>
                <a:effectLst/>
                <a:latin typeface="Verdana" panose="020B0604030504040204" pitchFamily="34" charset="0"/>
              </a:rPr>
              <a:t>Conformance to standards</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legal standards apply?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technical standards apply?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Other standards, e.g., 508.1 for disabled users?</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development standards apply?</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Database naming standards</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Existing internal architectural standards (e.g., everything goes in an Oracle database)</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Language and coding standards</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Testing and review standards</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Presentation standards, e.g., use of standard colors, controls or other affordances?</a:t>
            </a:r>
          </a:p>
          <a:p>
            <a:pPr marL="1143000" lvl="2" indent="-228600">
              <a:buFont typeface="Arial" panose="020B0604020202020204" pitchFamily="34" charset="0"/>
              <a:buChar char="•"/>
            </a:pPr>
            <a:r>
              <a:rPr lang="en-US" sz="600" b="0" i="0" dirty="0">
                <a:solidFill>
                  <a:srgbClr val="000000"/>
                </a:solidFill>
                <a:effectLst/>
                <a:latin typeface="Verdana" panose="020B0604030504040204" pitchFamily="34" charset="0"/>
              </a:rPr>
              <a:t>Lifecycle models or methodologies</a:t>
            </a:r>
          </a:p>
        </p:txBody>
      </p:sp>
      <p:sp>
        <p:nvSpPr>
          <p:cNvPr id="9" name="Rectangle 8">
            <a:extLst>
              <a:ext uri="{FF2B5EF4-FFF2-40B4-BE49-F238E27FC236}">
                <a16:creationId xmlns:a16="http://schemas.microsoft.com/office/drawing/2014/main" id="{B988BFF5-BDA2-3D44-8E1C-373A261EAB3D}"/>
              </a:ext>
            </a:extLst>
          </p:cNvPr>
          <p:cNvSpPr/>
          <p:nvPr/>
        </p:nvSpPr>
        <p:spPr>
          <a:xfrm>
            <a:off x="8429413" y="874517"/>
            <a:ext cx="3403600" cy="4524315"/>
          </a:xfrm>
          <a:prstGeom prst="rect">
            <a:avLst/>
          </a:prstGeom>
        </p:spPr>
        <p:txBody>
          <a:bodyPr wrap="square">
            <a:spAutoFit/>
          </a:bodyPr>
          <a:lstStyle/>
          <a:p>
            <a:pPr>
              <a:buFont typeface="Arial" panose="020B0604020202020204" pitchFamily="34" charset="0"/>
              <a:buChar char="•"/>
            </a:pPr>
            <a:r>
              <a:rPr lang="en-US" sz="600" b="0" i="0" dirty="0" err="1">
                <a:solidFill>
                  <a:srgbClr val="000000"/>
                </a:solidFill>
                <a:effectLst/>
                <a:latin typeface="Verdana" panose="020B0604030504040204" pitchFamily="34" charset="0"/>
              </a:rPr>
              <a:t>Internationalizability</a:t>
            </a:r>
            <a:endParaRPr lang="en-US" sz="600" b="0" i="0" dirty="0">
              <a:solidFill>
                <a:srgbClr val="000000"/>
              </a:solidFill>
              <a:effectLst/>
              <a:latin typeface="Verdana" panose="020B0604030504040204" pitchFamily="34" charset="0"/>
            </a:endParaRP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languages?</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In what order?</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How translated?</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Single or multi byte character sets?</a:t>
            </a:r>
          </a:p>
          <a:p>
            <a:pPr>
              <a:buFont typeface="Arial" panose="020B0604020202020204" pitchFamily="34" charset="0"/>
              <a:buChar char="•"/>
            </a:pPr>
            <a:r>
              <a:rPr lang="en-US" sz="600" b="0" i="0" dirty="0">
                <a:solidFill>
                  <a:srgbClr val="000000"/>
                </a:solidFill>
                <a:effectLst/>
                <a:latin typeface="Verdana" panose="020B0604030504040204" pitchFamily="34" charset="0"/>
              </a:rPr>
              <a:t>Efficiency -- space and time</a:t>
            </a:r>
          </a:p>
          <a:p>
            <a:pPr>
              <a:buFont typeface="Arial" panose="020B0604020202020204" pitchFamily="34" charset="0"/>
              <a:buChar char="•"/>
            </a:pPr>
            <a:r>
              <a:rPr lang="en-US" sz="600" b="0" i="0" dirty="0">
                <a:solidFill>
                  <a:srgbClr val="000000"/>
                </a:solidFill>
                <a:effectLst/>
                <a:latin typeface="Verdana" panose="020B0604030504040204" pitchFamily="34" charset="0"/>
              </a:rPr>
              <a:t>Responsiveness</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are the expected and upper limit response times per operation in the system?</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is the trade-off between lower averages and wider variations in response time?</a:t>
            </a:r>
          </a:p>
          <a:p>
            <a:pPr>
              <a:buFont typeface="Arial" panose="020B0604020202020204" pitchFamily="34" charset="0"/>
              <a:buChar char="•"/>
            </a:pPr>
            <a:r>
              <a:rPr lang="en-US" sz="600" b="0" i="0" dirty="0">
                <a:solidFill>
                  <a:srgbClr val="000000"/>
                </a:solidFill>
                <a:effectLst/>
                <a:latin typeface="Verdana" panose="020B0604030504040204" pitchFamily="34" charset="0"/>
              </a:rPr>
              <a:t>Interoperability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systems will this system interoperate with immediately?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other systems are </a:t>
            </a:r>
            <a:r>
              <a:rPr lang="en-US" sz="600" b="0" i="0" dirty="0" err="1">
                <a:solidFill>
                  <a:srgbClr val="000000"/>
                </a:solidFill>
                <a:effectLst/>
                <a:latin typeface="Verdana" panose="020B0604030504040204" pitchFamily="34" charset="0"/>
              </a:rPr>
              <a:t>anticpated</a:t>
            </a:r>
            <a:r>
              <a:rPr lang="en-US" sz="600" b="0" i="0" dirty="0">
                <a:solidFill>
                  <a:srgbClr val="000000"/>
                </a:solidFill>
                <a:effectLst/>
                <a:latin typeface="Verdana" panose="020B0604030504040204" pitchFamily="34" charset="0"/>
              </a:rPr>
              <a:t>?</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classes of internal and external systems might later be needed to interoperate with?</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functionality from this system needs to be exposed as a service in a service oriented architecture?</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functionality from this system needs to be exposed as a Web service or via a portal?</a:t>
            </a:r>
          </a:p>
          <a:p>
            <a:pPr>
              <a:buFont typeface="Arial" panose="020B0604020202020204" pitchFamily="34" charset="0"/>
              <a:buChar char="•"/>
            </a:pPr>
            <a:r>
              <a:rPr lang="en-US" sz="600" b="0" i="0" dirty="0">
                <a:solidFill>
                  <a:srgbClr val="000000"/>
                </a:solidFill>
                <a:effectLst/>
                <a:latin typeface="Verdana" panose="020B0604030504040204" pitchFamily="34" charset="0"/>
              </a:rPr>
              <a:t>Upgradeability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Do the servers need to be upgraded while running?</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How many client stations need to be upgraded, and what are the costs and mechanisms for upgrading them?</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How often do different kind of fixes need to be distributed? Are there "hot fixes" that have to go out right away, but others that can wait? How often do each kind occur?</a:t>
            </a:r>
          </a:p>
          <a:p>
            <a:pPr>
              <a:buFont typeface="Arial" panose="020B0604020202020204" pitchFamily="34" charset="0"/>
              <a:buChar char="•"/>
            </a:pPr>
            <a:r>
              <a:rPr lang="en-US" sz="600" b="0" i="0" dirty="0">
                <a:solidFill>
                  <a:srgbClr val="000000"/>
                </a:solidFill>
                <a:effectLst/>
                <a:latin typeface="Verdana" panose="020B0604030504040204" pitchFamily="34" charset="0"/>
              </a:rPr>
              <a:t>Auditability / traceability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record of who did what when must be maintained?</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For how long?</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Who accesses the audit trails?</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How?</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Is archive to tape or other off-site storage media required?</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Is "effective dating" required?</a:t>
            </a:r>
          </a:p>
          <a:p>
            <a:pPr>
              <a:buFont typeface="Arial" panose="020B0604020202020204" pitchFamily="34" charset="0"/>
              <a:buChar char="•"/>
            </a:pPr>
            <a:r>
              <a:rPr lang="en-US" sz="600" b="0" i="0" dirty="0" err="1">
                <a:solidFill>
                  <a:srgbClr val="000000"/>
                </a:solidFill>
                <a:effectLst/>
                <a:latin typeface="Verdana" panose="020B0604030504040204" pitchFamily="34" charset="0"/>
              </a:rPr>
              <a:t>Transactionality</a:t>
            </a:r>
            <a:endParaRPr lang="en-US" sz="600" b="0" i="0" dirty="0">
              <a:solidFill>
                <a:srgbClr val="000000"/>
              </a:solidFill>
              <a:effectLst/>
              <a:latin typeface="Verdana" panose="020B0604030504040204" pitchFamily="34" charset="0"/>
            </a:endParaRP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are the important database and application transaction boundaries?</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Is standard "optimistic" locking appropriate, or is something more complex required in some or all cases&gt;</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Is disconnected operation required by any node?</a:t>
            </a:r>
          </a:p>
          <a:p>
            <a:pPr>
              <a:buFont typeface="Arial" panose="020B0604020202020204" pitchFamily="34" charset="0"/>
              <a:buChar char="•"/>
            </a:pPr>
            <a:r>
              <a:rPr lang="en-US" sz="600" b="0" i="0" dirty="0">
                <a:solidFill>
                  <a:srgbClr val="000000"/>
                </a:solidFill>
                <a:effectLst/>
                <a:latin typeface="Verdana" panose="020B0604030504040204" pitchFamily="34" charset="0"/>
              </a:rPr>
              <a:t>Administrability</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live usage information needs to be displayed?</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To who? How? When?</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"live" interventions are required?</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What ability to handle remote configurations are required?</a:t>
            </a:r>
          </a:p>
          <a:p>
            <a:pPr marL="742950" lvl="1" indent="-285750">
              <a:buFont typeface="Arial" panose="020B0604020202020204" pitchFamily="34" charset="0"/>
              <a:buChar char="•"/>
            </a:pPr>
            <a:r>
              <a:rPr lang="en-US" sz="600" b="0" i="0" dirty="0">
                <a:solidFill>
                  <a:srgbClr val="000000"/>
                </a:solidFill>
                <a:effectLst/>
                <a:latin typeface="Verdana" panose="020B0604030504040204" pitchFamily="34" charset="0"/>
              </a:rPr>
              <a:t>Are there existing application management consoles that will be used to manage this application?</a:t>
            </a:r>
          </a:p>
          <a:p>
            <a:pPr>
              <a:buFont typeface="Arial" panose="020B0604020202020204" pitchFamily="34" charset="0"/>
              <a:buChar char="•"/>
            </a:pPr>
            <a:r>
              <a:rPr lang="en-US" sz="600" b="0" i="0" dirty="0">
                <a:solidFill>
                  <a:srgbClr val="000000"/>
                </a:solidFill>
                <a:effectLst/>
                <a:latin typeface="Verdana" panose="020B0604030504040204" pitchFamily="34" charset="0"/>
              </a:rPr>
              <a:t>Lots of others -- what are your favorites?</a:t>
            </a:r>
          </a:p>
        </p:txBody>
      </p:sp>
      <p:sp>
        <p:nvSpPr>
          <p:cNvPr id="10" name="TextBox 9">
            <a:extLst>
              <a:ext uri="{FF2B5EF4-FFF2-40B4-BE49-F238E27FC236}">
                <a16:creationId xmlns:a16="http://schemas.microsoft.com/office/drawing/2014/main" id="{3875BE5B-4DF2-8D4E-97E8-26CC1B127BE0}"/>
              </a:ext>
            </a:extLst>
          </p:cNvPr>
          <p:cNvSpPr txBox="1"/>
          <p:nvPr/>
        </p:nvSpPr>
        <p:spPr>
          <a:xfrm>
            <a:off x="284479" y="264160"/>
            <a:ext cx="5269653" cy="369332"/>
          </a:xfrm>
          <a:prstGeom prst="rect">
            <a:avLst/>
          </a:prstGeom>
          <a:noFill/>
        </p:spPr>
        <p:txBody>
          <a:bodyPr wrap="square" rtlCol="0">
            <a:spAutoFit/>
          </a:bodyPr>
          <a:lstStyle/>
          <a:p>
            <a:r>
              <a:rPr lang="en-US" dirty="0"/>
              <a:t>“</a:t>
            </a:r>
            <a:r>
              <a:rPr lang="en-US" dirty="0" err="1"/>
              <a:t>Ility</a:t>
            </a:r>
            <a:r>
              <a:rPr lang="en-US" dirty="0"/>
              <a:t>” Examples (Non-Functional Requirements)</a:t>
            </a:r>
          </a:p>
        </p:txBody>
      </p:sp>
    </p:spTree>
    <p:extLst>
      <p:ext uri="{BB962C8B-B14F-4D97-AF65-F5344CB8AC3E}">
        <p14:creationId xmlns:p14="http://schemas.microsoft.com/office/powerpoint/2010/main" val="1450293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C42A3B-72AE-4042-B2F7-706EE7448E7A}"/>
              </a:ext>
            </a:extLst>
          </p:cNvPr>
          <p:cNvSpPr txBox="1"/>
          <p:nvPr/>
        </p:nvSpPr>
        <p:spPr>
          <a:xfrm>
            <a:off x="334466" y="374968"/>
            <a:ext cx="2599233" cy="484043"/>
          </a:xfrm>
          <a:prstGeom prst="rect">
            <a:avLst/>
          </a:prstGeom>
          <a:noFill/>
        </p:spPr>
        <p:txBody>
          <a:bodyPr wrap="square" rtlCol="0">
            <a:spAutoFit/>
          </a:bodyPr>
          <a:lstStyle/>
          <a:p>
            <a:pPr>
              <a:lnSpc>
                <a:spcPct val="90000"/>
              </a:lnSpc>
            </a:pPr>
            <a:r>
              <a:rPr lang="en-US" sz="2800" b="1" spc="100" dirty="0">
                <a:solidFill>
                  <a:srgbClr val="138B91"/>
                </a:solidFill>
                <a:latin typeface="Futura PT Book" charset="0"/>
                <a:ea typeface="Futura PT Book" charset="0"/>
                <a:cs typeface="Futura PT Book" charset="0"/>
              </a:rPr>
              <a:t>Rubric</a:t>
            </a:r>
            <a:endParaRPr lang="en-US" sz="2000" b="1" spc="100" dirty="0">
              <a:solidFill>
                <a:srgbClr val="138B91"/>
              </a:solidFill>
              <a:latin typeface="Futura PT Book" charset="0"/>
              <a:ea typeface="Futura PT Book" charset="0"/>
              <a:cs typeface="Futura PT Book" charset="0"/>
            </a:endParaRPr>
          </a:p>
        </p:txBody>
      </p:sp>
      <p:graphicFrame>
        <p:nvGraphicFramePr>
          <p:cNvPr id="3" name="Table 2">
            <a:extLst>
              <a:ext uri="{FF2B5EF4-FFF2-40B4-BE49-F238E27FC236}">
                <a16:creationId xmlns:a16="http://schemas.microsoft.com/office/drawing/2014/main" id="{82DBF11D-D4E3-634A-AD23-E8DA06FBA1E5}"/>
              </a:ext>
            </a:extLst>
          </p:cNvPr>
          <p:cNvGraphicFramePr>
            <a:graphicFrameLocks noGrp="1"/>
          </p:cNvGraphicFramePr>
          <p:nvPr>
            <p:extLst>
              <p:ext uri="{D42A27DB-BD31-4B8C-83A1-F6EECF244321}">
                <p14:modId xmlns:p14="http://schemas.microsoft.com/office/powerpoint/2010/main" val="4155633096"/>
              </p:ext>
            </p:extLst>
          </p:nvPr>
        </p:nvGraphicFramePr>
        <p:xfrm>
          <a:off x="480060" y="1127760"/>
          <a:ext cx="11330940" cy="5709097"/>
        </p:xfrm>
        <a:graphic>
          <a:graphicData uri="http://schemas.openxmlformats.org/drawingml/2006/table">
            <a:tbl>
              <a:tblPr>
                <a:tableStyleId>{5C22544A-7EE6-4342-B048-85BDC9FD1C3A}</a:tableStyleId>
              </a:tblPr>
              <a:tblGrid>
                <a:gridCol w="2006225">
                  <a:extLst>
                    <a:ext uri="{9D8B030D-6E8A-4147-A177-3AD203B41FA5}">
                      <a16:colId xmlns:a16="http://schemas.microsoft.com/office/drawing/2014/main" val="527936087"/>
                    </a:ext>
                  </a:extLst>
                </a:gridCol>
                <a:gridCol w="1139688">
                  <a:extLst>
                    <a:ext uri="{9D8B030D-6E8A-4147-A177-3AD203B41FA5}">
                      <a16:colId xmlns:a16="http://schemas.microsoft.com/office/drawing/2014/main" val="1127837985"/>
                    </a:ext>
                  </a:extLst>
                </a:gridCol>
                <a:gridCol w="1139688">
                  <a:extLst>
                    <a:ext uri="{9D8B030D-6E8A-4147-A177-3AD203B41FA5}">
                      <a16:colId xmlns:a16="http://schemas.microsoft.com/office/drawing/2014/main" val="231301189"/>
                    </a:ext>
                  </a:extLst>
                </a:gridCol>
                <a:gridCol w="1676564">
                  <a:extLst>
                    <a:ext uri="{9D8B030D-6E8A-4147-A177-3AD203B41FA5}">
                      <a16:colId xmlns:a16="http://schemas.microsoft.com/office/drawing/2014/main" val="3332987547"/>
                    </a:ext>
                  </a:extLst>
                </a:gridCol>
                <a:gridCol w="1139688">
                  <a:extLst>
                    <a:ext uri="{9D8B030D-6E8A-4147-A177-3AD203B41FA5}">
                      <a16:colId xmlns:a16="http://schemas.microsoft.com/office/drawing/2014/main" val="208807622"/>
                    </a:ext>
                  </a:extLst>
                </a:gridCol>
                <a:gridCol w="1139688">
                  <a:extLst>
                    <a:ext uri="{9D8B030D-6E8A-4147-A177-3AD203B41FA5}">
                      <a16:colId xmlns:a16="http://schemas.microsoft.com/office/drawing/2014/main" val="565155921"/>
                    </a:ext>
                  </a:extLst>
                </a:gridCol>
                <a:gridCol w="1024379">
                  <a:extLst>
                    <a:ext uri="{9D8B030D-6E8A-4147-A177-3AD203B41FA5}">
                      <a16:colId xmlns:a16="http://schemas.microsoft.com/office/drawing/2014/main" val="2706045467"/>
                    </a:ext>
                  </a:extLst>
                </a:gridCol>
                <a:gridCol w="2065020">
                  <a:extLst>
                    <a:ext uri="{9D8B030D-6E8A-4147-A177-3AD203B41FA5}">
                      <a16:colId xmlns:a16="http://schemas.microsoft.com/office/drawing/2014/main" val="2405733749"/>
                    </a:ext>
                  </a:extLst>
                </a:gridCol>
              </a:tblGrid>
              <a:tr h="265713">
                <a:tc>
                  <a:txBody>
                    <a:bodyPr/>
                    <a:lstStyle/>
                    <a:p>
                      <a:pPr algn="ctr" fontAlgn="b"/>
                      <a:r>
                        <a:rPr lang="en-US" sz="1400" b="1" u="none" strike="noStrike" dirty="0">
                          <a:effectLst/>
                          <a:latin typeface="Futura PT Book" panose="020B0502020204020303" pitchFamily="34" charset="77"/>
                        </a:rPr>
                        <a:t>Criteria</a:t>
                      </a:r>
                      <a:endParaRPr lang="en-US" sz="1400" b="1" i="0" u="none" strike="noStrike" dirty="0">
                        <a:solidFill>
                          <a:srgbClr val="000000"/>
                        </a:solidFill>
                        <a:effectLst/>
                        <a:latin typeface="Futura PT Book" panose="020B0502020204020303" pitchFamily="34" charset="77"/>
                      </a:endParaRPr>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400" u="none" strike="noStrike" dirty="0">
                          <a:effectLst/>
                          <a:latin typeface="Futura PT Book" panose="020B0502020204020303" pitchFamily="34" charset="77"/>
                        </a:rPr>
                        <a:t>D</a:t>
                      </a:r>
                      <a:endParaRPr lang="en-US" sz="1400" b="0" i="0" u="none" strike="noStrike" dirty="0">
                        <a:solidFill>
                          <a:srgbClr val="000000"/>
                        </a:solidFill>
                        <a:effectLst/>
                        <a:latin typeface="Futura PT Book" panose="020B0502020204020303" pitchFamily="34" charset="77"/>
                      </a:endParaRPr>
                    </a:p>
                  </a:txBody>
                  <a:tcPr marL="45720" marR="4572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400" u="none" strike="noStrike">
                          <a:effectLst/>
                          <a:latin typeface="Futura PT Book" panose="020B0502020204020303" pitchFamily="34" charset="77"/>
                        </a:rPr>
                        <a:t>C</a:t>
                      </a:r>
                      <a:endParaRPr lang="en-US" sz="1400" b="0" i="0" u="none" strike="noStrike">
                        <a:solidFill>
                          <a:srgbClr val="000000"/>
                        </a:solidFill>
                        <a:effectLst/>
                        <a:latin typeface="Futura PT Book" panose="020B0502020204020303" pitchFamily="34" charset="77"/>
                      </a:endParaRPr>
                    </a:p>
                  </a:txBody>
                  <a:tcPr marL="45720" marR="4572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400" u="none" strike="noStrike" dirty="0">
                          <a:effectLst/>
                          <a:latin typeface="Futura PT Book" panose="020B0502020204020303" pitchFamily="34" charset="77"/>
                        </a:rPr>
                        <a:t>B- (80-83%)</a:t>
                      </a:r>
                      <a:endParaRPr lang="en-US" sz="1400" b="0" i="0" u="none" strike="noStrike" dirty="0">
                        <a:solidFill>
                          <a:srgbClr val="000000"/>
                        </a:solidFill>
                        <a:effectLst/>
                        <a:latin typeface="Futura PT Book" panose="020B0502020204020303" pitchFamily="34" charset="77"/>
                      </a:endParaRPr>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400" u="none" strike="noStrike" dirty="0">
                          <a:effectLst/>
                          <a:latin typeface="Futura PT Book" panose="020B0502020204020303" pitchFamily="34" charset="77"/>
                        </a:rPr>
                        <a:t>B (84-86%)</a:t>
                      </a:r>
                      <a:endParaRPr lang="en-US" sz="1400" b="0" i="0" u="none" strike="noStrike" dirty="0">
                        <a:solidFill>
                          <a:srgbClr val="000000"/>
                        </a:solidFill>
                        <a:effectLst/>
                        <a:latin typeface="Futura PT Book" panose="020B0502020204020303" pitchFamily="34" charset="77"/>
                      </a:endParaRPr>
                    </a:p>
                  </a:txBody>
                  <a:tcPr marL="45720" marR="4572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400" u="none" strike="noStrike" dirty="0">
                          <a:effectLst/>
                          <a:latin typeface="Futura PT Book" panose="020B0502020204020303" pitchFamily="34" charset="77"/>
                        </a:rPr>
                        <a:t>B+ (87-89%)</a:t>
                      </a:r>
                      <a:endParaRPr lang="en-US" sz="1400" b="0" i="0" u="none" strike="noStrike" dirty="0">
                        <a:solidFill>
                          <a:srgbClr val="000000"/>
                        </a:solidFill>
                        <a:effectLst/>
                        <a:latin typeface="Futura PT Book" panose="020B0502020204020303" pitchFamily="34" charset="77"/>
                      </a:endParaRPr>
                    </a:p>
                  </a:txBody>
                  <a:tcPr marL="45720" marR="4572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400" u="none" strike="noStrike" dirty="0">
                          <a:effectLst/>
                          <a:latin typeface="Futura PT Book" panose="020B0502020204020303" pitchFamily="34" charset="77"/>
                        </a:rPr>
                        <a:t>A- (90-93%)</a:t>
                      </a:r>
                      <a:endParaRPr lang="en-US" sz="1400" b="0" i="0" u="none" strike="noStrike" dirty="0">
                        <a:solidFill>
                          <a:srgbClr val="000000"/>
                        </a:solidFill>
                        <a:effectLst/>
                        <a:latin typeface="Futura PT Book" panose="020B0502020204020303" pitchFamily="34" charset="77"/>
                      </a:endParaRPr>
                    </a:p>
                  </a:txBody>
                  <a:tcPr marL="45720" marR="4572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400" u="none" strike="noStrike" dirty="0">
                          <a:effectLst/>
                          <a:latin typeface="Futura PT Book" panose="020B0502020204020303" pitchFamily="34" charset="77"/>
                        </a:rPr>
                        <a:t>A (94%+)</a:t>
                      </a:r>
                      <a:endParaRPr lang="en-US" sz="1400" b="0" i="0" u="none" strike="noStrike" dirty="0">
                        <a:solidFill>
                          <a:srgbClr val="000000"/>
                        </a:solidFill>
                        <a:effectLst/>
                        <a:latin typeface="Futura PT Book" panose="020B0502020204020303" pitchFamily="34" charset="77"/>
                      </a:endParaRPr>
                    </a:p>
                  </a:txBody>
                  <a:tcPr marL="45720" marR="4572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25631170"/>
                  </a:ext>
                </a:extLst>
              </a:tr>
              <a:tr h="810424">
                <a:tc>
                  <a:txBody>
                    <a:bodyPr/>
                    <a:lstStyle/>
                    <a:p>
                      <a:pPr algn="ctr" fontAlgn="ctr"/>
                      <a:r>
                        <a:rPr lang="en-US" sz="1200" b="1" u="none" strike="noStrike" dirty="0">
                          <a:effectLst/>
                          <a:latin typeface="Futura PT Book" panose="020B0502020204020303" pitchFamily="34" charset="77"/>
                        </a:rPr>
                        <a:t>Organization &amp; Clarity</a:t>
                      </a:r>
                      <a:endParaRPr lang="en-US" sz="1200" b="1"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fontAlgn="t"/>
                      <a:r>
                        <a:rPr lang="en-US" sz="1200" u="none" strike="noStrike" dirty="0">
                          <a:effectLst/>
                          <a:latin typeface="Futura PT Book" panose="020B0502020204020303" pitchFamily="34" charset="77"/>
                        </a:rPr>
                        <a:t>Disorganized or hard-to-understand</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a:txBody>
                    <a:bodyPr/>
                    <a:lstStyle/>
                    <a:p>
                      <a:pPr algn="l" fontAlgn="t"/>
                      <a:r>
                        <a:rPr lang="en-US" sz="1200" u="none" strike="noStrike" dirty="0">
                          <a:effectLst/>
                          <a:latin typeface="Futura PT Book" panose="020B0502020204020303" pitchFamily="34" charset="77"/>
                        </a:rPr>
                        <a:t>Generally organized and clear</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l" fontAlgn="t"/>
                      <a:r>
                        <a:rPr lang="en-US" sz="1200" u="none" strike="noStrike" dirty="0">
                          <a:effectLst/>
                          <a:latin typeface="Futura PT Book" panose="020B0502020204020303" pitchFamily="34" charset="77"/>
                        </a:rPr>
                        <a:t>Very clear, organized and persuasive presentation of ideas and designs</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a:txBody>
                    <a:bodyPr/>
                    <a:lstStyle/>
                    <a:p>
                      <a:pPr algn="l" fontAlgn="t"/>
                      <a:r>
                        <a:rPr lang="en-US" sz="1200" u="none" strike="noStrike" dirty="0">
                          <a:effectLst/>
                          <a:latin typeface="Futura PT Book" panose="020B0502020204020303" pitchFamily="34" charset="77"/>
                        </a:rPr>
                        <a:t>Exceptionally clear, organized and persuasive presentation of ideas and designs</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58940065"/>
                  </a:ext>
                </a:extLst>
              </a:tr>
              <a:tr h="1341850">
                <a:tc>
                  <a:txBody>
                    <a:bodyPr/>
                    <a:lstStyle/>
                    <a:p>
                      <a:pPr algn="ctr" fontAlgn="ctr"/>
                      <a:r>
                        <a:rPr lang="en-US" sz="1200" b="1" u="none" strike="noStrike" dirty="0">
                          <a:effectLst/>
                          <a:latin typeface="Futura PT Book" panose="020B0502020204020303" pitchFamily="34" charset="77"/>
                        </a:rPr>
                        <a:t>Thoroughness &amp; Content</a:t>
                      </a:r>
                      <a:endParaRPr lang="en-US" sz="1200" b="1"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fontAlgn="t"/>
                      <a:r>
                        <a:rPr lang="en-US" sz="1200" u="none" strike="noStrike" dirty="0">
                          <a:effectLst/>
                          <a:latin typeface="Futura PT Book" panose="020B0502020204020303" pitchFamily="34" charset="77"/>
                        </a:rPr>
                        <a:t>Little understanding of, or insight into material</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a:txBody>
                    <a:bodyPr/>
                    <a:lstStyle/>
                    <a:p>
                      <a:pPr algn="l" fontAlgn="t"/>
                      <a:r>
                        <a:rPr lang="en-US" sz="1200" u="none" strike="noStrike" dirty="0">
                          <a:effectLst/>
                          <a:latin typeface="Futura PT Book" panose="020B0502020204020303" pitchFamily="34" charset="77"/>
                        </a:rPr>
                        <a:t>Overall understanding of material</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l" fontAlgn="t"/>
                      <a:r>
                        <a:rPr lang="en-US" sz="1200" u="none" strike="noStrike" dirty="0">
                          <a:effectLst/>
                          <a:latin typeface="Futura PT Book" panose="020B0502020204020303" pitchFamily="34" charset="77"/>
                        </a:rPr>
                        <a:t>Very good overall understanding of technical material, with some real depth</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a:txBody>
                    <a:bodyPr/>
                    <a:lstStyle/>
                    <a:p>
                      <a:pPr algn="l" fontAlgn="t"/>
                      <a:r>
                        <a:rPr lang="en-US" sz="1200" u="none" strike="noStrike" dirty="0">
                          <a:effectLst/>
                          <a:latin typeface="Futura PT Book" panose="020B0502020204020303" pitchFamily="34" charset="77"/>
                        </a:rPr>
                        <a:t>Accurate and in depth information, sufficient amount of information, proper citing of resources. Excellent, deep understanding of material and its inter-relationships</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9655708"/>
                  </a:ext>
                </a:extLst>
              </a:tr>
              <a:tr h="544711">
                <a:tc>
                  <a:txBody>
                    <a:bodyPr/>
                    <a:lstStyle/>
                    <a:p>
                      <a:pPr algn="ctr" fontAlgn="ctr"/>
                      <a:r>
                        <a:rPr lang="en-US" sz="1200" b="1" u="none" strike="noStrike" dirty="0">
                          <a:effectLst/>
                          <a:latin typeface="Futura PT Book" panose="020B0502020204020303" pitchFamily="34" charset="77"/>
                        </a:rPr>
                        <a:t>Subject Knowledge</a:t>
                      </a:r>
                      <a:endParaRPr lang="en-US" sz="1200" b="1"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fontAlgn="t"/>
                      <a:r>
                        <a:rPr lang="en-US" sz="1200" u="none" strike="noStrike" dirty="0">
                          <a:effectLst/>
                          <a:latin typeface="Futura PT Book" panose="020B0502020204020303" pitchFamily="34" charset="77"/>
                        </a:rPr>
                        <a:t>Hardly covers any of the major relevant issues</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a:txBody>
                    <a:bodyPr/>
                    <a:lstStyle/>
                    <a:p>
                      <a:pPr algn="l" fontAlgn="t"/>
                      <a:r>
                        <a:rPr lang="en-US" sz="1200" u="none" strike="noStrike" dirty="0">
                          <a:effectLst/>
                          <a:latin typeface="Futura PT Book" panose="020B0502020204020303" pitchFamily="34" charset="77"/>
                        </a:rPr>
                        <a:t>Reasonable coverage of the major relevant area</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l" fontAlgn="t"/>
                      <a:r>
                        <a:rPr lang="en-US" sz="1200" u="none" strike="noStrike" dirty="0">
                          <a:effectLst/>
                          <a:latin typeface="Futura PT Book" panose="020B0502020204020303" pitchFamily="34" charset="77"/>
                        </a:rPr>
                        <a:t>Thorough coverage of almost all of the major relevant issues</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a:txBody>
                    <a:bodyPr/>
                    <a:lstStyle/>
                    <a:p>
                      <a:pPr algn="l" fontAlgn="t"/>
                      <a:r>
                        <a:rPr lang="en-US" sz="1200" u="none" strike="noStrike" dirty="0">
                          <a:effectLst/>
                          <a:latin typeface="Futura PT Book" panose="020B0502020204020303" pitchFamily="34" charset="77"/>
                        </a:rPr>
                        <a:t>Exceptionally thorough coverage of all major relevant issues</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39877429"/>
                  </a:ext>
                </a:extLst>
              </a:tr>
              <a:tr h="544711">
                <a:tc>
                  <a:txBody>
                    <a:bodyPr/>
                    <a:lstStyle/>
                    <a:p>
                      <a:pPr algn="ctr" fontAlgn="ctr"/>
                      <a:r>
                        <a:rPr lang="en-US" sz="1200" b="1" u="none" strike="noStrike" dirty="0">
                          <a:effectLst/>
                          <a:latin typeface="Futura PT Book" panose="020B0502020204020303" pitchFamily="34" charset="77"/>
                        </a:rPr>
                        <a:t>Relevance</a:t>
                      </a:r>
                      <a:endParaRPr lang="en-US" sz="1200" b="1"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fontAlgn="t"/>
                      <a:r>
                        <a:rPr lang="en-US" sz="1200" u="none" strike="noStrike" dirty="0">
                          <a:effectLst/>
                          <a:latin typeface="Futura PT Book" panose="020B0502020204020303" pitchFamily="34" charset="77"/>
                        </a:rPr>
                        <a:t>Mostly unfocused</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a:txBody>
                    <a:bodyPr/>
                    <a:lstStyle/>
                    <a:p>
                      <a:pPr algn="l" fontAlgn="t"/>
                      <a:r>
                        <a:rPr lang="en-US" sz="1200" u="none" strike="noStrike" dirty="0">
                          <a:effectLst/>
                          <a:latin typeface="Futura PT Book" panose="020B0502020204020303" pitchFamily="34" charset="77"/>
                        </a:rPr>
                        <a:t>Only some of the content is meaningful and on topic</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l" fontAlgn="t"/>
                      <a:r>
                        <a:rPr lang="en-US" sz="1200" u="none" strike="noStrike" dirty="0">
                          <a:effectLst/>
                          <a:latin typeface="Futura PT Book" panose="020B0502020204020303" pitchFamily="34" charset="77"/>
                        </a:rPr>
                        <a:t>All of the content is reasonably meaningful and on-topic</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a:txBody>
                    <a:bodyPr/>
                    <a:lstStyle/>
                    <a:p>
                      <a:pPr algn="l" fontAlgn="t"/>
                      <a:r>
                        <a:rPr lang="en-US" sz="1200" u="none" strike="noStrike">
                          <a:effectLst/>
                          <a:latin typeface="Futura PT Book" panose="020B0502020204020303" pitchFamily="34" charset="77"/>
                        </a:rPr>
                        <a:t>All of the content is entirely relevant and meaningful</a:t>
                      </a:r>
                      <a:endParaRPr lang="en-US" sz="1200" b="0" i="0" u="none" strike="noStrike">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1599762"/>
                  </a:ext>
                </a:extLst>
              </a:tr>
              <a:tr h="1076137">
                <a:tc>
                  <a:txBody>
                    <a:bodyPr/>
                    <a:lstStyle/>
                    <a:p>
                      <a:pPr algn="ctr" fontAlgn="ctr"/>
                      <a:r>
                        <a:rPr lang="en-US" sz="1200" b="1" u="none" strike="noStrike" dirty="0">
                          <a:effectLst/>
                          <a:latin typeface="Futura PT Book" panose="020B0502020204020303" pitchFamily="34" charset="77"/>
                        </a:rPr>
                        <a:t>Utilization of Resources</a:t>
                      </a:r>
                      <a:endParaRPr lang="en-US" sz="1200" b="1"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fontAlgn="t"/>
                      <a:r>
                        <a:rPr lang="en-US" sz="1200" u="none" strike="noStrike" dirty="0">
                          <a:effectLst/>
                          <a:latin typeface="Futura PT Book" panose="020B0502020204020303" pitchFamily="34" charset="77"/>
                        </a:rPr>
                        <a:t>No useful use of notes, text(s), or research with incorrect details or applicability</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a:txBody>
                    <a:bodyPr/>
                    <a:lstStyle/>
                    <a:p>
                      <a:pPr algn="l" fontAlgn="t"/>
                      <a:r>
                        <a:rPr lang="en-US" sz="1200" u="none" strike="noStrike" dirty="0">
                          <a:effectLst/>
                          <a:latin typeface="Futura PT Book" panose="020B0502020204020303" pitchFamily="34" charset="77"/>
                        </a:rPr>
                        <a:t>Some useful use of notes, text(s), or research with mostly correct details or applicability</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l" fontAlgn="t"/>
                      <a:r>
                        <a:rPr lang="en-US" sz="1200" u="none" strike="noStrike" dirty="0">
                          <a:effectLst/>
                          <a:latin typeface="Futura PT Book" panose="020B0502020204020303" pitchFamily="34" charset="77"/>
                        </a:rPr>
                        <a:t>Very good use of notes, text(s), or research with correct details or applicability</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a:txBody>
                    <a:bodyPr/>
                    <a:lstStyle/>
                    <a:p>
                      <a:pPr algn="l" fontAlgn="t"/>
                      <a:r>
                        <a:rPr lang="en-US" sz="1200" u="none" strike="noStrike" dirty="0">
                          <a:effectLst/>
                          <a:latin typeface="Futura PT Book" panose="020B0502020204020303" pitchFamily="34" charset="77"/>
                        </a:rPr>
                        <a:t>Excellent use of notes, text(s), or research with entirely correct details or applicability</a:t>
                      </a:r>
                      <a:endParaRPr lang="en-US" sz="1200" b="0"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7233890"/>
                  </a:ext>
                </a:extLst>
              </a:tr>
              <a:tr h="544711">
                <a:tc>
                  <a:txBody>
                    <a:bodyPr/>
                    <a:lstStyle/>
                    <a:p>
                      <a:pPr algn="ctr" fontAlgn="t"/>
                      <a:r>
                        <a:rPr lang="en-US" sz="1200" b="1" u="none" strike="noStrike" dirty="0">
                          <a:effectLst/>
                          <a:latin typeface="Futura PT Book" panose="020B0502020204020303" pitchFamily="34" charset="77"/>
                        </a:rPr>
                        <a:t>Overall  Rating: Minimum Viable Assignment (MVA)</a:t>
                      </a:r>
                      <a:endParaRPr lang="en-US" sz="1200" b="1"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fontAlgn="t"/>
                      <a:r>
                        <a:rPr lang="en-US" sz="1200" u="none" strike="noStrike" dirty="0">
                          <a:effectLst/>
                          <a:latin typeface="Futura PT Book" panose="020B0502020204020303" pitchFamily="34" charset="77"/>
                        </a:rPr>
                        <a:t>Does not meet MVA requirements</a:t>
                      </a:r>
                      <a:endParaRPr lang="en-US" sz="1200" b="1"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gridSpan="3">
                  <a:txBody>
                    <a:bodyPr/>
                    <a:lstStyle/>
                    <a:p>
                      <a:pPr algn="ctr" fontAlgn="t"/>
                      <a:r>
                        <a:rPr lang="en-US" sz="1200" u="none" strike="noStrike" dirty="0">
                          <a:effectLst/>
                          <a:latin typeface="Futura PT Book" panose="020B0502020204020303" pitchFamily="34" charset="77"/>
                        </a:rPr>
                        <a:t>Meets MVA requirements</a:t>
                      </a:r>
                      <a:endParaRPr lang="en-US" sz="1200" b="1"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a:txBody>
                    <a:bodyPr/>
                    <a:lstStyle/>
                    <a:p>
                      <a:pPr algn="ctr" fontAlgn="t"/>
                      <a:r>
                        <a:rPr lang="en-US" sz="1200" u="none" strike="noStrike" dirty="0">
                          <a:effectLst/>
                          <a:latin typeface="Futura PT Book" panose="020B0502020204020303" pitchFamily="34" charset="77"/>
                        </a:rPr>
                        <a:t>Above and beyond</a:t>
                      </a:r>
                      <a:endParaRPr lang="en-US" sz="1200" b="1" i="0" u="none" strike="noStrike" dirty="0">
                        <a:solidFill>
                          <a:srgbClr val="000000"/>
                        </a:solidFill>
                        <a:effectLst/>
                        <a:latin typeface="Futura PT Book" panose="020B0502020204020303" pitchFamily="34" charset="77"/>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4523988"/>
                  </a:ext>
                </a:extLst>
              </a:tr>
            </a:tbl>
          </a:graphicData>
        </a:graphic>
      </p:graphicFrame>
    </p:spTree>
    <p:extLst>
      <p:ext uri="{BB962C8B-B14F-4D97-AF65-F5344CB8AC3E}">
        <p14:creationId xmlns:p14="http://schemas.microsoft.com/office/powerpoint/2010/main" val="184842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B3DA25413CC4BABEA74144452FCC1" ma:contentTypeVersion="18" ma:contentTypeDescription="Create a new document." ma:contentTypeScope="" ma:versionID="a374e7360e11b4d3cd65e65764696e8d">
  <xsd:schema xmlns:xsd="http://www.w3.org/2001/XMLSchema" xmlns:xs="http://www.w3.org/2001/XMLSchema" xmlns:p="http://schemas.microsoft.com/office/2006/metadata/properties" xmlns:ns2="836958e8-e4a1-4e8a-b060-9cf82d8c62c9" xmlns:ns3="9f954a46-ab4f-4ef1-b72b-8f7e89c4546f" targetNamespace="http://schemas.microsoft.com/office/2006/metadata/properties" ma:root="true" ma:fieldsID="c1726ecae5f880963300b8428676210a" ns2:_="" ns3:_="">
    <xsd:import namespace="836958e8-e4a1-4e8a-b060-9cf82d8c62c9"/>
    <xsd:import namespace="9f954a46-ab4f-4ef1-b72b-8f7e89c4546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6958e8-e4a1-4e8a-b060-9cf82d8c62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30fdde71-3d84-4f2a-8a39-a81d5da30a6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f954a46-ab4f-4ef1-b72b-8f7e89c4546f"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682576e8-7203-4053-b40f-524c620f9761}" ma:internalName="TaxCatchAll" ma:showField="CatchAllData" ma:web="9f954a46-ab4f-4ef1-b72b-8f7e89c4546f">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4DCD8A-2368-4F6D-B5B9-B955B32EFA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6958e8-e4a1-4e8a-b060-9cf82d8c62c9"/>
    <ds:schemaRef ds:uri="9f954a46-ab4f-4ef1-b72b-8f7e89c454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E9E5044-47DB-4B92-9D29-CA69E167D8F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10982</TotalTime>
  <Words>2304</Words>
  <Application>Microsoft Office PowerPoint</Application>
  <PresentationFormat>Widescreen</PresentationFormat>
  <Paragraphs>301</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Aptos</vt:lpstr>
      <vt:lpstr>Arial</vt:lpstr>
      <vt:lpstr>Calibri</vt:lpstr>
      <vt:lpstr>Calibri Light</vt:lpstr>
      <vt:lpstr>Courier New</vt:lpstr>
      <vt:lpstr>Futura PT Book</vt:lpstr>
      <vt:lpstr>Symbol</vt:lpstr>
      <vt:lpstr>Verdana</vt:lpstr>
      <vt:lpstr>Office Theme</vt:lpstr>
      <vt:lpstr>PowerPoint Presentation</vt:lpstr>
      <vt:lpstr>PowerPoint Presentation</vt:lpstr>
      <vt:lpstr>PowerPoint Presentation</vt:lpstr>
      <vt:lpstr>PowerPoint Presentation</vt:lpstr>
      <vt:lpstr>Trello Guidance for Assignment 3</vt:lpstr>
      <vt:lpstr>Trello Guidance for Assignment 4</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Alt-Simmons, Rachel</dc:creator>
  <cp:lastModifiedBy>Regis, Rachel</cp:lastModifiedBy>
  <cp:revision>38</cp:revision>
  <cp:lastPrinted>2019-11-13T18:14:48Z</cp:lastPrinted>
  <dcterms:created xsi:type="dcterms:W3CDTF">2019-11-12T20:26:49Z</dcterms:created>
  <dcterms:modified xsi:type="dcterms:W3CDTF">2026-03-05T17:55:52Z</dcterms:modified>
</cp:coreProperties>
</file>