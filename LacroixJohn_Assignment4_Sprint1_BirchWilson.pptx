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01168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82296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4A90E2"/>
                </a:solidFill>
                <a:latin typeface="Segoe UI"/>
              </a:rPr>
              <a:t>BIRCH WILSON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1A"/>
                </a:solidFill>
                <a:latin typeface="Segoe UI"/>
              </a:rPr>
              <a:t>Sprint 1 Planning  ·  Sprint Backlog &amp; Definition of 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64992"/>
            <a:ext cx="103601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Segoe UI"/>
              </a:rPr>
              <a:t>MET CS 634 — Agile Software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22191"/>
            <a:ext cx="103601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Segoe UI"/>
              </a:rPr>
              <a:t>John LaCroix  ·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Segoe UI"/>
              </a:rPr>
              <a:t>SPRINT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"/>
            <a:ext cx="11274552" cy="16459"/>
          </a:xfrm>
          <a:prstGeom prst="rect">
            <a:avLst/>
          </a:prstGeom>
          <a:solidFill>
            <a:srgbClr val="D1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75520" y="91440"/>
            <a:ext cx="2103120" cy="2743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SPRINT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Segoe UI"/>
              </a:rPr>
              <a:t>Give Dan a Story to Tell. Give Jake a Reason to Call.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4552" cy="987552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89888"/>
            <a:ext cx="109087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Segoe UI"/>
              </a:rPr>
              <a:t>By the end of Sprint 1, Dan (underground blogger) can discover, research, and sign up — and Jake (indie producer) can evaluate the band's sound, verify they're actively gigging, and submit a recording inquiry. Both personas complete their journey end-to-end on a live site.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32304"/>
            <a:ext cx="11274552" cy="16459"/>
          </a:xfrm>
          <a:prstGeom prst="rect">
            <a:avLst/>
          </a:prstGeom>
          <a:solidFill>
            <a:srgbClr val="D1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5394960" cy="420624"/>
          </a:xfrm>
          <a:prstGeom prst="rect">
            <a:avLst/>
          </a:prstGeom>
          <a:solidFill>
            <a:srgbClr val="5F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DAN  ·  The Hardcore Blogger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99232"/>
            <a:ext cx="5394960" cy="329184"/>
          </a:xfrm>
          <a:prstGeom prst="roundRect">
            <a:avLst/>
          </a:prstGeom>
          <a:solidFill>
            <a:srgbClr val="E8F4F3"/>
          </a:solidFill>
          <a:ln w="9525">
            <a:solidFill>
              <a:srgbClr val="5F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054096"/>
            <a:ext cx="5065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FA8A0"/>
                </a:solidFill>
                <a:latin typeface="Segoe UI"/>
              </a:rPr>
              <a:t>Age 30  ·  Allston, MA  ·  Freelance Underground Music Blogger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01568"/>
            <a:ext cx="5394960" cy="457200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5F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474720"/>
            <a:ext cx="5065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Segoe UI"/>
              </a:rPr>
              <a:t>→  Find the site via search ('underground rock bands MA')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13632"/>
            <a:ext cx="5394960" cy="457200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5F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986783"/>
            <a:ext cx="5065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Segoe UI"/>
              </a:rPr>
              <a:t>→  Read band bio &amp; origin story on the About page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25696"/>
            <a:ext cx="5394960" cy="457200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5F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498848"/>
            <a:ext cx="5065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Segoe UI"/>
              </a:rPr>
              <a:t>→  Stream Spotify tracks to assess sound and authenticity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937760"/>
            <a:ext cx="5394960" cy="457200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5F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010912"/>
            <a:ext cx="5065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Segoe UI"/>
              </a:rPr>
              <a:t>→  Sign up for show alerts so he can cover them live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36792" y="2560320"/>
            <a:ext cx="5394960" cy="420624"/>
          </a:xfrm>
          <a:prstGeom prst="rect">
            <a:avLst/>
          </a:prstGeom>
          <a:solidFill>
            <a:srgbClr val="D48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2560320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JAKE  ·  The Indie Producer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36792" y="2999232"/>
            <a:ext cx="5394960" cy="329184"/>
          </a:xfrm>
          <a:prstGeom prst="roundRect">
            <a:avLst/>
          </a:prstGeom>
          <a:solidFill>
            <a:srgbClr val="FDF5E0"/>
          </a:solidFill>
          <a:ln w="9525">
            <a:solidFill>
              <a:srgbClr val="D48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4" y="3054096"/>
            <a:ext cx="5065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48F0A"/>
                </a:solidFill>
                <a:latin typeface="Segoe UI"/>
              </a:rPr>
              <a:t>West Springfield, MA  ·  Ghost Hit Recording  ·  Indie &amp; Rock Specialist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6792" y="3401568"/>
            <a:ext cx="5394960" cy="457200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D48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1384" y="3474720"/>
            <a:ext cx="5065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Segoe UI"/>
              </a:rPr>
              <a:t>→  Listen to Spotify embeds; assess production quality &amp; fit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36792" y="3913632"/>
            <a:ext cx="5394960" cy="457200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D48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1384" y="3986783"/>
            <a:ext cx="5065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Segoe UI"/>
              </a:rPr>
              <a:t>→  Read About page — verify band aesthetic matches his niche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36792" y="4425696"/>
            <a:ext cx="5394960" cy="457200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D48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1384" y="4498848"/>
            <a:ext cx="5065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Segoe UI"/>
              </a:rPr>
              <a:t>→  Check Shows page to confirm the band is actively gigging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36792" y="4937760"/>
            <a:ext cx="5394960" cy="457200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D48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1384" y="5010912"/>
            <a:ext cx="5065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Segoe UI"/>
              </a:rPr>
              <a:t>→  Submit a recording collaboration inquiry via contact form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88736" y="2560320"/>
            <a:ext cx="420624" cy="36576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88736" y="4206240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  <a:latin typeface="Segoe UI"/>
              </a:rPr>
              <a:t>vs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108192"/>
            <a:ext cx="11274552" cy="16459"/>
          </a:xfrm>
          <a:prstGeom prst="rect">
            <a:avLst/>
          </a:prstGeom>
          <a:solidFill>
            <a:srgbClr val="D1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181344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Segoe UI"/>
              </a:rPr>
              <a:t>Scope:  17 user stories  ·  7 epics  ·  T-shirt sized (XS → L)  ·  Release 1 — Core Foundation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Segoe UI"/>
              </a:rPr>
              <a:t>SPRINT BACKLOG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"/>
            <a:ext cx="11274552" cy="16459"/>
          </a:xfrm>
          <a:prstGeom prst="rect">
            <a:avLst/>
          </a:prstGeom>
          <a:solidFill>
            <a:srgbClr val="D1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Segoe UI"/>
              </a:rPr>
              <a:t>Sprint 1 Backlog lives in Trello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35024"/>
            <a:ext cx="11274552" cy="768096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Trello Board: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2646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E2"/>
                </a:solidFill>
                <a:latin typeface="Segoe UI"/>
              </a:rPr>
              <a:t>https://trello.com/b/M4SRMaOV/cs634lacroixjohn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1907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CS634LaCroixJohn  ·  Sprint 1 Backlog 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11274552" cy="16459"/>
          </a:xfrm>
          <a:prstGeom prst="rect">
            <a:avLst/>
          </a:prstGeom>
          <a:solidFill>
            <a:srgbClr val="D1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9572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Board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9572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Sprint 1 Contents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16352"/>
            <a:ext cx="5303520" cy="493776"/>
          </a:xfrm>
          <a:prstGeom prst="roundRect">
            <a:avLst/>
          </a:prstGeom>
          <a:solidFill>
            <a:srgbClr val="F5F8FC"/>
          </a:solidFill>
          <a:ln w="9525">
            <a:solidFill>
              <a:srgbClr val="D1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Segoe UI"/>
              </a:rPr>
              <a:t>Trello Starter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7238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</a:rPr>
              <a:t>Orientation &amp; onboarding notes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83280"/>
            <a:ext cx="5303520" cy="493776"/>
          </a:xfrm>
          <a:prstGeom prst="roundRect">
            <a:avLst/>
          </a:prstGeom>
          <a:solidFill>
            <a:srgbClr val="F5F8FC"/>
          </a:solidFill>
          <a:ln w="9525">
            <a:solidFill>
              <a:srgbClr val="D1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19856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Segoe UI"/>
              </a:rPr>
              <a:t>Product Backlog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3931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</a:rPr>
              <a:t>Full prioritized product backlog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50208"/>
            <a:ext cx="5303520" cy="493776"/>
          </a:xfrm>
          <a:prstGeom prst="roundRect">
            <a:avLst/>
          </a:prstGeom>
          <a:solidFill>
            <a:srgbClr val="EDF2F7"/>
          </a:solidFill>
          <a:ln w="1587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86784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90E2"/>
                </a:solidFill>
                <a:latin typeface="Segoe UI"/>
              </a:rPr>
              <a:t>Sprint 1 Backlog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</a:rPr>
              <a:t>Active sprint — 17 user stories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17136"/>
            <a:ext cx="5303520" cy="493776"/>
          </a:xfrm>
          <a:prstGeom prst="roundRect">
            <a:avLst/>
          </a:prstGeom>
          <a:solidFill>
            <a:srgbClr val="F5F8FC"/>
          </a:solidFill>
          <a:ln w="9525">
            <a:solidFill>
              <a:srgbClr val="D1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5371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Segoe UI"/>
              </a:rPr>
              <a:t>Release 1 — Core Foundation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731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</a:rPr>
              <a:t>Release 1 epics &amp; backlog items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084064"/>
            <a:ext cx="5303520" cy="493776"/>
          </a:xfrm>
          <a:prstGeom prst="roundRect">
            <a:avLst/>
          </a:prstGeom>
          <a:solidFill>
            <a:srgbClr val="F5F8FC"/>
          </a:solidFill>
          <a:ln w="9525">
            <a:solidFill>
              <a:srgbClr val="D1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Segoe UI"/>
              </a:rPr>
              <a:t>Release 2 — Fan Engagement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4009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</a:rPr>
              <a:t>Post-MVP release items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650992"/>
            <a:ext cx="5303520" cy="493776"/>
          </a:xfrm>
          <a:prstGeom prst="roundRect">
            <a:avLst/>
          </a:prstGeom>
          <a:solidFill>
            <a:srgbClr val="F5F8FC"/>
          </a:solidFill>
          <a:ln w="9525">
            <a:solidFill>
              <a:srgbClr val="D1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68756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Segoe UI"/>
              </a:rPr>
              <a:t>Release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0702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</a:rPr>
              <a:t>Future scope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816352"/>
            <a:ext cx="5303520" cy="566928"/>
          </a:xfrm>
          <a:prstGeom prst="roundRect">
            <a:avLst/>
          </a:prstGeom>
          <a:solidFill>
            <a:srgbClr val="F5F8FC"/>
          </a:solidFill>
          <a:ln w="9525">
            <a:solidFill>
              <a:srgbClr val="D1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2871216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90E2"/>
                </a:solidFill>
                <a:latin typeface="Segoe UI"/>
              </a:rPr>
              <a:t>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944368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Segoe UI"/>
              </a:rPr>
              <a:t>User Stories (US-01 → US-17)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474720"/>
            <a:ext cx="5303520" cy="566928"/>
          </a:xfrm>
          <a:prstGeom prst="roundRect">
            <a:avLst/>
          </a:prstGeom>
          <a:solidFill>
            <a:srgbClr val="F5F8FC"/>
          </a:solidFill>
          <a:ln w="9525">
            <a:solidFill>
              <a:srgbClr val="D1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3529584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90E2"/>
                </a:solidFill>
                <a:latin typeface="Segoe U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3602736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Segoe UI"/>
              </a:rPr>
              <a:t>Epics  (Homepage, Bio, Music, Instagram, Contact, Shows, Email)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133087"/>
            <a:ext cx="5303520" cy="566928"/>
          </a:xfrm>
          <a:prstGeom prst="roundRect">
            <a:avLst/>
          </a:prstGeom>
          <a:solidFill>
            <a:srgbClr val="F5F8FC"/>
          </a:solidFill>
          <a:ln w="9525">
            <a:solidFill>
              <a:srgbClr val="D1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4187951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90E2"/>
                </a:solidFill>
                <a:latin typeface="Segoe U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261103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Segoe UI"/>
              </a:rPr>
              <a:t>Anchor cards  (Sprint Goal  +  Definition of Done)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791456"/>
            <a:ext cx="5303520" cy="566928"/>
          </a:xfrm>
          <a:prstGeom prst="roundRect">
            <a:avLst/>
          </a:prstGeom>
          <a:solidFill>
            <a:srgbClr val="F5F8FC"/>
          </a:solidFill>
          <a:ln w="9525">
            <a:solidFill>
              <a:srgbClr val="D1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65392" y="484632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90E2"/>
                </a:solidFill>
                <a:latin typeface="Segoe U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4919472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Segoe UI"/>
              </a:rPr>
              <a:t>T-shirt sizes used  (XS · S · M · L)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5449824"/>
            <a:ext cx="5303520" cy="566928"/>
          </a:xfrm>
          <a:prstGeom prst="roundRect">
            <a:avLst/>
          </a:prstGeom>
          <a:solidFill>
            <a:srgbClr val="F5F8FC"/>
          </a:solidFill>
          <a:ln w="9525">
            <a:solidFill>
              <a:srgbClr val="D1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5504688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90E2"/>
                </a:solidFill>
                <a:latin typeface="Segoe U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5577840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Segoe UI"/>
              </a:rPr>
              <a:t>Labels configured  (XS · S · M · L · XL)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Segoe UI"/>
              </a:rPr>
              <a:t>DEFINITION OF DONE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"/>
            <a:ext cx="11274552" cy="16459"/>
          </a:xfrm>
          <a:prstGeom prst="rect">
            <a:avLst/>
          </a:prstGeom>
          <a:solidFill>
            <a:srgbClr val="D1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75520" y="91440"/>
            <a:ext cx="2103120" cy="274320"/>
          </a:xfrm>
          <a:prstGeom prst="roundRect">
            <a:avLst/>
          </a:prstGeom>
          <a:solidFill>
            <a:srgbClr val="5F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SPRINT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Segoe UI"/>
              </a:rPr>
              <a:t>A Story Is Done When All Five Gates Are Cleared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89888"/>
            <a:ext cx="530352" cy="877824"/>
          </a:xfrm>
          <a:prstGeom prst="roundRect">
            <a:avLst/>
          </a:prstGeom>
          <a:solidFill>
            <a:srgbClr val="5F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91056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" y="1389888"/>
            <a:ext cx="10652760" cy="877824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D1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144475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Segoe UI"/>
              </a:rPr>
              <a:t>Acceptance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1719072"/>
            <a:ext cx="10241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All acceptance criteria on the Trello card checklist are checked off by the developer and confirmed by the product owner before the card moves to Done.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14016"/>
            <a:ext cx="530352" cy="877824"/>
          </a:xfrm>
          <a:prstGeom prst="roundRect">
            <a:avLst/>
          </a:prstGeom>
          <a:solidFill>
            <a:srgbClr val="5F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15184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8992" y="2414016"/>
            <a:ext cx="10652760" cy="877824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D1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246888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Segoe UI"/>
              </a:rPr>
              <a:t>Deployed &amp; Functional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2743200"/>
            <a:ext cx="10241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The feature is visible and working on the deployed site. No broken links, missing images, or JavaScript console errors are present.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38144"/>
            <a:ext cx="530352" cy="877824"/>
          </a:xfrm>
          <a:prstGeom prst="roundRect">
            <a:avLst/>
          </a:prstGeom>
          <a:solidFill>
            <a:srgbClr val="5F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39312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8992" y="3438144"/>
            <a:ext cx="10652760" cy="877824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D1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1872" y="349300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Segoe UI"/>
              </a:rPr>
              <a:t>Cross-Device Tested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3767328"/>
            <a:ext cx="10241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The feature has been tested on both desktop (1280px) and mobile (375px) viewports. Layout, readability, and interactions are verified on both.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62272"/>
            <a:ext cx="530352" cy="877824"/>
          </a:xfrm>
          <a:prstGeom prst="roundRect">
            <a:avLst/>
          </a:prstGeom>
          <a:solidFill>
            <a:srgbClr val="5F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663440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8992" y="4462272"/>
            <a:ext cx="10652760" cy="877824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D1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61872" y="4517136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Segoe UI"/>
              </a:rPr>
              <a:t>No Critical Defects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4791456"/>
            <a:ext cx="10241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No P1 or P2 bugs remain open against the story. Minor cosmetic issues may be logged as follow-on cards but do not block Done status.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486400"/>
            <a:ext cx="530352" cy="877824"/>
          </a:xfrm>
          <a:prstGeom prst="roundRect">
            <a:avLst/>
          </a:prstGeom>
          <a:solidFill>
            <a:srgbClr val="5F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87568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8992" y="5486400"/>
            <a:ext cx="10652760" cy="877824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D1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61872" y="5541264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Segoe UI"/>
              </a:rPr>
              <a:t>Card Closed in Sprint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1872" y="5815584"/>
            <a:ext cx="10241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The Trello card has been moved to the Done column before the sprint ends. Any incomplete work is split into a new card and returned to the backlog.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Segoe UI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"/>
            <a:ext cx="11274552" cy="16459"/>
          </a:xfrm>
          <a:prstGeom prst="rect">
            <a:avLst/>
          </a:prstGeom>
          <a:solidFill>
            <a:srgbClr val="D1D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455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Segoe UI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16459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4552" cy="1243584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D1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087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Segoe UI"/>
              </a:rPr>
              <a:t>Cohn, M. (2023, June 20). The sprint goal: What it is and how it can help.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92224"/>
            <a:ext cx="10908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Segoe UI"/>
              </a:rPr>
              <a:t>    Mountain Goat Software.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109087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90E2"/>
                </a:solidFill>
                <a:latin typeface="Segoe UI"/>
              </a:rPr>
              <a:t>    https://www.mountaingoatsoftware.com/blog/the-sprint-goal-what-it-is-and-how-it-can-help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61488"/>
            <a:ext cx="11274552" cy="1243584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D1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52928"/>
            <a:ext cx="109087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Segoe UI"/>
              </a:rPr>
              <a:t>Easy Agile Team. (2024, July 2). How to write user stories in agile software development.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82112"/>
            <a:ext cx="10908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Segoe UI"/>
              </a:rPr>
              <a:t>    Easy Agile.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109087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90E2"/>
                </a:solidFill>
                <a:latin typeface="Segoe UI"/>
              </a:rPr>
              <a:t>    https://www.easyagile.com/blog/how-to-write-good-user-stories-in-agile-software-development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51376"/>
            <a:ext cx="11274552" cy="1243584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D1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42816"/>
            <a:ext cx="109087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Segoe UI"/>
              </a:rPr>
              <a:t>Kramer, N. (2024, August 11). T-shirt sizing in agile: Guide 2024.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10908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Segoe UI"/>
              </a:rPr>
              <a:t>    daily.dev.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64608"/>
            <a:ext cx="109087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90E2"/>
                </a:solidFill>
                <a:latin typeface="Segoe UI"/>
              </a:rPr>
              <a:t>    https://daily.dev/blog/t-shirt-sizing-in-agile-guide-2024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All references formatted per APA 7th Edition.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